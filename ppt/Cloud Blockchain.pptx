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8" r:id="rId2"/>
    <p:sldId id="259" r:id="rId3"/>
    <p:sldId id="260" r:id="rId4"/>
    <p:sldId id="334" r:id="rId5"/>
    <p:sldId id="326" r:id="rId6"/>
    <p:sldId id="310" r:id="rId7"/>
    <p:sldId id="314" r:id="rId8"/>
    <p:sldId id="316" r:id="rId9"/>
    <p:sldId id="315" r:id="rId10"/>
    <p:sldId id="321" r:id="rId11"/>
    <p:sldId id="309" r:id="rId12"/>
    <p:sldId id="313" r:id="rId13"/>
    <p:sldId id="318" r:id="rId14"/>
    <p:sldId id="312" r:id="rId15"/>
    <p:sldId id="317" r:id="rId16"/>
    <p:sldId id="263" r:id="rId17"/>
    <p:sldId id="332" r:id="rId18"/>
    <p:sldId id="328" r:id="rId19"/>
    <p:sldId id="333" r:id="rId20"/>
    <p:sldId id="265" r:id="rId21"/>
    <p:sldId id="267" r:id="rId22"/>
    <p:sldId id="281" r:id="rId23"/>
    <p:sldId id="337" r:id="rId24"/>
    <p:sldId id="338" r:id="rId25"/>
    <p:sldId id="331" r:id="rId26"/>
    <p:sldId id="268" r:id="rId27"/>
    <p:sldId id="269" r:id="rId28"/>
    <p:sldId id="270" r:id="rId29"/>
    <p:sldId id="335" r:id="rId30"/>
    <p:sldId id="336" r:id="rId31"/>
    <p:sldId id="271"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852" autoAdjust="0"/>
  </p:normalViewPr>
  <p:slideViewPr>
    <p:cSldViewPr snapToGrid="0">
      <p:cViewPr varScale="1">
        <p:scale>
          <a:sx n="70" d="100"/>
          <a:sy n="70" d="100"/>
        </p:scale>
        <p:origin x="714"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71"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72"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73"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74"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75"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76"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extLst>
      <p:ext uri="{BB962C8B-B14F-4D97-AF65-F5344CB8AC3E}">
        <p14:creationId xmlns:p14="http://schemas.microsoft.com/office/powerpoint/2010/main" val="145288624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9A0EA98-5831-4853-B862-C702E6EB345C}" type="slidenum">
              <a:rPr lang="en-US" smtClean="0"/>
              <a:t>16</a:t>
            </a:fld>
            <a:endParaRPr lang="en-US"/>
          </a:p>
        </p:txBody>
      </p:sp>
    </p:spTree>
    <p:extLst>
      <p:ext uri="{BB962C8B-B14F-4D97-AF65-F5344CB8AC3E}">
        <p14:creationId xmlns:p14="http://schemas.microsoft.com/office/powerpoint/2010/main" val="3420595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2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1048622"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48623" name="Date Placeholder 3"/>
          <p:cNvSpPr>
            <a:spLocks noGrp="1"/>
          </p:cNvSpPr>
          <p:nvPr>
            <p:ph type="dt" sz="half" idx="10"/>
          </p:nvPr>
        </p:nvSpPr>
        <p:spPr/>
        <p:txBody>
          <a:bodyPr/>
          <a:lstStyle/>
          <a:p>
            <a:fld id="{E9B9BA34-FF21-42C0-9DD5-D5FB38FC9387}" type="datetimeFigureOut">
              <a:rPr lang="en-US" smtClean="0"/>
              <a:t>4/4/2025</a:t>
            </a:fld>
            <a:endParaRPr lang="en-US"/>
          </a:p>
        </p:txBody>
      </p:sp>
      <p:sp>
        <p:nvSpPr>
          <p:cNvPr id="1048624" name="Footer Placeholder 4"/>
          <p:cNvSpPr>
            <a:spLocks noGrp="1"/>
          </p:cNvSpPr>
          <p:nvPr>
            <p:ph type="ftr" sz="quarter" idx="11"/>
          </p:nvPr>
        </p:nvSpPr>
        <p:spPr/>
        <p:txBody>
          <a:bodyPr/>
          <a:lstStyle/>
          <a:p>
            <a:endParaRPr lang="en-US"/>
          </a:p>
        </p:txBody>
      </p:sp>
      <p:sp>
        <p:nvSpPr>
          <p:cNvPr id="1048625" name="Slide Number Placeholder 5"/>
          <p:cNvSpPr>
            <a:spLocks noGrp="1"/>
          </p:cNvSpPr>
          <p:nvPr>
            <p:ph type="sldNum" sz="quarter" idx="12"/>
          </p:nvPr>
        </p:nvSpPr>
        <p:spPr/>
        <p:txBody>
          <a:bodyPr/>
          <a:lstStyle/>
          <a:p>
            <a:fld id="{A467B6EC-1857-4C9B-9988-820AC899F7EA}" type="slidenum">
              <a:rPr lang="en-US" altLang="en-US" smtClean="0"/>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p>
        </p:txBody>
      </p:sp>
      <p:sp>
        <p:nvSpPr>
          <p:cNvPr id="1048582"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3" name="Date Placeholder 3"/>
          <p:cNvSpPr>
            <a:spLocks noGrp="1"/>
          </p:cNvSpPr>
          <p:nvPr>
            <p:ph type="dt" sz="half" idx="10"/>
          </p:nvPr>
        </p:nvSpPr>
        <p:spPr/>
        <p:txBody>
          <a:bodyPr/>
          <a:lstStyle/>
          <a:p>
            <a:fld id="{87895C04-CA79-4E4B-BB6C-FEF4CFA8B31A}" type="datetimeFigureOut">
              <a:rPr lang="en-US" smtClean="0"/>
              <a:t>4/4/2025</a:t>
            </a:fld>
            <a:endParaRPr lang="en-US"/>
          </a:p>
        </p:txBody>
      </p:sp>
      <p:sp>
        <p:nvSpPr>
          <p:cNvPr id="1048584" name="Footer Placeholder 4"/>
          <p:cNvSpPr>
            <a:spLocks noGrp="1"/>
          </p:cNvSpPr>
          <p:nvPr>
            <p:ph type="ftr" sz="quarter" idx="11"/>
          </p:nvPr>
        </p:nvSpPr>
        <p:spPr/>
        <p:txBody>
          <a:bodyPr/>
          <a:lstStyle/>
          <a:p>
            <a:endParaRPr lang="en-US"/>
          </a:p>
        </p:txBody>
      </p:sp>
      <p:sp>
        <p:nvSpPr>
          <p:cNvPr id="1048585" name="Slide Number Placeholder 5"/>
          <p:cNvSpPr>
            <a:spLocks noGrp="1"/>
          </p:cNvSpPr>
          <p:nvPr>
            <p:ph type="sldNum" sz="quarter" idx="12"/>
          </p:nvPr>
        </p:nvSpPr>
        <p:spPr/>
        <p:txBody>
          <a:bodyPr/>
          <a:lstStyle/>
          <a:p>
            <a:fld id="{CF54D37C-97A3-43D9-A8FA-E9D06568DD1D}" type="slidenum">
              <a:rPr lang="en-US" altLang="en-US" smtClean="0"/>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46"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1048647"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48648" name="Date Placeholder 3"/>
          <p:cNvSpPr>
            <a:spLocks noGrp="1"/>
          </p:cNvSpPr>
          <p:nvPr>
            <p:ph type="dt" sz="half" idx="10"/>
          </p:nvPr>
        </p:nvSpPr>
        <p:spPr/>
        <p:txBody>
          <a:bodyPr/>
          <a:lstStyle/>
          <a:p>
            <a:fld id="{09E95723-D129-44A6-B544-FF29475B6B2F}" type="datetimeFigureOut">
              <a:rPr lang="en-US" smtClean="0"/>
              <a:t>4/4/2025</a:t>
            </a:fld>
            <a:endParaRPr lang="en-US"/>
          </a:p>
        </p:txBody>
      </p:sp>
      <p:sp>
        <p:nvSpPr>
          <p:cNvPr id="1048649" name="Footer Placeholder 4"/>
          <p:cNvSpPr>
            <a:spLocks noGrp="1"/>
          </p:cNvSpPr>
          <p:nvPr>
            <p:ph type="ftr" sz="quarter" idx="11"/>
          </p:nvPr>
        </p:nvSpPr>
        <p:spPr/>
        <p:txBody>
          <a:bodyPr/>
          <a:lstStyle/>
          <a:p>
            <a:endParaRPr lang="en-US"/>
          </a:p>
        </p:txBody>
      </p:sp>
      <p:sp>
        <p:nvSpPr>
          <p:cNvPr id="1048650" name="Slide Number Placeholder 5"/>
          <p:cNvSpPr>
            <a:spLocks noGrp="1"/>
          </p:cNvSpPr>
          <p:nvPr>
            <p:ph type="sldNum" sz="quarter" idx="12"/>
          </p:nvPr>
        </p:nvSpPr>
        <p:spPr/>
        <p:txBody>
          <a:bodyPr/>
          <a:lstStyle/>
          <a:p>
            <a:fld id="{A628F436-2D50-4162-82D8-82145E26DB20}" type="slidenum">
              <a:rPr lang="en-US" altLang="en-US" smtClean="0"/>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51" name="Title 1"/>
          <p:cNvSpPr>
            <a:spLocks noGrp="1"/>
          </p:cNvSpPr>
          <p:nvPr>
            <p:ph type="title"/>
          </p:nvPr>
        </p:nvSpPr>
        <p:spPr/>
        <p:txBody>
          <a:bodyPr/>
          <a:lstStyle/>
          <a:p>
            <a:r>
              <a:rPr lang="en-US"/>
              <a:t>Click to edit Master title style</a:t>
            </a:r>
          </a:p>
        </p:txBody>
      </p:sp>
      <p:sp>
        <p:nvSpPr>
          <p:cNvPr id="1048652"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3"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4" name="Date Placeholder 4"/>
          <p:cNvSpPr>
            <a:spLocks noGrp="1"/>
          </p:cNvSpPr>
          <p:nvPr>
            <p:ph type="dt" sz="half" idx="10"/>
          </p:nvPr>
        </p:nvSpPr>
        <p:spPr/>
        <p:txBody>
          <a:bodyPr/>
          <a:lstStyle/>
          <a:p>
            <a:fld id="{EAEDA91F-4DFB-466F-9B03-277F61759BD2}" type="datetimeFigureOut">
              <a:rPr lang="en-US" smtClean="0"/>
              <a:t>4/4/2025</a:t>
            </a:fld>
            <a:endParaRPr lang="en-US"/>
          </a:p>
        </p:txBody>
      </p:sp>
      <p:sp>
        <p:nvSpPr>
          <p:cNvPr id="1048655" name="Footer Placeholder 5"/>
          <p:cNvSpPr>
            <a:spLocks noGrp="1"/>
          </p:cNvSpPr>
          <p:nvPr>
            <p:ph type="ftr" sz="quarter" idx="11"/>
          </p:nvPr>
        </p:nvSpPr>
        <p:spPr/>
        <p:txBody>
          <a:bodyPr/>
          <a:lstStyle/>
          <a:p>
            <a:endParaRPr lang="en-US"/>
          </a:p>
        </p:txBody>
      </p:sp>
      <p:sp>
        <p:nvSpPr>
          <p:cNvPr id="1048656" name="Slide Number Placeholder 6"/>
          <p:cNvSpPr>
            <a:spLocks noGrp="1"/>
          </p:cNvSpPr>
          <p:nvPr>
            <p:ph type="sldNum" sz="quarter" idx="12"/>
          </p:nvPr>
        </p:nvSpPr>
        <p:spPr/>
        <p:txBody>
          <a:bodyPr/>
          <a:lstStyle/>
          <a:p>
            <a:fld id="{C466B3AB-3B77-431C-A90A-031EFDA3D300}" type="slidenum">
              <a:rPr lang="en-US" altLang="en-US" smtClean="0"/>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57" name="Title 1"/>
          <p:cNvSpPr>
            <a:spLocks noGrp="1"/>
          </p:cNvSpPr>
          <p:nvPr>
            <p:ph type="title"/>
          </p:nvPr>
        </p:nvSpPr>
        <p:spPr>
          <a:xfrm>
            <a:off x="839788" y="365125"/>
            <a:ext cx="10515600" cy="1325563"/>
          </a:xfrm>
        </p:spPr>
        <p:txBody>
          <a:bodyPr/>
          <a:lstStyle/>
          <a:p>
            <a:r>
              <a:rPr lang="en-US"/>
              <a:t>Click to edit Master title style</a:t>
            </a:r>
          </a:p>
        </p:txBody>
      </p:sp>
      <p:sp>
        <p:nvSpPr>
          <p:cNvPr id="1048658"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59"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0"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1"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2" name="Date Placeholder 6"/>
          <p:cNvSpPr>
            <a:spLocks noGrp="1"/>
          </p:cNvSpPr>
          <p:nvPr>
            <p:ph type="dt" sz="half" idx="10"/>
          </p:nvPr>
        </p:nvSpPr>
        <p:spPr/>
        <p:txBody>
          <a:bodyPr/>
          <a:lstStyle/>
          <a:p>
            <a:fld id="{C3FEB79B-3C7D-4BB8-AEE0-0FCF1A72B447}" type="datetimeFigureOut">
              <a:rPr lang="en-US" smtClean="0"/>
              <a:t>4/4/2025</a:t>
            </a:fld>
            <a:endParaRPr lang="en-US"/>
          </a:p>
        </p:txBody>
      </p:sp>
      <p:sp>
        <p:nvSpPr>
          <p:cNvPr id="1048663" name="Footer Placeholder 7"/>
          <p:cNvSpPr>
            <a:spLocks noGrp="1"/>
          </p:cNvSpPr>
          <p:nvPr>
            <p:ph type="ftr" sz="quarter" idx="11"/>
          </p:nvPr>
        </p:nvSpPr>
        <p:spPr/>
        <p:txBody>
          <a:bodyPr/>
          <a:lstStyle/>
          <a:p>
            <a:endParaRPr lang="en-US"/>
          </a:p>
        </p:txBody>
      </p:sp>
      <p:sp>
        <p:nvSpPr>
          <p:cNvPr id="1048664" name="Slide Number Placeholder 8"/>
          <p:cNvSpPr>
            <a:spLocks noGrp="1"/>
          </p:cNvSpPr>
          <p:nvPr>
            <p:ph type="sldNum" sz="quarter" idx="12"/>
          </p:nvPr>
        </p:nvSpPr>
        <p:spPr/>
        <p:txBody>
          <a:bodyPr/>
          <a:lstStyle/>
          <a:p>
            <a:fld id="{7CDE71F4-3FD7-4571-9095-6FD2DD5437D6}" type="slidenum">
              <a:rPr lang="en-US" altLang="en-US" smtClean="0"/>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26" name="Title 1"/>
          <p:cNvSpPr>
            <a:spLocks noGrp="1"/>
          </p:cNvSpPr>
          <p:nvPr>
            <p:ph type="title"/>
          </p:nvPr>
        </p:nvSpPr>
        <p:spPr/>
        <p:txBody>
          <a:bodyPr/>
          <a:lstStyle/>
          <a:p>
            <a:r>
              <a:rPr lang="en-US"/>
              <a:t>Click to edit Master title style</a:t>
            </a:r>
          </a:p>
        </p:txBody>
      </p:sp>
      <p:sp>
        <p:nvSpPr>
          <p:cNvPr id="1048627" name="Date Placeholder 2"/>
          <p:cNvSpPr>
            <a:spLocks noGrp="1"/>
          </p:cNvSpPr>
          <p:nvPr>
            <p:ph type="dt" sz="half" idx="10"/>
          </p:nvPr>
        </p:nvSpPr>
        <p:spPr/>
        <p:txBody>
          <a:bodyPr/>
          <a:lstStyle/>
          <a:p>
            <a:fld id="{9F572E70-5238-4977-886E-2BD2B18B8245}" type="datetimeFigureOut">
              <a:rPr lang="en-US" smtClean="0"/>
              <a:t>4/4/2025</a:t>
            </a:fld>
            <a:endParaRPr lang="en-US"/>
          </a:p>
        </p:txBody>
      </p:sp>
      <p:sp>
        <p:nvSpPr>
          <p:cNvPr id="1048628" name="Footer Placeholder 3"/>
          <p:cNvSpPr>
            <a:spLocks noGrp="1"/>
          </p:cNvSpPr>
          <p:nvPr>
            <p:ph type="ftr" sz="quarter" idx="11"/>
          </p:nvPr>
        </p:nvSpPr>
        <p:spPr/>
        <p:txBody>
          <a:bodyPr/>
          <a:lstStyle/>
          <a:p>
            <a:endParaRPr lang="en-US"/>
          </a:p>
        </p:txBody>
      </p:sp>
      <p:sp>
        <p:nvSpPr>
          <p:cNvPr id="1048629" name="Slide Number Placeholder 4"/>
          <p:cNvSpPr>
            <a:spLocks noGrp="1"/>
          </p:cNvSpPr>
          <p:nvPr>
            <p:ph type="sldNum" sz="quarter" idx="12"/>
          </p:nvPr>
        </p:nvSpPr>
        <p:spPr/>
        <p:txBody>
          <a:bodyPr/>
          <a:lstStyle/>
          <a:p>
            <a:fld id="{62C27DF4-3AFC-4008-BB41-EDB490293AEB}" type="slidenum">
              <a:rPr lang="en-US" altLang="en-US" smtClean="0"/>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595" name="Date Placeholder 1"/>
          <p:cNvSpPr>
            <a:spLocks noGrp="1"/>
          </p:cNvSpPr>
          <p:nvPr>
            <p:ph type="dt" sz="half" idx="10"/>
          </p:nvPr>
        </p:nvSpPr>
        <p:spPr/>
        <p:txBody>
          <a:bodyPr/>
          <a:lstStyle/>
          <a:p>
            <a:fld id="{8F816EA3-EDC0-4E23-91A0-EE764B853969}" type="datetimeFigureOut">
              <a:rPr lang="en-US" smtClean="0"/>
              <a:t>4/4/2025</a:t>
            </a:fld>
            <a:endParaRPr lang="en-US"/>
          </a:p>
        </p:txBody>
      </p:sp>
      <p:sp>
        <p:nvSpPr>
          <p:cNvPr id="1048596" name="Footer Placeholder 2"/>
          <p:cNvSpPr>
            <a:spLocks noGrp="1"/>
          </p:cNvSpPr>
          <p:nvPr>
            <p:ph type="ftr" sz="quarter" idx="11"/>
          </p:nvPr>
        </p:nvSpPr>
        <p:spPr/>
        <p:txBody>
          <a:bodyPr/>
          <a:lstStyle/>
          <a:p>
            <a:endParaRPr lang="en-US"/>
          </a:p>
        </p:txBody>
      </p:sp>
      <p:sp>
        <p:nvSpPr>
          <p:cNvPr id="1048597" name="Slide Number Placeholder 3"/>
          <p:cNvSpPr>
            <a:spLocks noGrp="1"/>
          </p:cNvSpPr>
          <p:nvPr>
            <p:ph type="sldNum" sz="quarter" idx="12"/>
          </p:nvPr>
        </p:nvSpPr>
        <p:spPr/>
        <p:txBody>
          <a:bodyPr/>
          <a:lstStyle/>
          <a:p>
            <a:fld id="{B31DE6E6-AB09-4317-9B11-B92F12F48B0E}" type="slidenum">
              <a:rPr lang="en-US" altLang="en-US" smtClean="0"/>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65"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8666"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7"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68" name="Date Placeholder 4"/>
          <p:cNvSpPr>
            <a:spLocks noGrp="1"/>
          </p:cNvSpPr>
          <p:nvPr>
            <p:ph type="dt" sz="half" idx="10"/>
          </p:nvPr>
        </p:nvSpPr>
        <p:spPr/>
        <p:txBody>
          <a:bodyPr/>
          <a:lstStyle/>
          <a:p>
            <a:fld id="{E59F4506-0D77-421F-A107-E43633D8F390}" type="datetimeFigureOut">
              <a:rPr lang="en-US" smtClean="0"/>
              <a:t>4/4/2025</a:t>
            </a:fld>
            <a:endParaRPr lang="en-US"/>
          </a:p>
        </p:txBody>
      </p:sp>
      <p:sp>
        <p:nvSpPr>
          <p:cNvPr id="1048669" name="Footer Placeholder 5"/>
          <p:cNvSpPr>
            <a:spLocks noGrp="1"/>
          </p:cNvSpPr>
          <p:nvPr>
            <p:ph type="ftr" sz="quarter" idx="11"/>
          </p:nvPr>
        </p:nvSpPr>
        <p:spPr/>
        <p:txBody>
          <a:bodyPr/>
          <a:lstStyle/>
          <a:p>
            <a:endParaRPr lang="en-US"/>
          </a:p>
        </p:txBody>
      </p:sp>
      <p:sp>
        <p:nvSpPr>
          <p:cNvPr id="1048670" name="Slide Number Placeholder 6"/>
          <p:cNvSpPr>
            <a:spLocks noGrp="1"/>
          </p:cNvSpPr>
          <p:nvPr>
            <p:ph type="sldNum" sz="quarter" idx="12"/>
          </p:nvPr>
        </p:nvSpPr>
        <p:spPr/>
        <p:txBody>
          <a:bodyPr/>
          <a:lstStyle/>
          <a:p>
            <a:fld id="{5EBE5ABB-69E6-4FFE-9495-964663F63343}" type="slidenum">
              <a:rPr lang="en-US" altLang="en-US" smtClean="0"/>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35"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8636"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37"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38" name="Date Placeholder 4"/>
          <p:cNvSpPr>
            <a:spLocks noGrp="1"/>
          </p:cNvSpPr>
          <p:nvPr>
            <p:ph type="dt" sz="half" idx="10"/>
          </p:nvPr>
        </p:nvSpPr>
        <p:spPr/>
        <p:txBody>
          <a:bodyPr/>
          <a:lstStyle/>
          <a:p>
            <a:fld id="{79DD1FF0-8EB6-4F25-BCEA-D202DEBE26A0}" type="datetimeFigureOut">
              <a:rPr lang="en-US" smtClean="0"/>
              <a:t>4/4/2025</a:t>
            </a:fld>
            <a:endParaRPr lang="en-US"/>
          </a:p>
        </p:txBody>
      </p:sp>
      <p:sp>
        <p:nvSpPr>
          <p:cNvPr id="1048639" name="Footer Placeholder 5"/>
          <p:cNvSpPr>
            <a:spLocks noGrp="1"/>
          </p:cNvSpPr>
          <p:nvPr>
            <p:ph type="ftr" sz="quarter" idx="11"/>
          </p:nvPr>
        </p:nvSpPr>
        <p:spPr/>
        <p:txBody>
          <a:bodyPr/>
          <a:lstStyle/>
          <a:p>
            <a:endParaRPr lang="en-US"/>
          </a:p>
        </p:txBody>
      </p:sp>
      <p:sp>
        <p:nvSpPr>
          <p:cNvPr id="1048640" name="Slide Number Placeholder 6"/>
          <p:cNvSpPr>
            <a:spLocks noGrp="1"/>
          </p:cNvSpPr>
          <p:nvPr>
            <p:ph type="sldNum" sz="quarter" idx="12"/>
          </p:nvPr>
        </p:nvSpPr>
        <p:spPr/>
        <p:txBody>
          <a:bodyPr/>
          <a:lstStyle/>
          <a:p>
            <a:fld id="{61940B5B-F925-4354-8B5B-B2AEE58FB759}" type="slidenum">
              <a:rPr lang="en-US" altLang="en-US" smtClean="0"/>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41" name="Title 1"/>
          <p:cNvSpPr>
            <a:spLocks noGrp="1"/>
          </p:cNvSpPr>
          <p:nvPr>
            <p:ph type="title"/>
          </p:nvPr>
        </p:nvSpPr>
        <p:spPr/>
        <p:txBody>
          <a:bodyPr/>
          <a:lstStyle/>
          <a:p>
            <a:r>
              <a:rPr lang="en-US"/>
              <a:t>Click to edit Master title style</a:t>
            </a:r>
          </a:p>
        </p:txBody>
      </p:sp>
      <p:sp>
        <p:nvSpPr>
          <p:cNvPr id="104864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3" name="Date Placeholder 3"/>
          <p:cNvSpPr>
            <a:spLocks noGrp="1"/>
          </p:cNvSpPr>
          <p:nvPr>
            <p:ph type="dt" sz="half" idx="10"/>
          </p:nvPr>
        </p:nvSpPr>
        <p:spPr/>
        <p:txBody>
          <a:bodyPr/>
          <a:lstStyle/>
          <a:p>
            <a:fld id="{2F84CD49-DD02-46C3-976E-0E48D3543BAA}" type="datetimeFigureOut">
              <a:rPr lang="en-US" smtClean="0"/>
              <a:t>4/4/2025</a:t>
            </a:fld>
            <a:endParaRPr lang="en-US"/>
          </a:p>
        </p:txBody>
      </p:sp>
      <p:sp>
        <p:nvSpPr>
          <p:cNvPr id="1048644" name="Footer Placeholder 4"/>
          <p:cNvSpPr>
            <a:spLocks noGrp="1"/>
          </p:cNvSpPr>
          <p:nvPr>
            <p:ph type="ftr" sz="quarter" idx="11"/>
          </p:nvPr>
        </p:nvSpPr>
        <p:spPr/>
        <p:txBody>
          <a:bodyPr/>
          <a:lstStyle/>
          <a:p>
            <a:endParaRPr lang="en-US"/>
          </a:p>
        </p:txBody>
      </p:sp>
      <p:sp>
        <p:nvSpPr>
          <p:cNvPr id="1048645" name="Slide Number Placeholder 5"/>
          <p:cNvSpPr>
            <a:spLocks noGrp="1"/>
          </p:cNvSpPr>
          <p:nvPr>
            <p:ph type="sldNum" sz="quarter" idx="12"/>
          </p:nvPr>
        </p:nvSpPr>
        <p:spPr/>
        <p:txBody>
          <a:bodyPr/>
          <a:lstStyle/>
          <a:p>
            <a:fld id="{743FBD3F-63C0-4491-A6E2-75068BD6EB32}" type="slidenum">
              <a:rPr lang="en-US" altLang="en-US" smtClean="0"/>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30"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1048631"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2" name="Date Placeholder 3"/>
          <p:cNvSpPr>
            <a:spLocks noGrp="1"/>
          </p:cNvSpPr>
          <p:nvPr>
            <p:ph type="dt" sz="half" idx="10"/>
          </p:nvPr>
        </p:nvSpPr>
        <p:spPr/>
        <p:txBody>
          <a:bodyPr/>
          <a:lstStyle/>
          <a:p>
            <a:fld id="{47E7425E-EC45-4EB1-865A-8EED9A2632BE}" type="datetimeFigureOut">
              <a:rPr lang="en-US" smtClean="0"/>
              <a:t>4/4/2025</a:t>
            </a:fld>
            <a:endParaRPr lang="en-US"/>
          </a:p>
        </p:txBody>
      </p:sp>
      <p:sp>
        <p:nvSpPr>
          <p:cNvPr id="1048633" name="Footer Placeholder 4"/>
          <p:cNvSpPr>
            <a:spLocks noGrp="1"/>
          </p:cNvSpPr>
          <p:nvPr>
            <p:ph type="ftr" sz="quarter" idx="11"/>
          </p:nvPr>
        </p:nvSpPr>
        <p:spPr/>
        <p:txBody>
          <a:bodyPr/>
          <a:lstStyle/>
          <a:p>
            <a:endParaRPr lang="en-US"/>
          </a:p>
        </p:txBody>
      </p:sp>
      <p:sp>
        <p:nvSpPr>
          <p:cNvPr id="1048634" name="Slide Number Placeholder 5"/>
          <p:cNvSpPr>
            <a:spLocks noGrp="1"/>
          </p:cNvSpPr>
          <p:nvPr>
            <p:ph type="sldNum" sz="quarter" idx="12"/>
          </p:nvPr>
        </p:nvSpPr>
        <p:spPr/>
        <p:txBody>
          <a:bodyPr/>
          <a:lstStyle/>
          <a:p>
            <a:fld id="{4A1123B9-0A04-4E4F-8BDF-B05145A31A17}" type="slidenum">
              <a:rPr lang="en-US" altLang="en-US" smtClean="0"/>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1742EC-C987-42F7-A5AE-C976E9F68BBB}" type="datetimeFigureOut">
              <a:rPr lang="en-US" smtClean="0"/>
              <a:t>4/4/2025</a:t>
            </a:fld>
            <a:endParaRPr lang="en-US"/>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5DE7D6-0211-4486-9EA3-D9330A9B5FA2}" type="slidenum">
              <a:rPr lang="en-US" altLang="en-US" smtClean="0"/>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8" name="Content Placeholder 1"/>
          <p:cNvSpPr>
            <a:spLocks noGrp="1"/>
          </p:cNvSpPr>
          <p:nvPr>
            <p:ph idx="1"/>
          </p:nvPr>
        </p:nvSpPr>
        <p:spPr>
          <a:xfrm>
            <a:off x="850230" y="1376892"/>
            <a:ext cx="10515600" cy="4351338"/>
          </a:xfrm>
        </p:spPr>
        <p:txBody>
          <a:bodyPr/>
          <a:lstStyle/>
          <a:p>
            <a:pPr marL="109537" indent="0">
              <a:buNone/>
            </a:pPr>
            <a:endParaRPr lang="en-US" dirty="0"/>
          </a:p>
          <a:p>
            <a:pPr marL="109537" indent="0">
              <a:buNone/>
            </a:pPr>
            <a:endParaRPr lang="en-US" dirty="0"/>
          </a:p>
          <a:p>
            <a:pPr marL="109537" indent="0">
              <a:buNone/>
            </a:pPr>
            <a:endParaRPr lang="en-US" dirty="0"/>
          </a:p>
          <a:p>
            <a:pPr marL="109537" indent="0">
              <a:buNone/>
            </a:pPr>
            <a:r>
              <a:rPr lang="en-US" dirty="0"/>
              <a:t>				</a:t>
            </a:r>
            <a:endParaRPr lang="en-US" sz="3600" dirty="0"/>
          </a:p>
        </p:txBody>
      </p:sp>
      <p:sp>
        <p:nvSpPr>
          <p:cNvPr id="6" name="AutoShape 4">
            <a:extLst>
              <a:ext uri="{FF2B5EF4-FFF2-40B4-BE49-F238E27FC236}">
                <a16:creationId xmlns:a16="http://schemas.microsoft.com/office/drawing/2014/main" xmlns="" id="{526AA057-3D1E-C615-6382-5587C8085CAD}"/>
              </a:ext>
            </a:extLst>
          </p:cNvPr>
          <p:cNvSpPr>
            <a:spLocks noGrp="1" noChangeAspect="1" noChangeArrowheads="1"/>
          </p:cNvSpPr>
          <p:nvPr>
            <p:ph type="title"/>
          </p:nvPr>
        </p:nvSpPr>
        <p:spPr bwMode="auto">
          <a:xfrm>
            <a:off x="914400" y="995891"/>
            <a:ext cx="9975272" cy="414137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rmAutofit/>
          </a:bodyPr>
          <a:lstStyle/>
          <a:p>
            <a:pPr algn="ctr">
              <a:lnSpc>
                <a:spcPct val="150000"/>
              </a:lnSpc>
            </a:pPr>
            <a:r>
              <a:rPr lang="en-US" sz="6600" dirty="0" smtClean="0">
                <a:solidFill>
                  <a:schemeClr val="accent1">
                    <a:lumMod val="50000"/>
                  </a:schemeClr>
                </a:solidFill>
                <a:latin typeface="Times New Roman" panose="02020603050405020304" pitchFamily="18" charset="0"/>
                <a:cs typeface="Times New Roman" panose="02020603050405020304" pitchFamily="18" charset="0"/>
              </a:rPr>
              <a:t>“</a:t>
            </a:r>
            <a:r>
              <a:rPr lang="en-US" sz="6600" dirty="0" err="1" smtClean="0">
                <a:solidFill>
                  <a:schemeClr val="accent1">
                    <a:lumMod val="50000"/>
                  </a:schemeClr>
                </a:solidFill>
                <a:latin typeface="Times New Roman" panose="02020603050405020304" pitchFamily="18" charset="0"/>
                <a:cs typeface="Times New Roman" panose="02020603050405020304" pitchFamily="18" charset="0"/>
              </a:rPr>
              <a:t>Blockchain</a:t>
            </a:r>
            <a:r>
              <a:rPr lang="en-US" sz="6600" dirty="0" smtClean="0">
                <a:solidFill>
                  <a:schemeClr val="accent1">
                    <a:lumMod val="50000"/>
                  </a:schemeClr>
                </a:solidFill>
                <a:latin typeface="Times New Roman" panose="02020603050405020304" pitchFamily="18" charset="0"/>
                <a:cs typeface="Times New Roman" panose="02020603050405020304" pitchFamily="18" charset="0"/>
              </a:rPr>
              <a:t> for Cloud Data Storage Security”</a:t>
            </a:r>
            <a:endParaRPr lang="en-US" sz="6600" dirty="0">
              <a:solidFill>
                <a:schemeClr val="accent1">
                  <a:lumMod val="50000"/>
                </a:schemeClr>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Title 2"/>
          <p:cNvSpPr>
            <a:spLocks noGrp="1"/>
          </p:cNvSpPr>
          <p:nvPr>
            <p:ph type="title"/>
          </p:nvPr>
        </p:nvSpPr>
        <p:spPr/>
        <p:txBody>
          <a:bodyPr/>
          <a:lstStyle/>
          <a:p>
            <a:pPr eaLnBrk="1" fontAlgn="auto" hangingPunct="1">
              <a:spcAft>
                <a:spcPts val="0"/>
              </a:spcAft>
            </a:pPr>
            <a:r>
              <a:rPr lang="en-US" sz="3200" dirty="0">
                <a:solidFill>
                  <a:srgbClr val="C00000"/>
                </a:solidFill>
                <a:latin typeface="Times New Roamn"/>
              </a:rPr>
              <a:t>CONTENTS</a:t>
            </a:r>
            <a:endParaRPr lang="en-IN" sz="3200" dirty="0">
              <a:solidFill>
                <a:srgbClr val="C00000"/>
              </a:solidFill>
              <a:latin typeface="Times New Roamn"/>
            </a:endParaRPr>
          </a:p>
        </p:txBody>
      </p:sp>
      <p:sp>
        <p:nvSpPr>
          <p:cNvPr id="1048610" name="Content Placeholder 1"/>
          <p:cNvSpPr>
            <a:spLocks noGrp="1"/>
          </p:cNvSpPr>
          <p:nvPr>
            <p:ph idx="1"/>
          </p:nvPr>
        </p:nvSpPr>
        <p:spPr/>
        <p:txBody>
          <a:bodyPr>
            <a:normAutofit lnSpcReduction="10000"/>
          </a:bodyPr>
          <a:lstStyle/>
          <a:p>
            <a:pPr algn="just" eaLnBrk="1" hangingPunct="1">
              <a:lnSpc>
                <a:spcPct val="10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Introduction </a:t>
            </a:r>
          </a:p>
          <a:p>
            <a:pPr algn="just" eaLnBrk="1" hangingPunct="1">
              <a:lnSpc>
                <a:spcPct val="10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Literature Survey</a:t>
            </a:r>
          </a:p>
          <a:p>
            <a:pPr algn="just" eaLnBrk="1" hangingPunct="1">
              <a:lnSpc>
                <a:spcPct val="10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Existing System &amp; Limitations</a:t>
            </a:r>
          </a:p>
          <a:p>
            <a:pPr algn="just" eaLnBrk="1" hangingPunct="1">
              <a:lnSpc>
                <a:spcPct val="10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Proposed System &amp;  Advantages</a:t>
            </a:r>
          </a:p>
          <a:p>
            <a:pPr algn="just" eaLnBrk="1" hangingPunct="1">
              <a:lnSpc>
                <a:spcPct val="10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Objectives </a:t>
            </a:r>
          </a:p>
          <a:p>
            <a:pPr algn="just" eaLnBrk="1" hangingPunct="1">
              <a:lnSpc>
                <a:spcPct val="10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Methodology/Algorithms</a:t>
            </a:r>
          </a:p>
          <a:p>
            <a:pPr algn="just" eaLnBrk="1" hangingPunct="1">
              <a:lnSpc>
                <a:spcPct val="10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System Requirements</a:t>
            </a:r>
          </a:p>
          <a:p>
            <a:pPr algn="just" eaLnBrk="1" hangingPunct="1">
              <a:lnSpc>
                <a:spcPct val="10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Expected Outcomes </a:t>
            </a:r>
          </a:p>
          <a:p>
            <a:pPr algn="just" eaLnBrk="1" hangingPunct="1">
              <a:lnSpc>
                <a:spcPct val="100000"/>
              </a:lnSpc>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References</a:t>
            </a:r>
          </a:p>
          <a:p>
            <a:pPr algn="just" eaLnBrk="1" hangingPunct="1"/>
            <a:endParaRPr lang="en-US" altLang="en-US" sz="2400" dirty="0">
              <a:latin typeface="Times New Roman" panose="02020603050405020304" pitchFamily="18" charset="0"/>
              <a:cs typeface="Times New Roman" panose="02020603050405020304" pitchFamily="18" charset="0"/>
            </a:endParaRPr>
          </a:p>
          <a:p>
            <a:pPr algn="just" eaLnBrk="1" hangingPunct="1"/>
            <a:endParaRPr lang="en-US" altLang="en-US" sz="2400" dirty="0">
              <a:latin typeface="Times New Roman" panose="02020603050405020304" pitchFamily="18" charset="0"/>
              <a:cs typeface="Times New Roman" panose="02020603050405020304" pitchFamily="18" charset="0"/>
            </a:endParaRPr>
          </a:p>
          <a:p>
            <a:pPr algn="just" eaLnBrk="1" hangingPunct="1"/>
            <a:endParaRPr lang="en-US" altLang="en-US" sz="2400" dirty="0">
              <a:latin typeface="Times New Roman" panose="02020603050405020304" pitchFamily="18" charset="0"/>
              <a:cs typeface="Times New Roman" panose="02020603050405020304" pitchFamily="18" charset="0"/>
            </a:endParaRPr>
          </a:p>
          <a:p>
            <a:pPr algn="just" eaLnBrk="1" hangingPunct="1"/>
            <a:endParaRPr lang="en-US" altLang="en-US" sz="2400" dirty="0">
              <a:latin typeface="Times New Roman" panose="02020603050405020304" pitchFamily="18" charset="0"/>
              <a:cs typeface="Times New Roman" panose="02020603050405020304" pitchFamily="18" charset="0"/>
            </a:endParaRPr>
          </a:p>
          <a:p>
            <a:pPr algn="just" eaLnBrk="1" hangingPunct="1"/>
            <a:endParaRPr lang="en-US" altLang="en-US" sz="2400" dirty="0">
              <a:latin typeface="Times New Roman" panose="02020603050405020304" pitchFamily="18" charset="0"/>
              <a:cs typeface="Times New Roman" panose="02020603050405020304" pitchFamily="18" charset="0"/>
            </a:endParaRPr>
          </a:p>
          <a:p>
            <a:pPr algn="just" eaLnBrk="1" hangingPunct="1"/>
            <a:endParaRPr lang="en-IN" alt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itle 2"/>
          <p:cNvSpPr>
            <a:spLocks noGrp="1"/>
          </p:cNvSpPr>
          <p:nvPr>
            <p:ph type="title"/>
          </p:nvPr>
        </p:nvSpPr>
        <p:spPr>
          <a:xfrm>
            <a:off x="609600" y="0"/>
            <a:ext cx="10972800" cy="935184"/>
          </a:xfrm>
        </p:spPr>
        <p:txBody>
          <a:bodyPr>
            <a:normAutofit/>
          </a:bodyPr>
          <a:lstStyle/>
          <a:p>
            <a:r>
              <a:rPr lang="en-US" altLang="en-US" sz="4400" dirty="0">
                <a:solidFill>
                  <a:srgbClr val="C00000"/>
                </a:solidFill>
                <a:latin typeface="Times New Roman" panose="02020603050405020304" pitchFamily="18" charset="0"/>
                <a:cs typeface="Times New Roman" panose="02020603050405020304" pitchFamily="18" charset="0"/>
              </a:rPr>
              <a:t>Introduction</a:t>
            </a:r>
            <a:endParaRPr lang="en-US" dirty="0">
              <a:solidFill>
                <a:srgbClr val="C00000"/>
              </a:solidFill>
            </a:endParaRPr>
          </a:p>
        </p:txBody>
      </p:sp>
      <p:sp>
        <p:nvSpPr>
          <p:cNvPr id="1048601" name="Content Placeholder 1"/>
          <p:cNvSpPr>
            <a:spLocks noGrp="1"/>
          </p:cNvSpPr>
          <p:nvPr>
            <p:ph idx="1"/>
          </p:nvPr>
        </p:nvSpPr>
        <p:spPr>
          <a:xfrm>
            <a:off x="189890" y="962301"/>
            <a:ext cx="10972800" cy="5588128"/>
          </a:xfrm>
        </p:spPr>
        <p:txBody>
          <a:bodyPr>
            <a:normAutofit fontScale="25000" lnSpcReduction="20000"/>
          </a:bodyPr>
          <a:lstStyle/>
          <a:p>
            <a:pPr algn="just">
              <a:lnSpc>
                <a:spcPct val="170000"/>
              </a:lnSpc>
            </a:pPr>
            <a:r>
              <a:rPr lang="en-US" sz="9600" dirty="0" smtClean="0">
                <a:latin typeface="Times New Roman" pitchFamily="18" charset="0"/>
                <a:cs typeface="Times New Roman" pitchFamily="18" charset="0"/>
              </a:rPr>
              <a:t>Nowadays</a:t>
            </a:r>
            <a:r>
              <a:rPr lang="en-US" sz="9600" dirty="0">
                <a:latin typeface="Times New Roman" pitchFamily="18" charset="0"/>
                <a:cs typeface="Times New Roman" pitchFamily="18" charset="0"/>
              </a:rPr>
              <a:t>, internet is the most common way used to share data around the globe. This sharing is backed by various cloud providers that allow customers to store &amp; share data on the internet</a:t>
            </a:r>
            <a:r>
              <a:rPr lang="en-US" sz="9600" dirty="0" smtClean="0">
                <a:latin typeface="Times New Roman" pitchFamily="18" charset="0"/>
                <a:cs typeface="Times New Roman" pitchFamily="18" charset="0"/>
              </a:rPr>
              <a:t>.</a:t>
            </a:r>
          </a:p>
          <a:p>
            <a:pPr algn="just">
              <a:lnSpc>
                <a:spcPct val="170000"/>
              </a:lnSpc>
            </a:pPr>
            <a:r>
              <a:rPr lang="en-US" sz="9600" dirty="0" smtClean="0">
                <a:latin typeface="Times New Roman" pitchFamily="18" charset="0"/>
                <a:cs typeface="Times New Roman" pitchFamily="18" charset="0"/>
              </a:rPr>
              <a:t>But </a:t>
            </a:r>
            <a:r>
              <a:rPr lang="en-US" sz="9600" dirty="0">
                <a:latin typeface="Times New Roman" pitchFamily="18" charset="0"/>
                <a:cs typeface="Times New Roman" pitchFamily="18" charset="0"/>
              </a:rPr>
              <a:t>when it comes to privacy, cloud providers have consistently failed to make data 100% secure. Many data breaches, data piracy, hacking attacks have threatened the security mechanism of cloud providers. </a:t>
            </a:r>
            <a:endParaRPr lang="en-US" sz="9600" dirty="0" smtClean="0">
              <a:latin typeface="Times New Roman" pitchFamily="18" charset="0"/>
              <a:cs typeface="Times New Roman" pitchFamily="18" charset="0"/>
            </a:endParaRPr>
          </a:p>
          <a:p>
            <a:pPr algn="just">
              <a:lnSpc>
                <a:spcPct val="170000"/>
              </a:lnSpc>
            </a:pPr>
            <a:r>
              <a:rPr lang="en-US" sz="9600" dirty="0" smtClean="0">
                <a:latin typeface="Times New Roman" pitchFamily="18" charset="0"/>
                <a:cs typeface="Times New Roman" pitchFamily="18" charset="0"/>
              </a:rPr>
              <a:t>Though </a:t>
            </a:r>
            <a:r>
              <a:rPr lang="en-US" sz="9600" dirty="0">
                <a:latin typeface="Times New Roman" pitchFamily="18" charset="0"/>
                <a:cs typeface="Times New Roman" pitchFamily="18" charset="0"/>
              </a:rPr>
              <a:t>data stored by the customers should be 100% secure as it may contain private data which must be only accessible to the owner itself and some intended audience. </a:t>
            </a:r>
            <a:endParaRPr lang="en-US" sz="9600" dirty="0" smtClean="0">
              <a:latin typeface="Times New Roman" pitchFamily="18" charset="0"/>
              <a:cs typeface="Times New Roman" pitchFamily="18" charset="0"/>
            </a:endParaRPr>
          </a:p>
          <a:p>
            <a:pPr marL="566737" indent="-457200" algn="just">
              <a:lnSpc>
                <a:spcPct val="150000"/>
              </a:lnSpc>
              <a:buFont typeface="Wingdings" panose="05000000000000000000" pitchFamily="2" charset="2"/>
              <a:buChar char="Ø"/>
            </a:pPr>
            <a:endParaRPr lang="en-US" sz="2400" dirty="0">
              <a:latin typeface="Times New Roamn"/>
            </a:endParaRPr>
          </a:p>
          <a:p>
            <a:pPr marL="109537" indent="0" algn="just">
              <a:lnSpc>
                <a:spcPct val="150000"/>
              </a:lnSpc>
              <a:buNone/>
            </a:pPr>
            <a:r>
              <a:rPr lang="en-US" sz="2400" dirty="0">
                <a:latin typeface="Times New Roamn"/>
              </a:rPr>
              <a:t>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1" name="Content Placeholder 1"/>
          <p:cNvSpPr>
            <a:spLocks noGrp="1"/>
          </p:cNvSpPr>
          <p:nvPr>
            <p:ph idx="1"/>
          </p:nvPr>
        </p:nvSpPr>
        <p:spPr>
          <a:xfrm>
            <a:off x="106763" y="828714"/>
            <a:ext cx="10972800" cy="5588128"/>
          </a:xfrm>
        </p:spPr>
        <p:txBody>
          <a:bodyPr>
            <a:normAutofit fontScale="25000" lnSpcReduction="20000"/>
          </a:bodyPr>
          <a:lstStyle/>
          <a:p>
            <a:pPr algn="just">
              <a:lnSpc>
                <a:spcPct val="170000"/>
              </a:lnSpc>
            </a:pPr>
            <a:r>
              <a:rPr lang="en-US" sz="9600" dirty="0">
                <a:latin typeface="Times New Roman" pitchFamily="18" charset="0"/>
                <a:cs typeface="Times New Roman" pitchFamily="18" charset="0"/>
              </a:rPr>
              <a:t>So, it is very important to make this system more secure, so that data privacy &amp; trust onto cloud providers can be maintained. With this paper, we introduce a system that leverages the security of cloud-based data onto the </a:t>
            </a:r>
            <a:r>
              <a:rPr lang="en-US" sz="9600" dirty="0" err="1">
                <a:latin typeface="Times New Roman" pitchFamily="18" charset="0"/>
                <a:cs typeface="Times New Roman" pitchFamily="18" charset="0"/>
              </a:rPr>
              <a:t>blockchain</a:t>
            </a:r>
            <a:r>
              <a:rPr lang="en-US" sz="9600" dirty="0">
                <a:latin typeface="Times New Roman" pitchFamily="18" charset="0"/>
                <a:cs typeface="Times New Roman" pitchFamily="18" charset="0"/>
              </a:rPr>
              <a:t>. </a:t>
            </a:r>
            <a:endParaRPr lang="en-US" sz="9600" dirty="0" smtClean="0">
              <a:latin typeface="Times New Roman" pitchFamily="18" charset="0"/>
              <a:cs typeface="Times New Roman" pitchFamily="18" charset="0"/>
            </a:endParaRPr>
          </a:p>
          <a:p>
            <a:pPr algn="just">
              <a:lnSpc>
                <a:spcPct val="170000"/>
              </a:lnSpc>
            </a:pPr>
            <a:r>
              <a:rPr lang="en-US" sz="9600" dirty="0" smtClean="0">
                <a:latin typeface="Times New Roman" pitchFamily="18" charset="0"/>
                <a:cs typeface="Times New Roman" pitchFamily="18" charset="0"/>
              </a:rPr>
              <a:t>It </a:t>
            </a:r>
            <a:r>
              <a:rPr lang="en-US" sz="9600" dirty="0">
                <a:latin typeface="Times New Roman" pitchFamily="18" charset="0"/>
                <a:cs typeface="Times New Roman" pitchFamily="18" charset="0"/>
              </a:rPr>
              <a:t>allows users to store data onto the cloud and provides a prominent access control mechanism that will ensure the privacy of data. Users will be able to share data with other people in a permissioned manner by sharing the link for document with the intended user. </a:t>
            </a:r>
            <a:endParaRPr lang="en-US" sz="9600" dirty="0" smtClean="0">
              <a:latin typeface="Times New Roman" pitchFamily="18" charset="0"/>
              <a:cs typeface="Times New Roman" pitchFamily="18" charset="0"/>
            </a:endParaRPr>
          </a:p>
          <a:p>
            <a:pPr marL="566737" indent="-457200" algn="just">
              <a:lnSpc>
                <a:spcPct val="150000"/>
              </a:lnSpc>
              <a:buFont typeface="Wingdings" panose="05000000000000000000" pitchFamily="2" charset="2"/>
              <a:buChar char="Ø"/>
            </a:pPr>
            <a:endParaRPr lang="en-US" sz="2400" dirty="0">
              <a:latin typeface="Times New Roamn"/>
            </a:endParaRPr>
          </a:p>
          <a:p>
            <a:pPr marL="566737" indent="-457200" algn="just">
              <a:lnSpc>
                <a:spcPct val="150000"/>
              </a:lnSpc>
              <a:buFont typeface="Wingdings" panose="05000000000000000000" pitchFamily="2" charset="2"/>
              <a:buChar char="Ø"/>
            </a:pPr>
            <a:endParaRPr lang="en-US" sz="2400" dirty="0">
              <a:latin typeface="Times New Roamn"/>
            </a:endParaRPr>
          </a:p>
          <a:p>
            <a:pPr marL="566737" indent="-457200" algn="just">
              <a:lnSpc>
                <a:spcPct val="150000"/>
              </a:lnSpc>
              <a:buFont typeface="Wingdings" panose="05000000000000000000" pitchFamily="2" charset="2"/>
              <a:buChar char="Ø"/>
            </a:pPr>
            <a:endParaRPr lang="en-US" sz="2400" dirty="0">
              <a:latin typeface="Times New Roamn"/>
            </a:endParaRPr>
          </a:p>
          <a:p>
            <a:pPr marL="109537" indent="0" algn="just">
              <a:lnSpc>
                <a:spcPct val="150000"/>
              </a:lnSpc>
              <a:buNone/>
            </a:pPr>
            <a:r>
              <a:rPr lang="en-US" sz="2400" dirty="0">
                <a:latin typeface="Times New Roamn"/>
              </a:rPr>
              <a:t> </a:t>
            </a:r>
          </a:p>
        </p:txBody>
      </p:sp>
    </p:spTree>
    <p:extLst>
      <p:ext uri="{BB962C8B-B14F-4D97-AF65-F5344CB8AC3E}">
        <p14:creationId xmlns:p14="http://schemas.microsoft.com/office/powerpoint/2010/main" val="193338456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1" name="Content Placeholder 1"/>
          <p:cNvSpPr>
            <a:spLocks noGrp="1"/>
          </p:cNvSpPr>
          <p:nvPr>
            <p:ph idx="1"/>
          </p:nvPr>
        </p:nvSpPr>
        <p:spPr>
          <a:xfrm>
            <a:off x="106762" y="593558"/>
            <a:ext cx="10972801" cy="5719010"/>
          </a:xfrm>
        </p:spPr>
        <p:txBody>
          <a:bodyPr>
            <a:normAutofit fontScale="25000" lnSpcReduction="20000"/>
          </a:bodyPr>
          <a:lstStyle/>
          <a:p>
            <a:pPr algn="just">
              <a:lnSpc>
                <a:spcPct val="170000"/>
              </a:lnSpc>
              <a:buFont typeface="Wingdings" pitchFamily="2" charset="2"/>
              <a:buChar char="Ø"/>
            </a:pPr>
            <a:r>
              <a:rPr lang="en-US" sz="9600" dirty="0" smtClean="0">
                <a:latin typeface="Times New Roman" pitchFamily="18" charset="0"/>
                <a:cs typeface="Times New Roman" pitchFamily="18" charset="0"/>
              </a:rPr>
              <a:t>Logs </a:t>
            </a:r>
            <a:r>
              <a:rPr lang="en-US" sz="9600" dirty="0">
                <a:latin typeface="Times New Roman" pitchFamily="18" charset="0"/>
                <a:cs typeface="Times New Roman" pitchFamily="18" charset="0"/>
              </a:rPr>
              <a:t>of all the operations performed with the document will be available to the owner at any instance of time. This will ensure the actual ownership &amp; privacy of the data</a:t>
            </a:r>
            <a:r>
              <a:rPr lang="en-US" sz="9600" dirty="0" smtClean="0">
                <a:latin typeface="Times New Roman" pitchFamily="18" charset="0"/>
                <a:cs typeface="Times New Roman" pitchFamily="18" charset="0"/>
              </a:rPr>
              <a:t>.</a:t>
            </a:r>
          </a:p>
          <a:p>
            <a:pPr algn="just">
              <a:lnSpc>
                <a:spcPct val="170000"/>
              </a:lnSpc>
              <a:buFont typeface="Wingdings" pitchFamily="2" charset="2"/>
              <a:buChar char="Ø"/>
            </a:pPr>
            <a:r>
              <a:rPr lang="en-US" sz="9600" dirty="0" smtClean="0">
                <a:latin typeface="Times New Roman" pitchFamily="18" charset="0"/>
                <a:cs typeface="Times New Roman" pitchFamily="18" charset="0"/>
              </a:rPr>
              <a:t> </a:t>
            </a:r>
            <a:r>
              <a:rPr lang="en-US" sz="9600" dirty="0">
                <a:latin typeface="Times New Roman" pitchFamily="18" charset="0"/>
                <a:cs typeface="Times New Roman" pitchFamily="18" charset="0"/>
              </a:rPr>
              <a:t>Any person or third-party will not be able to access document without valid permission. </a:t>
            </a:r>
          </a:p>
          <a:p>
            <a:pPr algn="just">
              <a:lnSpc>
                <a:spcPct val="170000"/>
              </a:lnSpc>
              <a:buFont typeface="Wingdings" pitchFamily="2" charset="2"/>
              <a:buChar char="Ø"/>
            </a:pPr>
            <a:r>
              <a:rPr lang="en-US" sz="9600" dirty="0">
                <a:latin typeface="Times New Roman" pitchFamily="18" charset="0"/>
                <a:cs typeface="Times New Roman" pitchFamily="18" charset="0"/>
              </a:rPr>
              <a:t>This will make existing cloud storage more secure &amp; decrease the data breaches &amp; several attacks.</a:t>
            </a:r>
            <a:endParaRPr lang="en-IN" sz="9600" dirty="0">
              <a:latin typeface="Times New Roman" pitchFamily="18" charset="0"/>
              <a:cs typeface="Times New Roman" pitchFamily="18" charset="0"/>
            </a:endParaRPr>
          </a:p>
          <a:p>
            <a:pPr marL="109537" indent="0" algn="just">
              <a:lnSpc>
                <a:spcPct val="170000"/>
              </a:lnSpc>
              <a:buNone/>
            </a:pPr>
            <a:endParaRPr lang="en-US" sz="9600" dirty="0">
              <a:latin typeface="Times New Roman" panose="02020603050405020304" pitchFamily="18" charset="0"/>
              <a:cs typeface="Times New Roman" panose="02020603050405020304" pitchFamily="18" charset="0"/>
            </a:endParaRPr>
          </a:p>
          <a:p>
            <a:pPr marL="566737" indent="-457200" algn="just">
              <a:lnSpc>
                <a:spcPct val="170000"/>
              </a:lnSpc>
              <a:buFont typeface="Wingdings" panose="05000000000000000000" pitchFamily="2" charset="2"/>
              <a:buChar char="Ø"/>
            </a:pPr>
            <a:endParaRPr kumimoji="0" lang="en-US" sz="9600" b="0" i="0" u="none" strike="noStrike" kern="1200" cap="none" spc="0" normalizeH="0" baseline="0" noProof="0" dirty="0">
              <a:ln>
                <a:noFill/>
              </a:ln>
              <a:solidFill>
                <a:prstClr val="black"/>
              </a:solidFill>
              <a:effectLst/>
              <a:uLnTx/>
              <a:uFillTx/>
              <a:latin typeface="Times New Roman" panose="02020603050405020304" pitchFamily="18" charset="0"/>
              <a:ea typeface="Arial" panose="020B0604020202020204" pitchFamily="34" charset="0"/>
              <a:cs typeface="Times New Roman" panose="02020603050405020304" pitchFamily="18" charset="0"/>
            </a:endParaRPr>
          </a:p>
          <a:p>
            <a:pPr marL="566737" indent="-457200" algn="just">
              <a:lnSpc>
                <a:spcPct val="150000"/>
              </a:lnSpc>
              <a:buFont typeface="Wingdings" panose="05000000000000000000" pitchFamily="2" charset="2"/>
              <a:buChar char="Ø"/>
            </a:pPr>
            <a:endParaRPr lang="en-US" sz="2400" dirty="0">
              <a:latin typeface="Times New Roamn"/>
            </a:endParaRPr>
          </a:p>
          <a:p>
            <a:pPr marL="566737" indent="-457200" algn="just">
              <a:lnSpc>
                <a:spcPct val="150000"/>
              </a:lnSpc>
              <a:buFont typeface="Wingdings" panose="05000000000000000000" pitchFamily="2" charset="2"/>
              <a:buChar char="Ø"/>
            </a:pPr>
            <a:endParaRPr lang="en-US" sz="2400" dirty="0">
              <a:latin typeface="Times New Roamn"/>
            </a:endParaRPr>
          </a:p>
          <a:p>
            <a:pPr marL="566737" indent="-457200" algn="just">
              <a:lnSpc>
                <a:spcPct val="150000"/>
              </a:lnSpc>
              <a:buFont typeface="Wingdings" panose="05000000000000000000" pitchFamily="2" charset="2"/>
              <a:buChar char="Ø"/>
            </a:pPr>
            <a:endParaRPr lang="en-US" sz="2400" dirty="0">
              <a:latin typeface="Times New Roamn"/>
            </a:endParaRPr>
          </a:p>
          <a:p>
            <a:pPr marL="566737" indent="-457200" algn="just">
              <a:lnSpc>
                <a:spcPct val="150000"/>
              </a:lnSpc>
              <a:buFont typeface="Wingdings" panose="05000000000000000000" pitchFamily="2" charset="2"/>
              <a:buChar char="Ø"/>
            </a:pPr>
            <a:endParaRPr lang="en-US" sz="2400" dirty="0">
              <a:latin typeface="Times New Roamn"/>
            </a:endParaRPr>
          </a:p>
          <a:p>
            <a:pPr marL="109537" indent="0" algn="just">
              <a:lnSpc>
                <a:spcPct val="150000"/>
              </a:lnSpc>
              <a:buNone/>
            </a:pPr>
            <a:r>
              <a:rPr lang="en-US" sz="2400" dirty="0">
                <a:latin typeface="Times New Roamn"/>
              </a:rPr>
              <a:t> </a:t>
            </a:r>
          </a:p>
        </p:txBody>
      </p:sp>
    </p:spTree>
    <p:extLst>
      <p:ext uri="{BB962C8B-B14F-4D97-AF65-F5344CB8AC3E}">
        <p14:creationId xmlns:p14="http://schemas.microsoft.com/office/powerpoint/2010/main" val="28338371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3B54282B-7FC2-8EE7-6A8A-702BDF380935}"/>
              </a:ext>
            </a:extLst>
          </p:cNvPr>
          <p:cNvSpPr>
            <a:spLocks noGrp="1"/>
          </p:cNvSpPr>
          <p:nvPr>
            <p:ph type="title"/>
          </p:nvPr>
        </p:nvSpPr>
        <p:spPr>
          <a:xfrm>
            <a:off x="156519" y="0"/>
            <a:ext cx="10972800" cy="930442"/>
          </a:xfrm>
        </p:spPr>
        <p:txBody>
          <a:bodyPr>
            <a:normAutofit/>
          </a:bodyPr>
          <a:lstStyle/>
          <a:p>
            <a:r>
              <a:rPr lang="en-US" altLang="en-US" sz="4400" dirty="0">
                <a:solidFill>
                  <a:srgbClr val="C00000"/>
                </a:solidFill>
                <a:latin typeface="Times New Roman" panose="02020603050405020304" pitchFamily="18" charset="0"/>
                <a:cs typeface="Times New Roman" panose="02020603050405020304" pitchFamily="18" charset="0"/>
              </a:rPr>
              <a:t>   Literature Survey </a:t>
            </a:r>
            <a:endParaRPr lang="en-US" sz="2800" dirty="0"/>
          </a:p>
        </p:txBody>
      </p:sp>
      <p:graphicFrame>
        <p:nvGraphicFramePr>
          <p:cNvPr id="4" name="Table 4">
            <a:extLst>
              <a:ext uri="{FF2B5EF4-FFF2-40B4-BE49-F238E27FC236}">
                <a16:creationId xmlns:a16="http://schemas.microsoft.com/office/drawing/2014/main" xmlns="" id="{204B99A6-3C9D-941B-3DD7-376A592CB27B}"/>
              </a:ext>
            </a:extLst>
          </p:cNvPr>
          <p:cNvGraphicFramePr>
            <a:graphicFrameLocks noGrp="1"/>
          </p:cNvGraphicFramePr>
          <p:nvPr>
            <p:ph idx="1"/>
            <p:extLst>
              <p:ext uri="{D42A27DB-BD31-4B8C-83A1-F6EECF244321}">
                <p14:modId xmlns:p14="http://schemas.microsoft.com/office/powerpoint/2010/main" val="3693998749"/>
              </p:ext>
            </p:extLst>
          </p:nvPr>
        </p:nvGraphicFramePr>
        <p:xfrm>
          <a:off x="206188" y="870384"/>
          <a:ext cx="11901481" cy="5896287"/>
        </p:xfrm>
        <a:graphic>
          <a:graphicData uri="http://schemas.openxmlformats.org/drawingml/2006/table">
            <a:tbl>
              <a:tblPr firstRow="1" bandRow="1">
                <a:tableStyleId>{5C22544A-7EE6-4342-B048-85BDC9FD1C3A}</a:tableStyleId>
              </a:tblPr>
              <a:tblGrid>
                <a:gridCol w="508511">
                  <a:extLst>
                    <a:ext uri="{9D8B030D-6E8A-4147-A177-3AD203B41FA5}">
                      <a16:colId xmlns:a16="http://schemas.microsoft.com/office/drawing/2014/main" xmlns="" val="4249591745"/>
                    </a:ext>
                  </a:extLst>
                </a:gridCol>
                <a:gridCol w="1742751">
                  <a:extLst>
                    <a:ext uri="{9D8B030D-6E8A-4147-A177-3AD203B41FA5}">
                      <a16:colId xmlns:a16="http://schemas.microsoft.com/office/drawing/2014/main" xmlns="" val="2048446310"/>
                    </a:ext>
                  </a:extLst>
                </a:gridCol>
                <a:gridCol w="1885950">
                  <a:extLst>
                    <a:ext uri="{9D8B030D-6E8A-4147-A177-3AD203B41FA5}">
                      <a16:colId xmlns:a16="http://schemas.microsoft.com/office/drawing/2014/main" xmlns="" val="71004942"/>
                    </a:ext>
                  </a:extLst>
                </a:gridCol>
                <a:gridCol w="1724025">
                  <a:extLst>
                    <a:ext uri="{9D8B030D-6E8A-4147-A177-3AD203B41FA5}">
                      <a16:colId xmlns:a16="http://schemas.microsoft.com/office/drawing/2014/main" xmlns="" val="3060839510"/>
                    </a:ext>
                  </a:extLst>
                </a:gridCol>
                <a:gridCol w="2457450">
                  <a:extLst>
                    <a:ext uri="{9D8B030D-6E8A-4147-A177-3AD203B41FA5}">
                      <a16:colId xmlns:a16="http://schemas.microsoft.com/office/drawing/2014/main" xmlns="" val="821079912"/>
                    </a:ext>
                  </a:extLst>
                </a:gridCol>
                <a:gridCol w="3582794">
                  <a:extLst>
                    <a:ext uri="{9D8B030D-6E8A-4147-A177-3AD203B41FA5}">
                      <a16:colId xmlns:a16="http://schemas.microsoft.com/office/drawing/2014/main" xmlns="" val="2304526528"/>
                    </a:ext>
                  </a:extLst>
                </a:gridCol>
              </a:tblGrid>
              <a:tr h="1792160">
                <a:tc>
                  <a:txBody>
                    <a:bodyPr/>
                    <a:lstStyle/>
                    <a:p>
                      <a:pPr algn="l">
                        <a:lnSpc>
                          <a:spcPct val="150000"/>
                        </a:lnSpc>
                      </a:pPr>
                      <a:r>
                        <a:rPr lang="en-US" sz="2000" dirty="0">
                          <a:latin typeface="Times New Roman" panose="02020603050405020304" pitchFamily="18" charset="0"/>
                          <a:cs typeface="Times New Roman" panose="02020603050405020304" pitchFamily="18" charset="0"/>
                        </a:rPr>
                        <a:t>Sl. No</a:t>
                      </a:r>
                    </a:p>
                  </a:txBody>
                  <a:tcPr/>
                </a:tc>
                <a:tc>
                  <a:txBody>
                    <a:bodyPr/>
                    <a:lstStyle/>
                    <a:p>
                      <a:pPr algn="l">
                        <a:lnSpc>
                          <a:spcPct val="150000"/>
                        </a:lnSpc>
                      </a:pPr>
                      <a:r>
                        <a:rPr lang="en-US" sz="2000" dirty="0">
                          <a:latin typeface="Times New Roman" panose="02020603050405020304" pitchFamily="18" charset="0"/>
                          <a:cs typeface="Times New Roman" panose="02020603050405020304" pitchFamily="18" charset="0"/>
                        </a:rPr>
                        <a:t>Paper Title</a:t>
                      </a:r>
                    </a:p>
                  </a:txBody>
                  <a:tcPr/>
                </a:tc>
                <a:tc>
                  <a:txBody>
                    <a:bodyPr/>
                    <a:lstStyle/>
                    <a:p>
                      <a:pPr algn="l">
                        <a:lnSpc>
                          <a:spcPct val="150000"/>
                        </a:lnSpc>
                      </a:pPr>
                      <a:r>
                        <a:rPr lang="en-US" sz="2000" dirty="0">
                          <a:latin typeface="Times New Roman" panose="02020603050405020304" pitchFamily="18" charset="0"/>
                          <a:cs typeface="Times New Roman" panose="02020603050405020304" pitchFamily="18" charset="0"/>
                        </a:rPr>
                        <a:t>Authors, Publisher &amp; Publication Year</a:t>
                      </a:r>
                    </a:p>
                  </a:txBody>
                  <a:tcPr/>
                </a:tc>
                <a:tc>
                  <a:txBody>
                    <a:bodyPr/>
                    <a:lstStyle/>
                    <a:p>
                      <a:pPr algn="l">
                        <a:lnSpc>
                          <a:spcPct val="150000"/>
                        </a:lnSpc>
                      </a:pPr>
                      <a:r>
                        <a:rPr lang="en-US" sz="2000" dirty="0">
                          <a:latin typeface="Times New Roman" panose="02020603050405020304" pitchFamily="18" charset="0"/>
                          <a:cs typeface="Times New Roman" panose="02020603050405020304" pitchFamily="18" charset="0"/>
                        </a:rPr>
                        <a:t>Problem Identified</a:t>
                      </a:r>
                    </a:p>
                  </a:txBody>
                  <a:tcPr/>
                </a:tc>
                <a:tc>
                  <a:txBody>
                    <a:bodyPr/>
                    <a:lstStyle/>
                    <a:p>
                      <a:pPr algn="l">
                        <a:lnSpc>
                          <a:spcPct val="150000"/>
                        </a:lnSpc>
                      </a:pPr>
                      <a:r>
                        <a:rPr lang="en-US" sz="2000" dirty="0">
                          <a:latin typeface="Times New Roman" panose="02020603050405020304" pitchFamily="18" charset="0"/>
                          <a:cs typeface="Times New Roman" panose="02020603050405020304" pitchFamily="18" charset="0"/>
                        </a:rPr>
                        <a:t>Techniques used</a:t>
                      </a:r>
                    </a:p>
                  </a:txBody>
                  <a:tcPr/>
                </a:tc>
                <a:tc>
                  <a:txBody>
                    <a:bodyPr/>
                    <a:lstStyle/>
                    <a:p>
                      <a:pPr algn="l">
                        <a:lnSpc>
                          <a:spcPct val="150000"/>
                        </a:lnSpc>
                      </a:pPr>
                      <a:r>
                        <a:rPr lang="en-US" sz="1800" dirty="0">
                          <a:latin typeface="Times New Roman" panose="02020603050405020304" pitchFamily="18" charset="0"/>
                          <a:cs typeface="Times New Roman" panose="02020603050405020304" pitchFamily="18" charset="0"/>
                        </a:rPr>
                        <a:t>Outcome</a:t>
                      </a:r>
                    </a:p>
                  </a:txBody>
                  <a:tcPr/>
                </a:tc>
                <a:extLst>
                  <a:ext uri="{0D108BD9-81ED-4DB2-BD59-A6C34878D82A}">
                    <a16:rowId xmlns:a16="http://schemas.microsoft.com/office/drawing/2014/main" xmlns="" val="422556544"/>
                  </a:ext>
                </a:extLst>
              </a:tr>
              <a:tr h="3976047">
                <a:tc>
                  <a:txBody>
                    <a:bodyPr/>
                    <a:lstStyle/>
                    <a:p>
                      <a:pPr algn="l">
                        <a:lnSpc>
                          <a:spcPct val="150000"/>
                        </a:lnSpc>
                      </a:pPr>
                      <a:r>
                        <a:rPr lang="en-US" sz="2000" b="1" dirty="0">
                          <a:latin typeface="Times New Roman" panose="02020603050405020304" pitchFamily="18" charset="0"/>
                          <a:cs typeface="Times New Roman" panose="02020603050405020304" pitchFamily="18" charset="0"/>
                        </a:rPr>
                        <a:t>1.</a:t>
                      </a:r>
                    </a:p>
                  </a:txBody>
                  <a:tcPr/>
                </a:tc>
                <a:tc>
                  <a:txBody>
                    <a:bodyPr/>
                    <a:lstStyle/>
                    <a:p>
                      <a:pPr algn="l">
                        <a:lnSpc>
                          <a:spcPct val="150000"/>
                        </a:lnSpc>
                      </a:pPr>
                      <a:r>
                        <a:rPr lang="en-US" sz="2000" dirty="0" smtClean="0">
                          <a:latin typeface="Times New Roman" panose="02020603050405020304" pitchFamily="18" charset="0"/>
                          <a:cs typeface="Times New Roman" panose="02020603050405020304" pitchFamily="18" charset="0"/>
                        </a:rPr>
                        <a:t>Securing Cloud Based Data Storage using         </a:t>
                      </a:r>
                      <a:r>
                        <a:rPr lang="en-US" sz="2000" dirty="0" err="1" smtClean="0">
                          <a:latin typeface="Times New Roman" panose="02020603050405020304" pitchFamily="18" charset="0"/>
                          <a:cs typeface="Times New Roman" panose="02020603050405020304" pitchFamily="18" charset="0"/>
                        </a:rPr>
                        <a:t>Blockchain</a:t>
                      </a:r>
                      <a:r>
                        <a:rPr lang="en-US" sz="2000" dirty="0" smtClean="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txBody>
                  <a:tcPr/>
                </a:tc>
                <a:tc>
                  <a:txBody>
                    <a:bodyPr/>
                    <a:lstStyle/>
                    <a:p>
                      <a:pPr algn="l">
                        <a:lnSpc>
                          <a:spcPct val="150000"/>
                        </a:lnSpc>
                      </a:pPr>
                      <a:r>
                        <a:rPr lang="en-US" sz="2000" dirty="0" err="1" smtClean="0">
                          <a:latin typeface="Times New Roman" panose="02020603050405020304" pitchFamily="18" charset="0"/>
                          <a:cs typeface="Times New Roman" panose="02020603050405020304" pitchFamily="18" charset="0"/>
                        </a:rPr>
                        <a:t>Aishwarya</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Patil</a:t>
                      </a:r>
                      <a:r>
                        <a:rPr lang="en-US" sz="2000" dirty="0" smtClean="0">
                          <a:latin typeface="Times New Roman" panose="02020603050405020304" pitchFamily="18" charset="0"/>
                          <a:cs typeface="Times New Roman" panose="02020603050405020304" pitchFamily="18" charset="0"/>
                        </a:rPr>
                        <a:t> ,</a:t>
                      </a:r>
                      <a:r>
                        <a:rPr lang="en-US" sz="2000" baseline="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Swapnajit</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Patil</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Sachin</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Rokade</a:t>
                      </a:r>
                      <a:r>
                        <a:rPr lang="en-US" sz="2000" dirty="0" smtClean="0">
                          <a:latin typeface="Times New Roman" panose="02020603050405020304" pitchFamily="18" charset="0"/>
                          <a:cs typeface="Times New Roman" panose="02020603050405020304" pitchFamily="18" charset="0"/>
                        </a:rPr>
                        <a:t> Vijay Sharma Prof. G. B. </a:t>
                      </a:r>
                      <a:r>
                        <a:rPr lang="en-US" sz="2000" dirty="0" err="1" smtClean="0">
                          <a:latin typeface="Times New Roman" panose="02020603050405020304" pitchFamily="18" charset="0"/>
                          <a:cs typeface="Times New Roman" panose="02020603050405020304" pitchFamily="18" charset="0"/>
                        </a:rPr>
                        <a:t>Sambare</a:t>
                      </a:r>
                      <a:r>
                        <a:rPr lang="en-US" sz="2000" dirty="0" smtClean="0">
                          <a:latin typeface="Times New Roman" panose="02020603050405020304" pitchFamily="18" charset="0"/>
                          <a:cs typeface="Times New Roman" panose="02020603050405020304" pitchFamily="18" charset="0"/>
                        </a:rPr>
                        <a:t> Pune, 2021</a:t>
                      </a:r>
                    </a:p>
                    <a:p>
                      <a:pPr algn="l">
                        <a:lnSpc>
                          <a:spcPct val="150000"/>
                        </a:lnSpc>
                      </a:pPr>
                      <a:r>
                        <a:rPr lang="en-US" sz="2000" dirty="0" smtClean="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txBody>
                  <a:tcPr/>
                </a:tc>
                <a:tc>
                  <a:txBody>
                    <a:bodyPr/>
                    <a:lstStyle/>
                    <a:p>
                      <a:pPr marL="342900" indent="-342900" algn="l">
                        <a:lnSpc>
                          <a:spcPct val="150000"/>
                        </a:lnSpc>
                        <a:buFont typeface="Arial" pitchFamily="34" charset="0"/>
                        <a:buChar char="•"/>
                      </a:pPr>
                      <a:r>
                        <a:rPr lang="en-US" sz="2000" dirty="0" smtClean="0">
                          <a:latin typeface="Times New Roman" panose="02020603050405020304" pitchFamily="18" charset="0"/>
                          <a:cs typeface="Times New Roman" panose="02020603050405020304" pitchFamily="18" charset="0"/>
                        </a:rPr>
                        <a:t>More power </a:t>
                      </a:r>
                      <a:r>
                        <a:rPr lang="en-US" sz="2000" dirty="0" err="1" smtClean="0">
                          <a:latin typeface="Times New Roman" panose="02020603050405020304" pitchFamily="18" charset="0"/>
                          <a:cs typeface="Times New Roman" panose="02020603050405020304" pitchFamily="18" charset="0"/>
                        </a:rPr>
                        <a:t>consumptio</a:t>
                      </a:r>
                      <a:r>
                        <a:rPr lang="en-US" sz="2000" dirty="0" smtClean="0">
                          <a:latin typeface="Times New Roman" panose="02020603050405020304" pitchFamily="18" charset="0"/>
                          <a:cs typeface="Times New Roman" panose="02020603050405020304" pitchFamily="18" charset="0"/>
                        </a:rPr>
                        <a:t>-n and latency.</a:t>
                      </a:r>
                      <a:endParaRPr lang="en-US" sz="2000" dirty="0">
                        <a:latin typeface="Times New Roman" panose="02020603050405020304" pitchFamily="18" charset="0"/>
                        <a:cs typeface="Times New Roman" panose="02020603050405020304" pitchFamily="18" charset="0"/>
                      </a:endParaRPr>
                    </a:p>
                  </a:txBody>
                  <a:tcPr/>
                </a:tc>
                <a:tc>
                  <a:txBody>
                    <a:bodyPr/>
                    <a:lstStyle/>
                    <a:p>
                      <a:pPr marL="342900" indent="-342900" algn="l">
                        <a:lnSpc>
                          <a:spcPct val="150000"/>
                        </a:lnSpc>
                        <a:buFont typeface="Arial" panose="020B0604020202020204" pitchFamily="34" charset="0"/>
                        <a:buChar char="•"/>
                      </a:pPr>
                      <a:r>
                        <a:rPr lang="en-US" sz="2000" dirty="0" err="1" smtClean="0">
                          <a:latin typeface="Times New Roman" panose="02020603050405020304" pitchFamily="18" charset="0"/>
                          <a:cs typeface="Times New Roman" panose="02020603050405020304" pitchFamily="18" charset="0"/>
                        </a:rPr>
                        <a:t>Blockchain</a:t>
                      </a:r>
                      <a:r>
                        <a:rPr lang="en-US" sz="2000" dirty="0" smtClean="0">
                          <a:latin typeface="Times New Roman" panose="02020603050405020304" pitchFamily="18" charset="0"/>
                          <a:cs typeface="Times New Roman" panose="02020603050405020304" pitchFamily="18" charset="0"/>
                        </a:rPr>
                        <a:t>, Cloud Storage, Cloud Triggers, Smart Contract.</a:t>
                      </a:r>
                    </a:p>
                    <a:p>
                      <a:pPr marL="342900" indent="-342900" algn="l">
                        <a:lnSpc>
                          <a:spcPct val="15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Logs, </a:t>
                      </a:r>
                      <a:r>
                        <a:rPr lang="en-US" sz="2000" dirty="0" err="1" smtClean="0">
                          <a:latin typeface="Times New Roman" panose="02020603050405020304" pitchFamily="18" charset="0"/>
                          <a:cs typeface="Times New Roman" panose="02020603050405020304" pitchFamily="18" charset="0"/>
                        </a:rPr>
                        <a:t>Ethereum</a:t>
                      </a:r>
                      <a:r>
                        <a:rPr lang="en-US" sz="2000" dirty="0" smtClean="0">
                          <a:latin typeface="Times New Roman" panose="02020603050405020304" pitchFamily="18" charset="0"/>
                          <a:cs typeface="Times New Roman" panose="02020603050405020304" pitchFamily="18" charset="0"/>
                        </a:rPr>
                        <a:t>, Ledger, Data Privacy, Data Security, Solidity.</a:t>
                      </a:r>
                      <a:endParaRPr lang="en-US" sz="2000" dirty="0">
                        <a:latin typeface="Times New Roman" panose="02020603050405020304" pitchFamily="18" charset="0"/>
                        <a:cs typeface="Times New Roman" panose="02020603050405020304" pitchFamily="18" charset="0"/>
                      </a:endParaRPr>
                    </a:p>
                  </a:txBody>
                  <a:tcPr/>
                </a:tc>
                <a:tc>
                  <a:txBody>
                    <a:bodyPr/>
                    <a:lstStyle/>
                    <a:p>
                      <a:pPr marL="342900" indent="-342900" algn="l">
                        <a:lnSpc>
                          <a:spcPct val="150000"/>
                        </a:lnSpc>
                        <a:buFont typeface="Arial" panose="020B0604020202020204" pitchFamily="34" charset="0"/>
                        <a:buChar char="•"/>
                      </a:pPr>
                      <a:r>
                        <a:rPr lang="en-US" sz="1800" dirty="0" err="1" smtClean="0">
                          <a:latin typeface="Times New Roman" panose="02020603050405020304" pitchFamily="18" charset="0"/>
                          <a:cs typeface="Times New Roman" panose="02020603050405020304" pitchFamily="18" charset="0"/>
                        </a:rPr>
                        <a:t>Blockchain</a:t>
                      </a:r>
                      <a:r>
                        <a:rPr lang="en-US" sz="1800" dirty="0" smtClean="0">
                          <a:latin typeface="Times New Roman" panose="02020603050405020304" pitchFamily="18" charset="0"/>
                          <a:cs typeface="Times New Roman" panose="02020603050405020304" pitchFamily="18" charset="0"/>
                        </a:rPr>
                        <a:t> for all the operations and share the data securely using two-factor authentication in which the first step is sharing the link with the trusted entity. </a:t>
                      </a:r>
                    </a:p>
                    <a:p>
                      <a:pPr marL="342900" indent="-342900" algn="l">
                        <a:lnSpc>
                          <a:spcPct val="150000"/>
                        </a:lnSpc>
                        <a:buFont typeface="Arial" panose="020B0604020202020204" pitchFamily="34" charset="0"/>
                        <a:buChar char="•"/>
                      </a:pPr>
                      <a:r>
                        <a:rPr lang="en-US" sz="1800" dirty="0" smtClean="0">
                          <a:latin typeface="Times New Roman" panose="02020603050405020304" pitchFamily="18" charset="0"/>
                          <a:cs typeface="Times New Roman" panose="02020603050405020304" pitchFamily="18" charset="0"/>
                        </a:rPr>
                        <a:t>And to prevent unauthorized access, the second is approving the notification for granting permission.</a:t>
                      </a: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426730835"/>
                  </a:ext>
                </a:extLst>
              </a:tr>
            </a:tbl>
          </a:graphicData>
        </a:graphic>
      </p:graphicFrame>
    </p:spTree>
    <p:extLst>
      <p:ext uri="{BB962C8B-B14F-4D97-AF65-F5344CB8AC3E}">
        <p14:creationId xmlns:p14="http://schemas.microsoft.com/office/powerpoint/2010/main" val="11090189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xmlns="" id="{204B99A6-3C9D-941B-3DD7-376A592CB27B}"/>
              </a:ext>
            </a:extLst>
          </p:cNvPr>
          <p:cNvGraphicFramePr>
            <a:graphicFrameLocks noGrp="1"/>
          </p:cNvGraphicFramePr>
          <p:nvPr>
            <p:ph idx="1"/>
            <p:extLst>
              <p:ext uri="{D42A27DB-BD31-4B8C-83A1-F6EECF244321}">
                <p14:modId xmlns:p14="http://schemas.microsoft.com/office/powerpoint/2010/main" val="1873912665"/>
              </p:ext>
            </p:extLst>
          </p:nvPr>
        </p:nvGraphicFramePr>
        <p:xfrm>
          <a:off x="86496" y="131804"/>
          <a:ext cx="12019008" cy="6590271"/>
        </p:xfrm>
        <a:graphic>
          <a:graphicData uri="http://schemas.openxmlformats.org/drawingml/2006/table">
            <a:tbl>
              <a:tblPr firstRow="1" bandRow="1">
                <a:tableStyleId>{5C22544A-7EE6-4342-B048-85BDC9FD1C3A}</a:tableStyleId>
              </a:tblPr>
              <a:tblGrid>
                <a:gridCol w="655435">
                  <a:extLst>
                    <a:ext uri="{9D8B030D-6E8A-4147-A177-3AD203B41FA5}">
                      <a16:colId xmlns:a16="http://schemas.microsoft.com/office/drawing/2014/main" xmlns="" val="4249591745"/>
                    </a:ext>
                  </a:extLst>
                </a:gridCol>
                <a:gridCol w="1922954">
                  <a:extLst>
                    <a:ext uri="{9D8B030D-6E8A-4147-A177-3AD203B41FA5}">
                      <a16:colId xmlns:a16="http://schemas.microsoft.com/office/drawing/2014/main" xmlns="" val="2048446310"/>
                    </a:ext>
                  </a:extLst>
                </a:gridCol>
                <a:gridCol w="1541942">
                  <a:extLst>
                    <a:ext uri="{9D8B030D-6E8A-4147-A177-3AD203B41FA5}">
                      <a16:colId xmlns:a16="http://schemas.microsoft.com/office/drawing/2014/main" xmlns="" val="71004942"/>
                    </a:ext>
                  </a:extLst>
                </a:gridCol>
                <a:gridCol w="1700673">
                  <a:extLst>
                    <a:ext uri="{9D8B030D-6E8A-4147-A177-3AD203B41FA5}">
                      <a16:colId xmlns:a16="http://schemas.microsoft.com/office/drawing/2014/main" xmlns="" val="3060839510"/>
                    </a:ext>
                  </a:extLst>
                </a:gridCol>
                <a:gridCol w="2682827">
                  <a:extLst>
                    <a:ext uri="{9D8B030D-6E8A-4147-A177-3AD203B41FA5}">
                      <a16:colId xmlns:a16="http://schemas.microsoft.com/office/drawing/2014/main" xmlns="" val="821079912"/>
                    </a:ext>
                  </a:extLst>
                </a:gridCol>
                <a:gridCol w="3515177">
                  <a:extLst>
                    <a:ext uri="{9D8B030D-6E8A-4147-A177-3AD203B41FA5}">
                      <a16:colId xmlns:a16="http://schemas.microsoft.com/office/drawing/2014/main" xmlns="" val="2304526528"/>
                    </a:ext>
                  </a:extLst>
                </a:gridCol>
              </a:tblGrid>
              <a:tr h="1283819">
                <a:tc>
                  <a:txBody>
                    <a:bodyPr/>
                    <a:lstStyle/>
                    <a:p>
                      <a:r>
                        <a:rPr lang="en-US" dirty="0" err="1">
                          <a:latin typeface="Times New Roman" panose="02020603050405020304" pitchFamily="18" charset="0"/>
                          <a:cs typeface="Times New Roman" panose="02020603050405020304" pitchFamily="18" charset="0"/>
                        </a:rPr>
                        <a:t>Sl</a:t>
                      </a:r>
                      <a:r>
                        <a:rPr lang="en-US" dirty="0">
                          <a:latin typeface="Times New Roman" panose="02020603050405020304" pitchFamily="18" charset="0"/>
                          <a:cs typeface="Times New Roman" panose="02020603050405020304" pitchFamily="18" charset="0"/>
                        </a:rPr>
                        <a:t> . No</a:t>
                      </a:r>
                    </a:p>
                  </a:txBody>
                  <a:tcPr/>
                </a:tc>
                <a:tc>
                  <a:txBody>
                    <a:bodyPr/>
                    <a:lstStyle/>
                    <a:p>
                      <a:r>
                        <a:rPr lang="en-US" dirty="0">
                          <a:latin typeface="Times New Roman" panose="02020603050405020304" pitchFamily="18" charset="0"/>
                          <a:cs typeface="Times New Roman" panose="02020603050405020304" pitchFamily="18" charset="0"/>
                        </a:rPr>
                        <a:t>Paper Title</a:t>
                      </a:r>
                    </a:p>
                  </a:txBody>
                  <a:tcPr/>
                </a:tc>
                <a:tc>
                  <a:txBody>
                    <a:bodyPr/>
                    <a:lstStyle/>
                    <a:p>
                      <a:r>
                        <a:rPr lang="en-US" dirty="0">
                          <a:latin typeface="Times New Roman" panose="02020603050405020304" pitchFamily="18" charset="0"/>
                          <a:cs typeface="Times New Roman" panose="02020603050405020304" pitchFamily="18" charset="0"/>
                        </a:rPr>
                        <a:t>Authors, Publisher &amp; Publication Year</a:t>
                      </a:r>
                    </a:p>
                  </a:txBody>
                  <a:tcPr/>
                </a:tc>
                <a:tc>
                  <a:txBody>
                    <a:bodyPr/>
                    <a:lstStyle/>
                    <a:p>
                      <a:r>
                        <a:rPr lang="en-US" dirty="0">
                          <a:latin typeface="Times New Roman" panose="02020603050405020304" pitchFamily="18" charset="0"/>
                          <a:cs typeface="Times New Roman" panose="02020603050405020304" pitchFamily="18" charset="0"/>
                        </a:rPr>
                        <a:t>Problem Identified</a:t>
                      </a:r>
                    </a:p>
                  </a:txBody>
                  <a:tcPr/>
                </a:tc>
                <a:tc>
                  <a:txBody>
                    <a:bodyPr/>
                    <a:lstStyle/>
                    <a:p>
                      <a:r>
                        <a:rPr lang="en-US" dirty="0">
                          <a:latin typeface="Times New Roman" panose="02020603050405020304" pitchFamily="18" charset="0"/>
                          <a:cs typeface="Times New Roman" panose="02020603050405020304" pitchFamily="18" charset="0"/>
                        </a:rPr>
                        <a:t>Techniques used</a:t>
                      </a:r>
                    </a:p>
                  </a:txBody>
                  <a:tcPr/>
                </a:tc>
                <a:tc>
                  <a:txBody>
                    <a:bodyPr/>
                    <a:lstStyle/>
                    <a:p>
                      <a:r>
                        <a:rPr lang="en-US" dirty="0">
                          <a:latin typeface="Times New Roman" panose="02020603050405020304" pitchFamily="18" charset="0"/>
                          <a:cs typeface="Times New Roman" panose="02020603050405020304" pitchFamily="18" charset="0"/>
                        </a:rPr>
                        <a:t>Outcome</a:t>
                      </a:r>
                    </a:p>
                  </a:txBody>
                  <a:tcPr/>
                </a:tc>
                <a:extLst>
                  <a:ext uri="{0D108BD9-81ED-4DB2-BD59-A6C34878D82A}">
                    <a16:rowId xmlns:a16="http://schemas.microsoft.com/office/drawing/2014/main" xmlns="" val="422556544"/>
                  </a:ext>
                </a:extLst>
              </a:tr>
              <a:tr h="5306452">
                <a:tc>
                  <a:txBody>
                    <a:bodyPr/>
                    <a:lstStyle/>
                    <a:p>
                      <a:pPr algn="ctr"/>
                      <a:r>
                        <a:rPr lang="en-US" b="1" dirty="0">
                          <a:latin typeface="Times New Roman" panose="02020603050405020304" pitchFamily="18" charset="0"/>
                          <a:cs typeface="Times New Roman" panose="02020603050405020304" pitchFamily="18" charset="0"/>
                        </a:rPr>
                        <a:t>2</a:t>
                      </a:r>
                      <a:r>
                        <a:rPr lang="en-US"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Towards </a:t>
                      </a:r>
                      <a:r>
                        <a:rPr lang="en-US" dirty="0" err="1" smtClean="0">
                          <a:latin typeface="Times New Roman" panose="02020603050405020304" pitchFamily="18" charset="0"/>
                          <a:cs typeface="Times New Roman" panose="02020603050405020304" pitchFamily="18" charset="0"/>
                        </a:rPr>
                        <a:t>Blockchain</a:t>
                      </a:r>
                      <a:r>
                        <a:rPr lang="en-US" dirty="0" smtClean="0">
                          <a:latin typeface="Times New Roman" panose="02020603050405020304" pitchFamily="18" charset="0"/>
                          <a:cs typeface="Times New Roman" panose="02020603050405020304" pitchFamily="18" charset="0"/>
                        </a:rPr>
                        <a:t>-Based Secure Storage and Trusted Data Sharing Scheme for </a:t>
                      </a:r>
                      <a:r>
                        <a:rPr lang="en-US" dirty="0" err="1" smtClean="0">
                          <a:latin typeface="Times New Roman" panose="02020603050405020304" pitchFamily="18" charset="0"/>
                          <a:cs typeface="Times New Roman" panose="02020603050405020304" pitchFamily="18" charset="0"/>
                        </a:rPr>
                        <a:t>IoT</a:t>
                      </a:r>
                      <a:r>
                        <a:rPr lang="en-US" dirty="0" smtClean="0">
                          <a:latin typeface="Times New Roman" panose="02020603050405020304" pitchFamily="18" charset="0"/>
                          <a:cs typeface="Times New Roman" panose="02020603050405020304" pitchFamily="18" charset="0"/>
                        </a:rPr>
                        <a:t> Environment</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Zia </a:t>
                      </a:r>
                      <a:r>
                        <a:rPr lang="en-US" dirty="0" err="1" smtClean="0">
                          <a:latin typeface="Times New Roman" panose="02020603050405020304" pitchFamily="18" charset="0"/>
                          <a:cs typeface="Times New Roman" panose="02020603050405020304" pitchFamily="18" charset="0"/>
                        </a:rPr>
                        <a:t>Ullah</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Basit</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Raza</a:t>
                      </a:r>
                      <a:r>
                        <a:rPr lang="en-US" dirty="0" smtClean="0">
                          <a:latin typeface="Times New Roman" panose="02020603050405020304" pitchFamily="18" charset="0"/>
                          <a:cs typeface="Times New Roman" panose="02020603050405020304" pitchFamily="18" charset="0"/>
                        </a:rPr>
                        <a:t> , </a:t>
                      </a:r>
                      <a:r>
                        <a:rPr lang="en-US" dirty="0" err="1" smtClean="0">
                          <a:latin typeface="Times New Roman" panose="02020603050405020304" pitchFamily="18" charset="0"/>
                          <a:cs typeface="Times New Roman" panose="02020603050405020304" pitchFamily="18" charset="0"/>
                        </a:rPr>
                        <a:t>Habib</a:t>
                      </a:r>
                      <a:r>
                        <a:rPr lang="en-US" dirty="0" smtClean="0">
                          <a:latin typeface="Times New Roman" panose="02020603050405020304" pitchFamily="18" charset="0"/>
                          <a:cs typeface="Times New Roman" panose="02020603050405020304" pitchFamily="18" charset="0"/>
                        </a:rPr>
                        <a:t> Shah, </a:t>
                      </a:r>
                      <a:r>
                        <a:rPr lang="en-US" dirty="0" err="1" smtClean="0">
                          <a:latin typeface="Times New Roman" panose="02020603050405020304" pitchFamily="18" charset="0"/>
                          <a:cs typeface="Times New Roman" panose="02020603050405020304" pitchFamily="18" charset="0"/>
                        </a:rPr>
                        <a:t>Shahzad</a:t>
                      </a:r>
                      <a:r>
                        <a:rPr lang="en-US" baseline="0" dirty="0" smtClean="0">
                          <a:latin typeface="Times New Roman" panose="02020603050405020304" pitchFamily="18" charset="0"/>
                          <a:cs typeface="Times New Roman" panose="02020603050405020304" pitchFamily="18" charset="0"/>
                        </a:rPr>
                        <a:t> </a:t>
                      </a:r>
                      <a:r>
                        <a:rPr lang="en-US" baseline="0" dirty="0" err="1" smtClean="0">
                          <a:latin typeface="Times New Roman" panose="02020603050405020304" pitchFamily="18" charset="0"/>
                          <a:cs typeface="Times New Roman" panose="02020603050405020304" pitchFamily="18" charset="0"/>
                        </a:rPr>
                        <a:t>Khan,and</a:t>
                      </a:r>
                      <a:r>
                        <a:rPr lang="en-US" baseline="0" dirty="0" smtClean="0">
                          <a:latin typeface="Times New Roman" panose="02020603050405020304" pitchFamily="18" charset="0"/>
                          <a:cs typeface="Times New Roman" panose="02020603050405020304" pitchFamily="18" charset="0"/>
                        </a:rPr>
                        <a:t> Abdul </a:t>
                      </a:r>
                      <a:r>
                        <a:rPr lang="en-US" baseline="0" dirty="0" err="1" smtClean="0">
                          <a:latin typeface="Times New Roman" panose="02020603050405020304" pitchFamily="18" charset="0"/>
                          <a:cs typeface="Times New Roman" panose="02020603050405020304" pitchFamily="18" charset="0"/>
                        </a:rPr>
                        <a:t>Waheed</a:t>
                      </a:r>
                      <a:r>
                        <a:rPr lang="en-US" dirty="0" smtClean="0">
                          <a:latin typeface="Times New Roman" panose="02020603050405020304" pitchFamily="18" charset="0"/>
                          <a:cs typeface="Times New Roman" panose="02020603050405020304" pitchFamily="18" charset="0"/>
                        </a:rPr>
                        <a:t> 2022</a:t>
                      </a:r>
                      <a:endParaRPr lang="en-US"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itchFamily="34" charset="0"/>
                        <a:buChar char="•"/>
                      </a:pPr>
                      <a:r>
                        <a:rPr lang="en-US" dirty="0" smtClean="0">
                          <a:latin typeface="Times New Roman" panose="02020603050405020304" pitchFamily="18" charset="0"/>
                          <a:cs typeface="Times New Roman" panose="02020603050405020304" pitchFamily="18" charset="0"/>
                        </a:rPr>
                        <a:t>Does not support the functions of user attribute revocation and A-BAC policy updating</a:t>
                      </a:r>
                      <a:endParaRPr lang="en-US"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itchFamily="34" charset="0"/>
                        <a:buChar char="•"/>
                      </a:pPr>
                      <a:r>
                        <a:rPr lang="en-US" dirty="0" smtClean="0">
                          <a:latin typeface="Times New Roman" panose="02020603050405020304" pitchFamily="18" charset="0"/>
                          <a:cs typeface="Times New Roman" panose="02020603050405020304" pitchFamily="18" charset="0"/>
                        </a:rPr>
                        <a:t>Access control, data encryption, data storage via </a:t>
                      </a:r>
                      <a:r>
                        <a:rPr lang="en-US" dirty="0" err="1" smtClean="0">
                          <a:latin typeface="Times New Roman" panose="02020603050405020304" pitchFamily="18" charset="0"/>
                          <a:cs typeface="Times New Roman" panose="02020603050405020304" pitchFamily="18" charset="0"/>
                        </a:rPr>
                        <a:t>blockchain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Ethereum</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blockchain</a:t>
                      </a:r>
                      <a:r>
                        <a:rPr lang="en-US" dirty="0" smtClean="0">
                          <a:latin typeface="Times New Roman" panose="02020603050405020304" pitchFamily="18" charset="0"/>
                          <a:cs typeface="Times New Roman" panose="02020603050405020304" pitchFamily="18" charset="0"/>
                        </a:rPr>
                        <a:t>, Internet of Things (</a:t>
                      </a:r>
                      <a:r>
                        <a:rPr lang="en-US" dirty="0" err="1" smtClean="0">
                          <a:latin typeface="Times New Roman" panose="02020603050405020304" pitchFamily="18" charset="0"/>
                          <a:cs typeface="Times New Roman" panose="02020603050405020304" pitchFamily="18" charset="0"/>
                        </a:rPr>
                        <a:t>IoT</a:t>
                      </a:r>
                      <a:r>
                        <a:rPr lang="en-US" dirty="0" smtClean="0">
                          <a:latin typeface="Times New Roman" panose="02020603050405020304" pitchFamily="18" charset="0"/>
                          <a:cs typeface="Times New Roman" panose="02020603050405020304" pitchFamily="18" charset="0"/>
                        </a:rPr>
                        <a:t>), IPFS,  </a:t>
                      </a:r>
                    </a:p>
                    <a:p>
                      <a:pPr marL="285750" indent="-285750">
                        <a:buFont typeface="Arial" pitchFamily="34" charset="0"/>
                        <a:buChar char="•"/>
                      </a:pPr>
                      <a:r>
                        <a:rPr lang="en-US" dirty="0" smtClean="0">
                          <a:latin typeface="Times New Roman" panose="02020603050405020304" pitchFamily="18" charset="0"/>
                          <a:cs typeface="Times New Roman" panose="02020603050405020304" pitchFamily="18" charset="0"/>
                        </a:rPr>
                        <a:t>Smart contract.</a:t>
                      </a:r>
                    </a:p>
                    <a:p>
                      <a:endParaRPr lang="en-US"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itchFamily="34" charset="0"/>
                        <a:buChar char="•"/>
                      </a:pPr>
                      <a:r>
                        <a:rPr lang="en-US" dirty="0" smtClean="0">
                          <a:latin typeface="Times New Roman" panose="02020603050405020304" pitchFamily="18" charset="0"/>
                          <a:cs typeface="Times New Roman" panose="02020603050405020304" pitchFamily="18" charset="0"/>
                        </a:rPr>
                        <a:t>Fast and complex authentication, secret protection, and multi-signature-based conditional provenance approaches that allowed us to instantly access rights, manage, and limit data on the </a:t>
                      </a:r>
                      <a:r>
                        <a:rPr lang="en-US" dirty="0" err="1" smtClean="0">
                          <a:latin typeface="Times New Roman" panose="02020603050405020304" pitchFamily="18" charset="0"/>
                          <a:cs typeface="Times New Roman" panose="02020603050405020304" pitchFamily="18" charset="0"/>
                        </a:rPr>
                        <a:t>Ethereum</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blockchain</a:t>
                      </a: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426730835"/>
                  </a:ext>
                </a:extLst>
              </a:tr>
            </a:tbl>
          </a:graphicData>
        </a:graphic>
      </p:graphicFrame>
    </p:spTree>
    <p:extLst>
      <p:ext uri="{BB962C8B-B14F-4D97-AF65-F5344CB8AC3E}">
        <p14:creationId xmlns:p14="http://schemas.microsoft.com/office/powerpoint/2010/main" val="1868024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xmlns="" id="{204B99A6-3C9D-941B-3DD7-376A592CB27B}"/>
              </a:ext>
            </a:extLst>
          </p:cNvPr>
          <p:cNvGraphicFramePr>
            <a:graphicFrameLocks noGrp="1"/>
          </p:cNvGraphicFramePr>
          <p:nvPr>
            <p:ph idx="1"/>
            <p:extLst>
              <p:ext uri="{D42A27DB-BD31-4B8C-83A1-F6EECF244321}">
                <p14:modId xmlns:p14="http://schemas.microsoft.com/office/powerpoint/2010/main" val="3504292824"/>
              </p:ext>
            </p:extLst>
          </p:nvPr>
        </p:nvGraphicFramePr>
        <p:xfrm>
          <a:off x="86496" y="131804"/>
          <a:ext cx="12019008" cy="6590271"/>
        </p:xfrm>
        <a:graphic>
          <a:graphicData uri="http://schemas.openxmlformats.org/drawingml/2006/table">
            <a:tbl>
              <a:tblPr firstRow="1" bandRow="1">
                <a:tableStyleId>{5C22544A-7EE6-4342-B048-85BDC9FD1C3A}</a:tableStyleId>
              </a:tblPr>
              <a:tblGrid>
                <a:gridCol w="655435">
                  <a:extLst>
                    <a:ext uri="{9D8B030D-6E8A-4147-A177-3AD203B41FA5}">
                      <a16:colId xmlns:a16="http://schemas.microsoft.com/office/drawing/2014/main" xmlns="" val="4249591745"/>
                    </a:ext>
                  </a:extLst>
                </a:gridCol>
                <a:gridCol w="1922954">
                  <a:extLst>
                    <a:ext uri="{9D8B030D-6E8A-4147-A177-3AD203B41FA5}">
                      <a16:colId xmlns:a16="http://schemas.microsoft.com/office/drawing/2014/main" xmlns="" val="2048446310"/>
                    </a:ext>
                  </a:extLst>
                </a:gridCol>
                <a:gridCol w="1541942">
                  <a:extLst>
                    <a:ext uri="{9D8B030D-6E8A-4147-A177-3AD203B41FA5}">
                      <a16:colId xmlns:a16="http://schemas.microsoft.com/office/drawing/2014/main" xmlns="" val="71004942"/>
                    </a:ext>
                  </a:extLst>
                </a:gridCol>
                <a:gridCol w="1700673">
                  <a:extLst>
                    <a:ext uri="{9D8B030D-6E8A-4147-A177-3AD203B41FA5}">
                      <a16:colId xmlns:a16="http://schemas.microsoft.com/office/drawing/2014/main" xmlns="" val="3060839510"/>
                    </a:ext>
                  </a:extLst>
                </a:gridCol>
                <a:gridCol w="2582159">
                  <a:extLst>
                    <a:ext uri="{9D8B030D-6E8A-4147-A177-3AD203B41FA5}">
                      <a16:colId xmlns:a16="http://schemas.microsoft.com/office/drawing/2014/main" xmlns="" val="821079912"/>
                    </a:ext>
                  </a:extLst>
                </a:gridCol>
                <a:gridCol w="3615845">
                  <a:extLst>
                    <a:ext uri="{9D8B030D-6E8A-4147-A177-3AD203B41FA5}">
                      <a16:colId xmlns:a16="http://schemas.microsoft.com/office/drawing/2014/main" xmlns="" val="2304526528"/>
                    </a:ext>
                  </a:extLst>
                </a:gridCol>
              </a:tblGrid>
              <a:tr h="1283819">
                <a:tc>
                  <a:txBody>
                    <a:bodyPr/>
                    <a:lstStyle/>
                    <a:p>
                      <a:r>
                        <a:rPr lang="en-US" dirty="0" err="1">
                          <a:latin typeface="Times New Roman" panose="02020603050405020304" pitchFamily="18" charset="0"/>
                          <a:cs typeface="Times New Roman" panose="02020603050405020304" pitchFamily="18" charset="0"/>
                        </a:rPr>
                        <a:t>Sl</a:t>
                      </a:r>
                      <a:r>
                        <a:rPr lang="en-US" dirty="0">
                          <a:latin typeface="Times New Roman" panose="02020603050405020304" pitchFamily="18" charset="0"/>
                          <a:cs typeface="Times New Roman" panose="02020603050405020304" pitchFamily="18" charset="0"/>
                        </a:rPr>
                        <a:t> . No</a:t>
                      </a:r>
                    </a:p>
                  </a:txBody>
                  <a:tcPr/>
                </a:tc>
                <a:tc>
                  <a:txBody>
                    <a:bodyPr/>
                    <a:lstStyle/>
                    <a:p>
                      <a:r>
                        <a:rPr lang="en-US" dirty="0">
                          <a:latin typeface="Times New Roman" panose="02020603050405020304" pitchFamily="18" charset="0"/>
                          <a:cs typeface="Times New Roman" panose="02020603050405020304" pitchFamily="18" charset="0"/>
                        </a:rPr>
                        <a:t>Paper Title</a:t>
                      </a:r>
                    </a:p>
                  </a:txBody>
                  <a:tcPr/>
                </a:tc>
                <a:tc>
                  <a:txBody>
                    <a:bodyPr/>
                    <a:lstStyle/>
                    <a:p>
                      <a:r>
                        <a:rPr lang="en-US" dirty="0">
                          <a:latin typeface="Times New Roman" panose="02020603050405020304" pitchFamily="18" charset="0"/>
                          <a:cs typeface="Times New Roman" panose="02020603050405020304" pitchFamily="18" charset="0"/>
                        </a:rPr>
                        <a:t>Authors, Publisher &amp; Publication Year</a:t>
                      </a:r>
                    </a:p>
                  </a:txBody>
                  <a:tcPr/>
                </a:tc>
                <a:tc>
                  <a:txBody>
                    <a:bodyPr/>
                    <a:lstStyle/>
                    <a:p>
                      <a:r>
                        <a:rPr lang="en-US" dirty="0">
                          <a:latin typeface="Times New Roman" panose="02020603050405020304" pitchFamily="18" charset="0"/>
                          <a:cs typeface="Times New Roman" panose="02020603050405020304" pitchFamily="18" charset="0"/>
                        </a:rPr>
                        <a:t>Problem Identified</a:t>
                      </a:r>
                    </a:p>
                  </a:txBody>
                  <a:tcPr/>
                </a:tc>
                <a:tc>
                  <a:txBody>
                    <a:bodyPr/>
                    <a:lstStyle/>
                    <a:p>
                      <a:r>
                        <a:rPr lang="en-US" dirty="0">
                          <a:latin typeface="Times New Roman" panose="02020603050405020304" pitchFamily="18" charset="0"/>
                          <a:cs typeface="Times New Roman" panose="02020603050405020304" pitchFamily="18" charset="0"/>
                        </a:rPr>
                        <a:t>Techniques used</a:t>
                      </a:r>
                    </a:p>
                  </a:txBody>
                  <a:tcPr/>
                </a:tc>
                <a:tc>
                  <a:txBody>
                    <a:bodyPr/>
                    <a:lstStyle/>
                    <a:p>
                      <a:r>
                        <a:rPr lang="en-US" dirty="0">
                          <a:latin typeface="Times New Roman" panose="02020603050405020304" pitchFamily="18" charset="0"/>
                          <a:cs typeface="Times New Roman" panose="02020603050405020304" pitchFamily="18" charset="0"/>
                        </a:rPr>
                        <a:t>Outcome</a:t>
                      </a:r>
                    </a:p>
                  </a:txBody>
                  <a:tcPr/>
                </a:tc>
                <a:extLst>
                  <a:ext uri="{0D108BD9-81ED-4DB2-BD59-A6C34878D82A}">
                    <a16:rowId xmlns:a16="http://schemas.microsoft.com/office/drawing/2014/main" xmlns="" val="422556544"/>
                  </a:ext>
                </a:extLst>
              </a:tr>
              <a:tr h="5306452">
                <a:tc>
                  <a:txBody>
                    <a:bodyPr/>
                    <a:lstStyle/>
                    <a:p>
                      <a:pPr algn="ctr"/>
                      <a:r>
                        <a:rPr lang="en-US" b="1" dirty="0">
                          <a:latin typeface="Times New Roman" panose="02020603050405020304" pitchFamily="18" charset="0"/>
                          <a:cs typeface="Times New Roman" panose="02020603050405020304" pitchFamily="18" charset="0"/>
                        </a:rPr>
                        <a:t>3</a:t>
                      </a:r>
                      <a:r>
                        <a:rPr lang="en-US"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err="1" smtClean="0">
                          <a:solidFill>
                            <a:schemeClr val="dk1"/>
                          </a:solidFill>
                          <a:effectLst/>
                          <a:latin typeface="+mn-lt"/>
                          <a:ea typeface="+mn-ea"/>
                          <a:cs typeface="+mn-cs"/>
                        </a:rPr>
                        <a:t>Blockchain</a:t>
                      </a:r>
                      <a:r>
                        <a:rPr lang="en-US" sz="1800" b="0" i="0" kern="1200" dirty="0" smtClean="0">
                          <a:solidFill>
                            <a:schemeClr val="dk1"/>
                          </a:solidFill>
                          <a:effectLst/>
                          <a:latin typeface="+mn-lt"/>
                          <a:ea typeface="+mn-ea"/>
                          <a:cs typeface="+mn-cs"/>
                        </a:rPr>
                        <a:t> Techniques for Secure Storage of Data in Cloud Environment</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tc>
                  <a:txBody>
                    <a:bodyPr/>
                    <a:lstStyle/>
                    <a:p>
                      <a:r>
                        <a:rPr lang="en-US" sz="1800" dirty="0" smtClean="0">
                          <a:latin typeface="Times New Roman" panose="02020603050405020304" pitchFamily="18" charset="0"/>
                          <a:cs typeface="Times New Roman" panose="02020603050405020304" pitchFamily="18" charset="0"/>
                        </a:rPr>
                        <a:t>Praveen </a:t>
                      </a:r>
                      <a:r>
                        <a:rPr lang="en-US" sz="1800" dirty="0" err="1" smtClean="0">
                          <a:latin typeface="Times New Roman" panose="02020603050405020304" pitchFamily="18" charset="0"/>
                          <a:cs typeface="Times New Roman" panose="02020603050405020304" pitchFamily="18" charset="0"/>
                        </a:rPr>
                        <a:t>kumar</a:t>
                      </a:r>
                      <a:r>
                        <a:rPr lang="en-US" sz="1800" dirty="0" smtClean="0">
                          <a:latin typeface="Times New Roman" panose="02020603050405020304" pitchFamily="18" charset="0"/>
                          <a:cs typeface="Times New Roman" panose="02020603050405020304" pitchFamily="18" charset="0"/>
                        </a:rPr>
                        <a:t> </a:t>
                      </a:r>
                      <a:r>
                        <a:rPr lang="en-US" sz="1800" dirty="0" err="1" smtClean="0">
                          <a:latin typeface="Times New Roman" panose="02020603050405020304" pitchFamily="18" charset="0"/>
                          <a:cs typeface="Times New Roman" panose="02020603050405020304" pitchFamily="18" charset="0"/>
                        </a:rPr>
                        <a:t>kollu</a:t>
                      </a:r>
                      <a:r>
                        <a:rPr lang="en-US" sz="1800" dirty="0" smtClean="0">
                          <a:latin typeface="Times New Roman" panose="02020603050405020304" pitchFamily="18" charset="0"/>
                          <a:cs typeface="Times New Roman" panose="02020603050405020304" pitchFamily="18" charset="0"/>
                        </a:rPr>
                        <a:t>,</a:t>
                      </a:r>
                    </a:p>
                    <a:p>
                      <a:r>
                        <a:rPr lang="en-US" sz="1800" dirty="0" smtClean="0">
                          <a:latin typeface="Times New Roman" panose="02020603050405020304" pitchFamily="18" charset="0"/>
                          <a:cs typeface="Times New Roman" panose="02020603050405020304" pitchFamily="18" charset="0"/>
                        </a:rPr>
                        <a:t>Monika </a:t>
                      </a:r>
                      <a:r>
                        <a:rPr lang="en-US" sz="1800" dirty="0" err="1" smtClean="0">
                          <a:latin typeface="Times New Roman" panose="02020603050405020304" pitchFamily="18" charset="0"/>
                          <a:cs typeface="Times New Roman" panose="02020603050405020304" pitchFamily="18" charset="0"/>
                        </a:rPr>
                        <a:t>saxena</a:t>
                      </a:r>
                      <a:r>
                        <a:rPr lang="en-US" sz="1800" dirty="0" smtClean="0">
                          <a:latin typeface="Times New Roman" panose="02020603050405020304" pitchFamily="18" charset="0"/>
                          <a:cs typeface="Times New Roman" panose="02020603050405020304" pitchFamily="18" charset="0"/>
                        </a:rPr>
                        <a:t>,</a:t>
                      </a:r>
                      <a:r>
                        <a:rPr lang="en-US" sz="1800" baseline="0" dirty="0" smtClean="0">
                          <a:latin typeface="Times New Roman" panose="02020603050405020304" pitchFamily="18" charset="0"/>
                          <a:cs typeface="Times New Roman" panose="02020603050405020304" pitchFamily="18" charset="0"/>
                        </a:rPr>
                        <a:t> </a:t>
                      </a:r>
                      <a:r>
                        <a:rPr lang="en-US" sz="1800" baseline="0" dirty="0" err="1" smtClean="0">
                          <a:latin typeface="Times New Roman" panose="02020603050405020304" pitchFamily="18" charset="0"/>
                          <a:cs typeface="Times New Roman" panose="02020603050405020304" pitchFamily="18" charset="0"/>
                        </a:rPr>
                        <a:t>Khongdet</a:t>
                      </a:r>
                      <a:r>
                        <a:rPr lang="en-US" sz="1800" baseline="0" dirty="0" smtClean="0">
                          <a:latin typeface="Times New Roman" panose="02020603050405020304" pitchFamily="18" charset="0"/>
                          <a:cs typeface="Times New Roman" panose="02020603050405020304" pitchFamily="18" charset="0"/>
                        </a:rPr>
                        <a:t> </a:t>
                      </a:r>
                      <a:r>
                        <a:rPr lang="en-US" sz="1800" baseline="0" dirty="0" err="1" smtClean="0">
                          <a:latin typeface="Times New Roman" panose="02020603050405020304" pitchFamily="18" charset="0"/>
                          <a:cs typeface="Times New Roman" panose="02020603050405020304" pitchFamily="18" charset="0"/>
                        </a:rPr>
                        <a:t>Phasinam</a:t>
                      </a:r>
                      <a:r>
                        <a:rPr lang="en-US" sz="1800" baseline="0" dirty="0" smtClean="0">
                          <a:latin typeface="Times New Roman" panose="02020603050405020304" pitchFamily="18" charset="0"/>
                          <a:cs typeface="Times New Roman" panose="02020603050405020304" pitchFamily="18" charset="0"/>
                        </a:rPr>
                        <a:t>,</a:t>
                      </a:r>
                    </a:p>
                    <a:p>
                      <a:r>
                        <a:rPr lang="en-US" sz="1800" baseline="0" dirty="0" smtClean="0">
                          <a:latin typeface="Times New Roman" panose="02020603050405020304" pitchFamily="18" charset="0"/>
                          <a:cs typeface="Times New Roman" panose="02020603050405020304" pitchFamily="18" charset="0"/>
                        </a:rPr>
                        <a:t>2021</a:t>
                      </a:r>
                      <a:r>
                        <a:rPr lang="en-IN" dirty="0" smtClean="0"/>
                        <a:t/>
                      </a:r>
                      <a:br>
                        <a:rPr lang="en-IN" dirty="0" smtClean="0"/>
                      </a:br>
                      <a:endParaRPr lang="en-US" sz="18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itchFamily="34" charset="0"/>
                        <a:buChar char="•"/>
                      </a:pPr>
                      <a:r>
                        <a:rPr lang="en-US" dirty="0" err="1" smtClean="0">
                          <a:latin typeface="Times New Roman" panose="02020603050405020304" pitchFamily="18" charset="0"/>
                          <a:cs typeface="Times New Roman" panose="02020603050405020304" pitchFamily="18" charset="0"/>
                        </a:rPr>
                        <a:t>Blockchain</a:t>
                      </a:r>
                      <a:r>
                        <a:rPr lang="en-US" baseline="0" dirty="0" smtClean="0">
                          <a:latin typeface="Times New Roman" panose="02020603050405020304" pitchFamily="18" charset="0"/>
                          <a:cs typeface="Times New Roman" panose="02020603050405020304" pitchFamily="18" charset="0"/>
                        </a:rPr>
                        <a:t> is in early stage of growth</a:t>
                      </a:r>
                      <a:endParaRPr lang="en-US"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itchFamily="34" charset="0"/>
                        <a:buChar char="•"/>
                      </a:pPr>
                      <a:r>
                        <a:rPr lang="en-US" sz="1800" b="0" i="0" kern="1200" dirty="0" err="1" smtClean="0">
                          <a:solidFill>
                            <a:schemeClr val="dk1"/>
                          </a:solidFill>
                          <a:effectLst/>
                          <a:latin typeface="+mn-lt"/>
                          <a:ea typeface="+mn-ea"/>
                          <a:cs typeface="+mn-cs"/>
                        </a:rPr>
                        <a:t>Blockchain</a:t>
                      </a:r>
                      <a:endParaRPr lang="en-US" sz="1800" b="0" i="0" kern="1200" dirty="0" smtClean="0">
                        <a:solidFill>
                          <a:schemeClr val="dk1"/>
                        </a:solidFill>
                        <a:effectLst/>
                        <a:latin typeface="+mn-lt"/>
                        <a:ea typeface="+mn-ea"/>
                        <a:cs typeface="+mn-cs"/>
                      </a:endParaRPr>
                    </a:p>
                    <a:p>
                      <a:pPr marL="285750" indent="-285750">
                        <a:buFont typeface="Arial" pitchFamily="34" charset="0"/>
                        <a:buChar char="•"/>
                      </a:pPr>
                      <a:r>
                        <a:rPr lang="en-US" sz="1800" b="0" i="0" kern="1200" dirty="0" smtClean="0">
                          <a:solidFill>
                            <a:schemeClr val="dk1"/>
                          </a:solidFill>
                          <a:effectLst/>
                          <a:latin typeface="+mn-lt"/>
                          <a:ea typeface="+mn-ea"/>
                          <a:cs typeface="+mn-cs"/>
                        </a:rPr>
                        <a:t>Cloud Storage </a:t>
                      </a:r>
                    </a:p>
                    <a:p>
                      <a:pPr marL="285750" indent="-285750">
                        <a:buFont typeface="Arial" pitchFamily="34" charset="0"/>
                        <a:buChar char="•"/>
                      </a:pPr>
                      <a:r>
                        <a:rPr lang="en-US" sz="1800" b="0" i="0" kern="1200" dirty="0" smtClean="0">
                          <a:solidFill>
                            <a:schemeClr val="dk1"/>
                          </a:solidFill>
                          <a:effectLst/>
                          <a:latin typeface="+mn-lt"/>
                          <a:ea typeface="+mn-ea"/>
                          <a:cs typeface="+mn-cs"/>
                        </a:rPr>
                        <a:t>Smart Contracts</a:t>
                      </a:r>
                    </a:p>
                    <a:p>
                      <a:pPr marL="285750" indent="-285750">
                        <a:buFont typeface="Arial" pitchFamily="34" charset="0"/>
                        <a:buChar char="•"/>
                      </a:pPr>
                      <a:r>
                        <a:rPr lang="en-US" sz="1800" b="0" i="0" kern="1200" dirty="0" smtClean="0">
                          <a:solidFill>
                            <a:schemeClr val="dk1"/>
                          </a:solidFill>
                          <a:effectLst/>
                          <a:latin typeface="+mn-lt"/>
                          <a:ea typeface="+mn-ea"/>
                          <a:cs typeface="+mn-cs"/>
                        </a:rPr>
                        <a:t>Cloud Security</a:t>
                      </a:r>
                      <a:r>
                        <a:rPr lang="en-US" sz="1800" b="0" i="0" kern="1200" baseline="0" dirty="0" smtClean="0">
                          <a:solidFill>
                            <a:schemeClr val="dk1"/>
                          </a:solidFill>
                          <a:effectLst/>
                          <a:latin typeface="+mn-lt"/>
                          <a:ea typeface="+mn-ea"/>
                          <a:cs typeface="+mn-cs"/>
                        </a:rPr>
                        <a:t> </a:t>
                      </a:r>
                      <a:r>
                        <a:rPr lang="en-US" sz="1800" b="0" i="0" kern="1200" dirty="0" smtClean="0">
                          <a:solidFill>
                            <a:schemeClr val="dk1"/>
                          </a:solidFill>
                          <a:effectLst/>
                          <a:latin typeface="+mn-lt"/>
                          <a:ea typeface="+mn-ea"/>
                          <a:cs typeface="+mn-cs"/>
                        </a:rPr>
                        <a:t>Access List</a:t>
                      </a:r>
                      <a:endParaRPr lang="en-US"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itchFamily="34" charset="0"/>
                        <a:buChar char="•"/>
                      </a:pPr>
                      <a:r>
                        <a:rPr lang="en-US" sz="1800" b="0" i="0" kern="1200" dirty="0" smtClean="0">
                          <a:solidFill>
                            <a:schemeClr val="dk1"/>
                          </a:solidFill>
                          <a:effectLst/>
                          <a:latin typeface="+mn-lt"/>
                          <a:ea typeface="+mn-ea"/>
                          <a:cs typeface="+mn-cs"/>
                        </a:rPr>
                        <a:t>Explores the use of cloud computing protected by </a:t>
                      </a:r>
                      <a:r>
                        <a:rPr lang="en-US" sz="1800" b="0" i="0" kern="1200" dirty="0" err="1" smtClean="0">
                          <a:solidFill>
                            <a:schemeClr val="dk1"/>
                          </a:solidFill>
                          <a:effectLst/>
                          <a:latin typeface="+mn-lt"/>
                          <a:ea typeface="+mn-ea"/>
                          <a:cs typeface="+mn-cs"/>
                        </a:rPr>
                        <a:t>blockchain</a:t>
                      </a:r>
                      <a:r>
                        <a:rPr lang="en-US" sz="1800" b="0" i="0" kern="1200" dirty="0" smtClean="0">
                          <a:solidFill>
                            <a:schemeClr val="dk1"/>
                          </a:solidFill>
                          <a:effectLst/>
                          <a:latin typeface="+mn-lt"/>
                          <a:ea typeface="+mn-ea"/>
                          <a:cs typeface="+mn-cs"/>
                        </a:rPr>
                        <a:t> technology. </a:t>
                      </a:r>
                    </a:p>
                    <a:p>
                      <a:pPr marL="285750" indent="-285750">
                        <a:buFont typeface="Arial" pitchFamily="34" charset="0"/>
                        <a:buChar char="•"/>
                      </a:pPr>
                      <a:r>
                        <a:rPr lang="en-US" sz="1800" b="0" i="0" kern="1200" dirty="0" smtClean="0">
                          <a:solidFill>
                            <a:schemeClr val="dk1"/>
                          </a:solidFill>
                          <a:effectLst/>
                          <a:latin typeface="+mn-lt"/>
                          <a:ea typeface="+mn-ea"/>
                          <a:cs typeface="+mn-cs"/>
                        </a:rPr>
                        <a:t>In this study, a system for safe data management in the cloud computing setting is also provided. </a:t>
                      </a:r>
                    </a:p>
                    <a:p>
                      <a:pPr marL="285750" indent="-285750">
                        <a:buFont typeface="Arial" pitchFamily="34" charset="0"/>
                        <a:buChar char="•"/>
                      </a:pPr>
                      <a:r>
                        <a:rPr lang="en-US" sz="1800" b="0" i="0" kern="1200" dirty="0" smtClean="0">
                          <a:solidFill>
                            <a:schemeClr val="dk1"/>
                          </a:solidFill>
                          <a:effectLst/>
                          <a:latin typeface="+mn-lt"/>
                          <a:ea typeface="+mn-ea"/>
                          <a:cs typeface="+mn-cs"/>
                        </a:rPr>
                        <a:t>Smart contracts and permission lists are used in this application to ensure data protection. </a:t>
                      </a:r>
                    </a:p>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426730835"/>
                  </a:ext>
                </a:extLst>
              </a:tr>
            </a:tbl>
          </a:graphicData>
        </a:graphic>
      </p:graphicFrame>
    </p:spTree>
    <p:extLst>
      <p:ext uri="{BB962C8B-B14F-4D97-AF65-F5344CB8AC3E}">
        <p14:creationId xmlns:p14="http://schemas.microsoft.com/office/powerpoint/2010/main" val="1843922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xmlns="" id="{204B99A6-3C9D-941B-3DD7-376A592CB27B}"/>
              </a:ext>
            </a:extLst>
          </p:cNvPr>
          <p:cNvGraphicFramePr>
            <a:graphicFrameLocks noGrp="1"/>
          </p:cNvGraphicFramePr>
          <p:nvPr>
            <p:ph idx="1"/>
            <p:extLst>
              <p:ext uri="{D42A27DB-BD31-4B8C-83A1-F6EECF244321}">
                <p14:modId xmlns:p14="http://schemas.microsoft.com/office/powerpoint/2010/main" val="3389610282"/>
              </p:ext>
            </p:extLst>
          </p:nvPr>
        </p:nvGraphicFramePr>
        <p:xfrm>
          <a:off x="86496" y="131804"/>
          <a:ext cx="12019008" cy="6590271"/>
        </p:xfrm>
        <a:graphic>
          <a:graphicData uri="http://schemas.openxmlformats.org/drawingml/2006/table">
            <a:tbl>
              <a:tblPr firstRow="1" bandRow="1">
                <a:tableStyleId>{5C22544A-7EE6-4342-B048-85BDC9FD1C3A}</a:tableStyleId>
              </a:tblPr>
              <a:tblGrid>
                <a:gridCol w="655435">
                  <a:extLst>
                    <a:ext uri="{9D8B030D-6E8A-4147-A177-3AD203B41FA5}">
                      <a16:colId xmlns:a16="http://schemas.microsoft.com/office/drawing/2014/main" xmlns="" val="4249591745"/>
                    </a:ext>
                  </a:extLst>
                </a:gridCol>
                <a:gridCol w="1922954">
                  <a:extLst>
                    <a:ext uri="{9D8B030D-6E8A-4147-A177-3AD203B41FA5}">
                      <a16:colId xmlns:a16="http://schemas.microsoft.com/office/drawing/2014/main" xmlns="" val="2048446310"/>
                    </a:ext>
                  </a:extLst>
                </a:gridCol>
                <a:gridCol w="1541942">
                  <a:extLst>
                    <a:ext uri="{9D8B030D-6E8A-4147-A177-3AD203B41FA5}">
                      <a16:colId xmlns:a16="http://schemas.microsoft.com/office/drawing/2014/main" xmlns="" val="71004942"/>
                    </a:ext>
                  </a:extLst>
                </a:gridCol>
                <a:gridCol w="1700673">
                  <a:extLst>
                    <a:ext uri="{9D8B030D-6E8A-4147-A177-3AD203B41FA5}">
                      <a16:colId xmlns:a16="http://schemas.microsoft.com/office/drawing/2014/main" xmlns="" val="3060839510"/>
                    </a:ext>
                  </a:extLst>
                </a:gridCol>
                <a:gridCol w="2187876">
                  <a:extLst>
                    <a:ext uri="{9D8B030D-6E8A-4147-A177-3AD203B41FA5}">
                      <a16:colId xmlns:a16="http://schemas.microsoft.com/office/drawing/2014/main" xmlns="" val="821079912"/>
                    </a:ext>
                  </a:extLst>
                </a:gridCol>
                <a:gridCol w="4010128">
                  <a:extLst>
                    <a:ext uri="{9D8B030D-6E8A-4147-A177-3AD203B41FA5}">
                      <a16:colId xmlns:a16="http://schemas.microsoft.com/office/drawing/2014/main" xmlns="" val="2304526528"/>
                    </a:ext>
                  </a:extLst>
                </a:gridCol>
              </a:tblGrid>
              <a:tr h="1283819">
                <a:tc>
                  <a:txBody>
                    <a:bodyPr/>
                    <a:lstStyle/>
                    <a:p>
                      <a:r>
                        <a:rPr lang="en-US" dirty="0" err="1">
                          <a:latin typeface="Times New Roman" panose="02020603050405020304" pitchFamily="18" charset="0"/>
                          <a:cs typeface="Times New Roman" panose="02020603050405020304" pitchFamily="18" charset="0"/>
                        </a:rPr>
                        <a:t>Sl</a:t>
                      </a:r>
                      <a:r>
                        <a:rPr lang="en-US" dirty="0">
                          <a:latin typeface="Times New Roman" panose="02020603050405020304" pitchFamily="18" charset="0"/>
                          <a:cs typeface="Times New Roman" panose="02020603050405020304" pitchFamily="18" charset="0"/>
                        </a:rPr>
                        <a:t> . No</a:t>
                      </a:r>
                    </a:p>
                  </a:txBody>
                  <a:tcPr/>
                </a:tc>
                <a:tc>
                  <a:txBody>
                    <a:bodyPr/>
                    <a:lstStyle/>
                    <a:p>
                      <a:r>
                        <a:rPr lang="en-US" dirty="0">
                          <a:latin typeface="Times New Roman" panose="02020603050405020304" pitchFamily="18" charset="0"/>
                          <a:cs typeface="Times New Roman" panose="02020603050405020304" pitchFamily="18" charset="0"/>
                        </a:rPr>
                        <a:t>Paper Title</a:t>
                      </a:r>
                    </a:p>
                  </a:txBody>
                  <a:tcPr/>
                </a:tc>
                <a:tc>
                  <a:txBody>
                    <a:bodyPr/>
                    <a:lstStyle/>
                    <a:p>
                      <a:r>
                        <a:rPr lang="en-US" dirty="0">
                          <a:latin typeface="Times New Roman" panose="02020603050405020304" pitchFamily="18" charset="0"/>
                          <a:cs typeface="Times New Roman" panose="02020603050405020304" pitchFamily="18" charset="0"/>
                        </a:rPr>
                        <a:t>Authors, Publisher &amp; Publication Year</a:t>
                      </a:r>
                    </a:p>
                  </a:txBody>
                  <a:tcPr/>
                </a:tc>
                <a:tc>
                  <a:txBody>
                    <a:bodyPr/>
                    <a:lstStyle/>
                    <a:p>
                      <a:r>
                        <a:rPr lang="en-US" dirty="0">
                          <a:latin typeface="Times New Roman" panose="02020603050405020304" pitchFamily="18" charset="0"/>
                          <a:cs typeface="Times New Roman" panose="02020603050405020304" pitchFamily="18" charset="0"/>
                        </a:rPr>
                        <a:t>Problem Identified</a:t>
                      </a:r>
                    </a:p>
                  </a:txBody>
                  <a:tcPr/>
                </a:tc>
                <a:tc>
                  <a:txBody>
                    <a:bodyPr/>
                    <a:lstStyle/>
                    <a:p>
                      <a:r>
                        <a:rPr lang="en-US" dirty="0">
                          <a:latin typeface="Times New Roman" panose="02020603050405020304" pitchFamily="18" charset="0"/>
                          <a:cs typeface="Times New Roman" panose="02020603050405020304" pitchFamily="18" charset="0"/>
                        </a:rPr>
                        <a:t>Techniques used</a:t>
                      </a:r>
                    </a:p>
                  </a:txBody>
                  <a:tcPr/>
                </a:tc>
                <a:tc>
                  <a:txBody>
                    <a:bodyPr/>
                    <a:lstStyle/>
                    <a:p>
                      <a:r>
                        <a:rPr lang="en-US" dirty="0">
                          <a:latin typeface="Times New Roman" panose="02020603050405020304" pitchFamily="18" charset="0"/>
                          <a:cs typeface="Times New Roman" panose="02020603050405020304" pitchFamily="18" charset="0"/>
                        </a:rPr>
                        <a:t>Outcome</a:t>
                      </a:r>
                    </a:p>
                  </a:txBody>
                  <a:tcPr/>
                </a:tc>
                <a:extLst>
                  <a:ext uri="{0D108BD9-81ED-4DB2-BD59-A6C34878D82A}">
                    <a16:rowId xmlns:a16="http://schemas.microsoft.com/office/drawing/2014/main" xmlns="" val="422556544"/>
                  </a:ext>
                </a:extLst>
              </a:tr>
              <a:tr h="5306452">
                <a:tc>
                  <a:txBody>
                    <a:bodyPr/>
                    <a:lstStyle/>
                    <a:p>
                      <a:pPr algn="ctr"/>
                      <a:r>
                        <a:rPr lang="en-US" b="1" dirty="0">
                          <a:latin typeface="Times New Roman" panose="02020603050405020304" pitchFamily="18" charset="0"/>
                          <a:cs typeface="Times New Roman" panose="02020603050405020304" pitchFamily="18" charset="0"/>
                        </a:rPr>
                        <a:t>4</a:t>
                      </a:r>
                      <a:r>
                        <a:rPr lang="en-US"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Secure Data Sharing Through Untrusted Clouds with </a:t>
                      </a:r>
                      <a:r>
                        <a:rPr lang="en-US" dirty="0" err="1" smtClean="0">
                          <a:latin typeface="Times New Roman" panose="02020603050405020304" pitchFamily="18" charset="0"/>
                          <a:cs typeface="Times New Roman" panose="02020603050405020304" pitchFamily="18" charset="0"/>
                        </a:rPr>
                        <a:t>Blockchain</a:t>
                      </a:r>
                      <a:r>
                        <a:rPr lang="en-US" dirty="0" smtClean="0">
                          <a:latin typeface="Times New Roman" panose="02020603050405020304" pitchFamily="18" charset="0"/>
                          <a:cs typeface="Times New Roman" panose="02020603050405020304" pitchFamily="18" charset="0"/>
                        </a:rPr>
                        <a:t>-enhanced Key Management</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err="1" smtClean="0">
                          <a:latin typeface="Times New Roman" panose="02020603050405020304" pitchFamily="18" charset="0"/>
                          <a:cs typeface="Times New Roman" panose="02020603050405020304" pitchFamily="18" charset="0"/>
                        </a:rPr>
                        <a:t>Meikang</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Qiu</a:t>
                      </a:r>
                      <a:r>
                        <a:rPr lang="en-US" dirty="0" smtClean="0">
                          <a:latin typeface="Times New Roman" panose="02020603050405020304" pitchFamily="18" charset="0"/>
                          <a:cs typeface="Times New Roman" panose="02020603050405020304" pitchFamily="18" charset="0"/>
                        </a:rPr>
                        <a:t>, Han </a:t>
                      </a:r>
                      <a:r>
                        <a:rPr lang="en-US" dirty="0" err="1" smtClean="0">
                          <a:latin typeface="Times New Roman" panose="02020603050405020304" pitchFamily="18" charset="0"/>
                          <a:cs typeface="Times New Roman" panose="02020603050405020304" pitchFamily="18" charset="0"/>
                        </a:rPr>
                        <a:t>Qiu</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Hui</a:t>
                      </a:r>
                      <a:r>
                        <a:rPr lang="en-US" dirty="0" smtClean="0">
                          <a:latin typeface="Times New Roman" panose="02020603050405020304" pitchFamily="18" charset="0"/>
                          <a:cs typeface="Times New Roman" panose="02020603050405020304" pitchFamily="18" charset="0"/>
                        </a:rPr>
                        <a:t> Zhao, </a:t>
                      </a:r>
                      <a:r>
                        <a:rPr lang="en-US" dirty="0" err="1" smtClean="0">
                          <a:latin typeface="Times New Roman" panose="02020603050405020304" pitchFamily="18" charset="0"/>
                          <a:cs typeface="Times New Roman" panose="02020603050405020304" pitchFamily="18" charset="0"/>
                        </a:rPr>
                        <a:t>Meiqin</a:t>
                      </a:r>
                      <a:r>
                        <a:rPr lang="en-US" dirty="0" smtClean="0">
                          <a:latin typeface="Times New Roman" panose="02020603050405020304" pitchFamily="18" charset="0"/>
                          <a:cs typeface="Times New Roman" panose="02020603050405020304" pitchFamily="18" charset="0"/>
                        </a:rPr>
                        <a:t> Liu, and </a:t>
                      </a:r>
                      <a:r>
                        <a:rPr lang="en-US" dirty="0" err="1" smtClean="0">
                          <a:latin typeface="Times New Roman" panose="02020603050405020304" pitchFamily="18" charset="0"/>
                          <a:cs typeface="Times New Roman" panose="02020603050405020304" pitchFamily="18" charset="0"/>
                        </a:rPr>
                        <a:t>Bhavani</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Thuraisingham</a:t>
                      </a:r>
                      <a:r>
                        <a:rPr lang="en-US" dirty="0" smtClean="0">
                          <a:latin typeface="Times New Roman" panose="02020603050405020304" pitchFamily="18" charset="0"/>
                          <a:cs typeface="Times New Roman" panose="02020603050405020304" pitchFamily="18" charset="0"/>
                        </a:rPr>
                        <a:t>, USA, 2020</a:t>
                      </a:r>
                      <a:endParaRPr lang="en-US"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itchFamily="34" charset="0"/>
                        <a:buChar char="•"/>
                      </a:pPr>
                      <a:r>
                        <a:rPr lang="en-US" dirty="0" smtClean="0">
                          <a:latin typeface="Times New Roman" panose="02020603050405020304" pitchFamily="18" charset="0"/>
                          <a:cs typeface="Times New Roman" panose="02020603050405020304" pitchFamily="18" charset="0"/>
                        </a:rPr>
                        <a:t>Data</a:t>
                      </a:r>
                      <a:r>
                        <a:rPr lang="en-US" baseline="0" dirty="0" smtClean="0">
                          <a:latin typeface="Times New Roman" panose="02020603050405020304" pitchFamily="18" charset="0"/>
                          <a:cs typeface="Times New Roman" panose="02020603050405020304" pitchFamily="18" charset="0"/>
                        </a:rPr>
                        <a:t> is not frequently updating and synchronizing.</a:t>
                      </a:r>
                      <a:endParaRPr lang="en-US"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itchFamily="34" charset="0"/>
                        <a:buChar char="•"/>
                      </a:pPr>
                      <a:r>
                        <a:rPr lang="en-US" dirty="0" err="1" smtClean="0">
                          <a:latin typeface="Times New Roman" panose="02020603050405020304" pitchFamily="18" charset="0"/>
                          <a:cs typeface="Times New Roman" panose="02020603050405020304" pitchFamily="18" charset="0"/>
                        </a:rPr>
                        <a:t>Blockchain</a:t>
                      </a:r>
                      <a:r>
                        <a:rPr lang="en-US" dirty="0" smtClean="0">
                          <a:latin typeface="Times New Roman" panose="02020603050405020304" pitchFamily="18" charset="0"/>
                          <a:cs typeface="Times New Roman" panose="02020603050405020304" pitchFamily="18" charset="0"/>
                        </a:rPr>
                        <a:t>, Data Security.</a:t>
                      </a:r>
                    </a:p>
                    <a:p>
                      <a:pPr marL="285750" indent="-285750">
                        <a:buFont typeface="Arial" pitchFamily="34" charset="0"/>
                        <a:buChar char="•"/>
                      </a:pPr>
                      <a:r>
                        <a:rPr lang="en-US" dirty="0" smtClean="0">
                          <a:latin typeface="Times New Roman" panose="02020603050405020304" pitchFamily="18" charset="0"/>
                          <a:cs typeface="Times New Roman" panose="02020603050405020304" pitchFamily="18" charset="0"/>
                        </a:rPr>
                        <a:t>Key Management, Clouds, Security, Efﬁciency</a:t>
                      </a:r>
                      <a:endParaRPr lang="en-US"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itchFamily="34" charset="0"/>
                        <a:buChar char="•"/>
                      </a:pPr>
                      <a:r>
                        <a:rPr lang="en-US" dirty="0" smtClean="0">
                          <a:latin typeface="Times New Roman" panose="02020603050405020304" pitchFamily="18" charset="0"/>
                          <a:cs typeface="Times New Roman" panose="02020603050405020304" pitchFamily="18" charset="0"/>
                        </a:rPr>
                        <a:t>An architecture for secure data sharing between data owners and multiple clients on untrusted clouds.</a:t>
                      </a:r>
                    </a:p>
                    <a:p>
                      <a:pPr marL="285750" indent="-285750">
                        <a:buFont typeface="Arial" pitchFamily="34" charset="0"/>
                        <a:buChar char="•"/>
                      </a:pPr>
                      <a:r>
                        <a:rPr lang="en-US" dirty="0" smtClean="0">
                          <a:latin typeface="Times New Roman" panose="02020603050405020304" pitchFamily="18" charset="0"/>
                          <a:cs typeface="Times New Roman" panose="02020603050405020304" pitchFamily="18" charset="0"/>
                        </a:rPr>
                        <a:t>Data are transformed using AON methods, fragmented, and dispersed over multiple sites to resist the threats from the honest but curious clouds even with the leaked keys. </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426730835"/>
                  </a:ext>
                </a:extLst>
              </a:tr>
            </a:tbl>
          </a:graphicData>
        </a:graphic>
      </p:graphicFrame>
    </p:spTree>
    <p:extLst>
      <p:ext uri="{BB962C8B-B14F-4D97-AF65-F5344CB8AC3E}">
        <p14:creationId xmlns:p14="http://schemas.microsoft.com/office/powerpoint/2010/main" val="565206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xmlns="" id="{204B99A6-3C9D-941B-3DD7-376A592CB27B}"/>
              </a:ext>
            </a:extLst>
          </p:cNvPr>
          <p:cNvGraphicFramePr>
            <a:graphicFrameLocks noGrp="1"/>
          </p:cNvGraphicFramePr>
          <p:nvPr>
            <p:ph idx="1"/>
            <p:extLst>
              <p:ext uri="{D42A27DB-BD31-4B8C-83A1-F6EECF244321}">
                <p14:modId xmlns:p14="http://schemas.microsoft.com/office/powerpoint/2010/main" val="1091976781"/>
              </p:ext>
            </p:extLst>
          </p:nvPr>
        </p:nvGraphicFramePr>
        <p:xfrm>
          <a:off x="72188" y="131804"/>
          <a:ext cx="12055645" cy="6670049"/>
        </p:xfrm>
        <a:graphic>
          <a:graphicData uri="http://schemas.openxmlformats.org/drawingml/2006/table">
            <a:tbl>
              <a:tblPr firstRow="1" bandRow="1">
                <a:tableStyleId>{5C22544A-7EE6-4342-B048-85BDC9FD1C3A}</a:tableStyleId>
              </a:tblPr>
              <a:tblGrid>
                <a:gridCol w="508967">
                  <a:extLst>
                    <a:ext uri="{9D8B030D-6E8A-4147-A177-3AD203B41FA5}">
                      <a16:colId xmlns:a16="http://schemas.microsoft.com/office/drawing/2014/main" xmlns="" val="4249591745"/>
                    </a:ext>
                  </a:extLst>
                </a:gridCol>
                <a:gridCol w="1571841">
                  <a:extLst>
                    <a:ext uri="{9D8B030D-6E8A-4147-A177-3AD203B41FA5}">
                      <a16:colId xmlns:a16="http://schemas.microsoft.com/office/drawing/2014/main" xmlns="" val="2048446310"/>
                    </a:ext>
                  </a:extLst>
                </a:gridCol>
                <a:gridCol w="1529542">
                  <a:extLst>
                    <a:ext uri="{9D8B030D-6E8A-4147-A177-3AD203B41FA5}">
                      <a16:colId xmlns:a16="http://schemas.microsoft.com/office/drawing/2014/main" xmlns="" val="71004942"/>
                    </a:ext>
                  </a:extLst>
                </a:gridCol>
                <a:gridCol w="2161309">
                  <a:extLst>
                    <a:ext uri="{9D8B030D-6E8A-4147-A177-3AD203B41FA5}">
                      <a16:colId xmlns:a16="http://schemas.microsoft.com/office/drawing/2014/main" xmlns="" val="3060839510"/>
                    </a:ext>
                  </a:extLst>
                </a:gridCol>
                <a:gridCol w="2385753">
                  <a:extLst>
                    <a:ext uri="{9D8B030D-6E8A-4147-A177-3AD203B41FA5}">
                      <a16:colId xmlns:a16="http://schemas.microsoft.com/office/drawing/2014/main" xmlns="" val="821079912"/>
                    </a:ext>
                  </a:extLst>
                </a:gridCol>
                <a:gridCol w="3898233">
                  <a:extLst>
                    <a:ext uri="{9D8B030D-6E8A-4147-A177-3AD203B41FA5}">
                      <a16:colId xmlns:a16="http://schemas.microsoft.com/office/drawing/2014/main" xmlns="" val="2304526528"/>
                    </a:ext>
                  </a:extLst>
                </a:gridCol>
              </a:tblGrid>
              <a:tr h="1676613">
                <a:tc>
                  <a:txBody>
                    <a:bodyPr/>
                    <a:lstStyle/>
                    <a:p>
                      <a:pPr>
                        <a:lnSpc>
                          <a:spcPct val="100000"/>
                        </a:lnSpc>
                      </a:pPr>
                      <a:r>
                        <a:rPr lang="en-US" sz="2000" dirty="0" err="1">
                          <a:latin typeface="Times New Roman" panose="02020603050405020304" pitchFamily="18" charset="0"/>
                          <a:cs typeface="Times New Roman" panose="02020603050405020304" pitchFamily="18" charset="0"/>
                        </a:rPr>
                        <a:t>Sl</a:t>
                      </a:r>
                      <a:r>
                        <a:rPr lang="en-US" sz="2000" dirty="0">
                          <a:latin typeface="Times New Roman" panose="02020603050405020304" pitchFamily="18" charset="0"/>
                          <a:cs typeface="Times New Roman" panose="02020603050405020304" pitchFamily="18" charset="0"/>
                        </a:rPr>
                        <a:t> . No</a:t>
                      </a:r>
                    </a:p>
                  </a:txBody>
                  <a:tcPr/>
                </a:tc>
                <a:tc>
                  <a:txBody>
                    <a:bodyPr/>
                    <a:lstStyle/>
                    <a:p>
                      <a:pPr>
                        <a:lnSpc>
                          <a:spcPct val="100000"/>
                        </a:lnSpc>
                      </a:pPr>
                      <a:r>
                        <a:rPr lang="en-US" sz="2000" dirty="0">
                          <a:latin typeface="Times New Roman" panose="02020603050405020304" pitchFamily="18" charset="0"/>
                          <a:cs typeface="Times New Roman" panose="02020603050405020304" pitchFamily="18" charset="0"/>
                        </a:rPr>
                        <a:t>Paper Title</a:t>
                      </a:r>
                    </a:p>
                  </a:txBody>
                  <a:tcPr/>
                </a:tc>
                <a:tc>
                  <a:txBody>
                    <a:bodyPr/>
                    <a:lstStyle/>
                    <a:p>
                      <a:pPr>
                        <a:lnSpc>
                          <a:spcPct val="100000"/>
                        </a:lnSpc>
                      </a:pPr>
                      <a:r>
                        <a:rPr lang="en-US" sz="2000" dirty="0">
                          <a:latin typeface="Times New Roman" panose="02020603050405020304" pitchFamily="18" charset="0"/>
                          <a:cs typeface="Times New Roman" panose="02020603050405020304" pitchFamily="18" charset="0"/>
                        </a:rPr>
                        <a:t>Authors, Publisher &amp; Publication Year</a:t>
                      </a:r>
                    </a:p>
                  </a:txBody>
                  <a:tcPr/>
                </a:tc>
                <a:tc>
                  <a:txBody>
                    <a:bodyPr/>
                    <a:lstStyle/>
                    <a:p>
                      <a:pPr>
                        <a:lnSpc>
                          <a:spcPct val="100000"/>
                        </a:lnSpc>
                      </a:pPr>
                      <a:r>
                        <a:rPr lang="en-US" sz="2000" dirty="0">
                          <a:latin typeface="Times New Roman" panose="02020603050405020304" pitchFamily="18" charset="0"/>
                          <a:cs typeface="Times New Roman" panose="02020603050405020304" pitchFamily="18" charset="0"/>
                        </a:rPr>
                        <a:t>Problem Identified</a:t>
                      </a:r>
                    </a:p>
                  </a:txBody>
                  <a:tcPr/>
                </a:tc>
                <a:tc>
                  <a:txBody>
                    <a:bodyPr/>
                    <a:lstStyle/>
                    <a:p>
                      <a:pPr>
                        <a:lnSpc>
                          <a:spcPct val="100000"/>
                        </a:lnSpc>
                      </a:pPr>
                      <a:r>
                        <a:rPr lang="en-US" sz="2000" dirty="0">
                          <a:latin typeface="Times New Roman" panose="02020603050405020304" pitchFamily="18" charset="0"/>
                          <a:cs typeface="Times New Roman" panose="02020603050405020304" pitchFamily="18" charset="0"/>
                        </a:rPr>
                        <a:t>Techniques used</a:t>
                      </a:r>
                    </a:p>
                  </a:txBody>
                  <a:tcPr/>
                </a:tc>
                <a:tc>
                  <a:txBody>
                    <a:bodyPr/>
                    <a:lstStyle/>
                    <a:p>
                      <a:pPr>
                        <a:lnSpc>
                          <a:spcPct val="100000"/>
                        </a:lnSpc>
                      </a:pPr>
                      <a:r>
                        <a:rPr lang="en-US" sz="2000" dirty="0">
                          <a:latin typeface="Times New Roman" panose="02020603050405020304" pitchFamily="18" charset="0"/>
                          <a:cs typeface="Times New Roman" panose="02020603050405020304" pitchFamily="18" charset="0"/>
                        </a:rPr>
                        <a:t>Outcome</a:t>
                      </a:r>
                    </a:p>
                  </a:txBody>
                  <a:tcPr/>
                </a:tc>
                <a:extLst>
                  <a:ext uri="{0D108BD9-81ED-4DB2-BD59-A6C34878D82A}">
                    <a16:rowId xmlns:a16="http://schemas.microsoft.com/office/drawing/2014/main" xmlns="" val="422556544"/>
                  </a:ext>
                </a:extLst>
              </a:tr>
              <a:tr h="4993436">
                <a:tc>
                  <a:txBody>
                    <a:bodyPr/>
                    <a:lstStyle/>
                    <a:p>
                      <a:pPr algn="l">
                        <a:lnSpc>
                          <a:spcPct val="100000"/>
                        </a:lnSpc>
                      </a:pPr>
                      <a:r>
                        <a:rPr lang="en-US" sz="2000" b="1" dirty="0">
                          <a:latin typeface="Times New Roman" panose="02020603050405020304" pitchFamily="18" charset="0"/>
                          <a:cs typeface="Times New Roman" panose="02020603050405020304" pitchFamily="18" charset="0"/>
                        </a:rPr>
                        <a:t>5</a:t>
                      </a:r>
                      <a:r>
                        <a:rPr lang="en-US" sz="2000" b="1"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smtClean="0">
                          <a:latin typeface="Times New Roman" panose="02020603050405020304" pitchFamily="18" charset="0"/>
                          <a:cs typeface="Times New Roman" panose="02020603050405020304" pitchFamily="18" charset="0"/>
                        </a:rPr>
                        <a:t>Data Provenance Assurance for Cloud Storage using </a:t>
                      </a:r>
                      <a:r>
                        <a:rPr lang="en-US" sz="2000" dirty="0" err="1" smtClean="0">
                          <a:latin typeface="Times New Roman" panose="02020603050405020304" pitchFamily="18" charset="0"/>
                          <a:cs typeface="Times New Roman" panose="02020603050405020304" pitchFamily="18" charset="0"/>
                        </a:rPr>
                        <a:t>Blockchain</a:t>
                      </a:r>
                      <a:endParaRPr lang="en-US" sz="2000" dirty="0">
                        <a:latin typeface="Times New Roman" panose="02020603050405020304" pitchFamily="18" charset="0"/>
                        <a:cs typeface="Times New Roman" panose="02020603050405020304" pitchFamily="18" charset="0"/>
                      </a:endParaRPr>
                    </a:p>
                  </a:txBody>
                  <a:tcPr/>
                </a:tc>
                <a:tc>
                  <a:txBody>
                    <a:bodyPr/>
                    <a:lstStyle/>
                    <a:p>
                      <a:pPr algn="l">
                        <a:lnSpc>
                          <a:spcPct val="100000"/>
                        </a:lnSpc>
                      </a:pPr>
                      <a:r>
                        <a:rPr lang="en-US" sz="2000" dirty="0" err="1" smtClean="0">
                          <a:latin typeface="Times New Roman" panose="02020603050405020304" pitchFamily="18" charset="0"/>
                          <a:cs typeface="Times New Roman" panose="02020603050405020304" pitchFamily="18" charset="0"/>
                        </a:rPr>
                        <a:t>Abhishekh</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Patil</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Amit</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Jha</a:t>
                      </a:r>
                      <a:r>
                        <a:rPr lang="en-US" sz="2000" dirty="0" smtClean="0">
                          <a:latin typeface="Times New Roman" panose="02020603050405020304" pitchFamily="18" charset="0"/>
                          <a:cs typeface="Times New Roman" panose="02020603050405020304" pitchFamily="18" charset="0"/>
                        </a:rPr>
                        <a:t>, Mohammed </a:t>
                      </a:r>
                      <a:r>
                        <a:rPr lang="en-US" sz="2000" dirty="0" err="1" smtClean="0">
                          <a:latin typeface="Times New Roman" panose="02020603050405020304" pitchFamily="18" charset="0"/>
                          <a:cs typeface="Times New Roman" panose="02020603050405020304" pitchFamily="18" charset="0"/>
                        </a:rPr>
                        <a:t>Moin</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Mulla</a:t>
                      </a:r>
                      <a:r>
                        <a:rPr lang="en-US" sz="2000" dirty="0" smtClean="0">
                          <a:latin typeface="Times New Roman" panose="02020603050405020304" pitchFamily="18" charset="0"/>
                          <a:cs typeface="Times New Roman" panose="02020603050405020304" pitchFamily="18" charset="0"/>
                        </a:rPr>
                        <a:t>, Narayan D.G.1, </a:t>
                      </a:r>
                      <a:r>
                        <a:rPr lang="en-US" sz="2000" dirty="0" err="1" smtClean="0">
                          <a:latin typeface="Times New Roman" panose="02020603050405020304" pitchFamily="18" charset="0"/>
                          <a:cs typeface="Times New Roman" panose="02020603050405020304" pitchFamily="18" charset="0"/>
                        </a:rPr>
                        <a:t>Shivaraj</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Kengond</a:t>
                      </a:r>
                      <a:r>
                        <a:rPr lang="en-US" sz="2000" dirty="0" smtClean="0">
                          <a:latin typeface="Times New Roman" panose="02020603050405020304" pitchFamily="18" charset="0"/>
                          <a:cs typeface="Times New Roman" panose="02020603050405020304" pitchFamily="18" charset="0"/>
                        </a:rPr>
                        <a:t>,</a:t>
                      </a:r>
                    </a:p>
                    <a:p>
                      <a:pPr algn="l">
                        <a:lnSpc>
                          <a:spcPct val="100000"/>
                        </a:lnSpc>
                      </a:pPr>
                      <a:r>
                        <a:rPr lang="en-US" sz="2000" dirty="0" smtClean="0">
                          <a:latin typeface="Times New Roman" panose="02020603050405020304" pitchFamily="18" charset="0"/>
                          <a:cs typeface="Times New Roman" panose="02020603050405020304" pitchFamily="18" charset="0"/>
                        </a:rPr>
                        <a:t>2020</a:t>
                      </a:r>
                      <a:endParaRPr lang="en-US" sz="2000" dirty="0">
                        <a:latin typeface="Times New Roman" panose="02020603050405020304" pitchFamily="18" charset="0"/>
                        <a:cs typeface="Times New Roman" panose="02020603050405020304" pitchFamily="18" charset="0"/>
                      </a:endParaRPr>
                    </a:p>
                  </a:txBody>
                  <a:tcPr/>
                </a:tc>
                <a:tc>
                  <a:txBody>
                    <a:bodyPr/>
                    <a:lstStyle/>
                    <a:p>
                      <a:pPr marL="342900" indent="-342900" algn="l">
                        <a:lnSpc>
                          <a:spcPct val="100000"/>
                        </a:lnSpc>
                        <a:buFont typeface="Arial" pitchFamily="34" charset="0"/>
                        <a:buChar char="•"/>
                      </a:pPr>
                      <a:r>
                        <a:rPr lang="en-US" sz="2000" dirty="0" smtClean="0">
                          <a:latin typeface="Times New Roman" panose="02020603050405020304" pitchFamily="18" charset="0"/>
                          <a:cs typeface="Times New Roman" panose="02020603050405020304" pitchFamily="18" charset="0"/>
                        </a:rPr>
                        <a:t>Feature</a:t>
                      </a:r>
                      <a:r>
                        <a:rPr lang="en-US" sz="2000" baseline="0" dirty="0" smtClean="0">
                          <a:latin typeface="Times New Roman" panose="02020603050405020304" pitchFamily="18" charset="0"/>
                          <a:cs typeface="Times New Roman" panose="02020603050405020304" pitchFamily="18" charset="0"/>
                        </a:rPr>
                        <a:t> of </a:t>
                      </a:r>
                      <a:r>
                        <a:rPr lang="en-US" sz="2000" dirty="0" smtClean="0">
                          <a:latin typeface="Times New Roman" panose="02020603050405020304" pitchFamily="18" charset="0"/>
                          <a:cs typeface="Times New Roman" panose="02020603050405020304" pitchFamily="18" charset="0"/>
                        </a:rPr>
                        <a:t>adding security to the mapping file and provenance service to all the other files uploaded by the user and perform scalability</a:t>
                      </a:r>
                      <a:r>
                        <a:rPr lang="en-US" sz="2000" baseline="0" dirty="0" smtClean="0">
                          <a:latin typeface="Times New Roman" panose="02020603050405020304" pitchFamily="18" charset="0"/>
                          <a:cs typeface="Times New Roman" panose="02020603050405020304" pitchFamily="18" charset="0"/>
                        </a:rPr>
                        <a:t> is not implemented.</a:t>
                      </a:r>
                      <a:endParaRPr lang="en-US" sz="2000" dirty="0">
                        <a:latin typeface="Times New Roman" panose="02020603050405020304" pitchFamily="18" charset="0"/>
                        <a:cs typeface="Times New Roman" panose="02020603050405020304" pitchFamily="18" charset="0"/>
                      </a:endParaRPr>
                    </a:p>
                  </a:txBody>
                  <a:tcPr/>
                </a:tc>
                <a:tc>
                  <a:txBody>
                    <a:bodyPr/>
                    <a:lstStyle/>
                    <a:p>
                      <a:pPr marL="342900" indent="-342900" algn="l">
                        <a:lnSpc>
                          <a:spcPct val="10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Cloud Storage </a:t>
                      </a:r>
                    </a:p>
                    <a:p>
                      <a:pPr marL="342900" indent="-342900" algn="l">
                        <a:lnSpc>
                          <a:spcPct val="10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AWS S3</a:t>
                      </a:r>
                    </a:p>
                    <a:p>
                      <a:pPr marL="342900" indent="-342900" algn="l">
                        <a:lnSpc>
                          <a:spcPct val="10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Data Provenances</a:t>
                      </a:r>
                    </a:p>
                    <a:p>
                      <a:pPr marL="342900" indent="-342900" algn="l">
                        <a:lnSpc>
                          <a:spcPct val="10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IPFS</a:t>
                      </a:r>
                    </a:p>
                    <a:p>
                      <a:pPr marL="342900" indent="-342900" algn="l">
                        <a:lnSpc>
                          <a:spcPct val="100000"/>
                        </a:lnSpc>
                        <a:buFont typeface="Arial" panose="020B0604020202020204" pitchFamily="34" charset="0"/>
                        <a:buChar char="•"/>
                      </a:pPr>
                      <a:r>
                        <a:rPr lang="en-US" sz="2000" dirty="0" err="1" smtClean="0">
                          <a:latin typeface="Times New Roman" panose="02020603050405020304" pitchFamily="18" charset="0"/>
                          <a:cs typeface="Times New Roman" panose="02020603050405020304" pitchFamily="18" charset="0"/>
                        </a:rPr>
                        <a:t>Ethereum</a:t>
                      </a:r>
                      <a:r>
                        <a:rPr lang="en-US" sz="2000" dirty="0" smtClean="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txBody>
                  <a:tcPr/>
                </a:tc>
                <a:tc>
                  <a:txBody>
                    <a:bodyPr/>
                    <a:lstStyle/>
                    <a:p>
                      <a:pPr marL="342900" indent="-342900" algn="l">
                        <a:lnSpc>
                          <a:spcPct val="100000"/>
                        </a:lnSpc>
                        <a:buFont typeface="Arial" pitchFamily="34" charset="0"/>
                        <a:buChar char="•"/>
                      </a:pPr>
                      <a:r>
                        <a:rPr lang="en-US" sz="2000" dirty="0" smtClean="0">
                          <a:latin typeface="Times New Roman" panose="02020603050405020304" pitchFamily="18" charset="0"/>
                          <a:cs typeface="Times New Roman" panose="02020603050405020304" pitchFamily="18" charset="0"/>
                        </a:rPr>
                        <a:t>This application logs the provenance data and stores Hash of it in an </a:t>
                      </a:r>
                      <a:r>
                        <a:rPr lang="en-US" sz="2000" dirty="0" err="1" smtClean="0">
                          <a:latin typeface="Times New Roman" panose="02020603050405020304" pitchFamily="18" charset="0"/>
                          <a:cs typeface="Times New Roman" panose="02020603050405020304" pitchFamily="18" charset="0"/>
                        </a:rPr>
                        <a:t>Ethereum</a:t>
                      </a:r>
                      <a:r>
                        <a:rPr lang="en-US" sz="2000" dirty="0" smtClean="0">
                          <a:latin typeface="Times New Roman" panose="02020603050405020304" pitchFamily="18" charset="0"/>
                          <a:cs typeface="Times New Roman" panose="02020603050405020304" pitchFamily="18" charset="0"/>
                        </a:rPr>
                        <a:t> based distributed ledger. IPFS gives the Hash of the record for the log record. </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426730835"/>
                  </a:ext>
                </a:extLst>
              </a:tr>
            </a:tbl>
          </a:graphicData>
        </a:graphic>
      </p:graphicFrame>
    </p:spTree>
    <p:extLst>
      <p:ext uri="{BB962C8B-B14F-4D97-AF65-F5344CB8AC3E}">
        <p14:creationId xmlns:p14="http://schemas.microsoft.com/office/powerpoint/2010/main" val="26523084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xmlns="" id="{204B99A6-3C9D-941B-3DD7-376A592CB27B}"/>
              </a:ext>
            </a:extLst>
          </p:cNvPr>
          <p:cNvGraphicFramePr>
            <a:graphicFrameLocks noGrp="1"/>
          </p:cNvGraphicFramePr>
          <p:nvPr>
            <p:ph idx="1"/>
            <p:extLst>
              <p:ext uri="{D42A27DB-BD31-4B8C-83A1-F6EECF244321}">
                <p14:modId xmlns:p14="http://schemas.microsoft.com/office/powerpoint/2010/main" val="4226313868"/>
              </p:ext>
            </p:extLst>
          </p:nvPr>
        </p:nvGraphicFramePr>
        <p:xfrm>
          <a:off x="64169" y="89516"/>
          <a:ext cx="11932088" cy="6678968"/>
        </p:xfrm>
        <a:graphic>
          <a:graphicData uri="http://schemas.openxmlformats.org/drawingml/2006/table">
            <a:tbl>
              <a:tblPr firstRow="1" bandRow="1">
                <a:tableStyleId>{5C22544A-7EE6-4342-B048-85BDC9FD1C3A}</a:tableStyleId>
              </a:tblPr>
              <a:tblGrid>
                <a:gridCol w="566241">
                  <a:extLst>
                    <a:ext uri="{9D8B030D-6E8A-4147-A177-3AD203B41FA5}">
                      <a16:colId xmlns:a16="http://schemas.microsoft.com/office/drawing/2014/main" xmlns="" val="4249591745"/>
                    </a:ext>
                  </a:extLst>
                </a:gridCol>
                <a:gridCol w="1559216">
                  <a:extLst>
                    <a:ext uri="{9D8B030D-6E8A-4147-A177-3AD203B41FA5}">
                      <a16:colId xmlns:a16="http://schemas.microsoft.com/office/drawing/2014/main" xmlns="" val="2048446310"/>
                    </a:ext>
                  </a:extLst>
                </a:gridCol>
                <a:gridCol w="1551007">
                  <a:extLst>
                    <a:ext uri="{9D8B030D-6E8A-4147-A177-3AD203B41FA5}">
                      <a16:colId xmlns:a16="http://schemas.microsoft.com/office/drawing/2014/main" xmlns="" val="71004942"/>
                    </a:ext>
                  </a:extLst>
                </a:gridCol>
                <a:gridCol w="1657690">
                  <a:extLst>
                    <a:ext uri="{9D8B030D-6E8A-4147-A177-3AD203B41FA5}">
                      <a16:colId xmlns:a16="http://schemas.microsoft.com/office/drawing/2014/main" xmlns="" val="3060839510"/>
                    </a:ext>
                  </a:extLst>
                </a:gridCol>
                <a:gridCol w="2745297">
                  <a:extLst>
                    <a:ext uri="{9D8B030D-6E8A-4147-A177-3AD203B41FA5}">
                      <a16:colId xmlns:a16="http://schemas.microsoft.com/office/drawing/2014/main" xmlns="" val="821079912"/>
                    </a:ext>
                  </a:extLst>
                </a:gridCol>
                <a:gridCol w="3852637">
                  <a:extLst>
                    <a:ext uri="{9D8B030D-6E8A-4147-A177-3AD203B41FA5}">
                      <a16:colId xmlns:a16="http://schemas.microsoft.com/office/drawing/2014/main" xmlns="" val="2304526528"/>
                    </a:ext>
                  </a:extLst>
                </a:gridCol>
              </a:tblGrid>
              <a:tr h="1279221">
                <a:tc>
                  <a:txBody>
                    <a:bodyPr/>
                    <a:lstStyle/>
                    <a:p>
                      <a:pPr>
                        <a:lnSpc>
                          <a:spcPct val="100000"/>
                        </a:lnSpc>
                      </a:pPr>
                      <a:r>
                        <a:rPr lang="en-US" sz="2000" dirty="0" err="1">
                          <a:latin typeface="Times New Roman" panose="02020603050405020304" pitchFamily="18" charset="0"/>
                          <a:cs typeface="Times New Roman" panose="02020603050405020304" pitchFamily="18" charset="0"/>
                        </a:rPr>
                        <a:t>Sl</a:t>
                      </a:r>
                      <a:r>
                        <a:rPr lang="en-US" sz="2000" dirty="0">
                          <a:latin typeface="Times New Roman" panose="02020603050405020304" pitchFamily="18" charset="0"/>
                          <a:cs typeface="Times New Roman" panose="02020603050405020304" pitchFamily="18" charset="0"/>
                        </a:rPr>
                        <a:t> . No</a:t>
                      </a:r>
                    </a:p>
                  </a:txBody>
                  <a:tcPr/>
                </a:tc>
                <a:tc>
                  <a:txBody>
                    <a:bodyPr/>
                    <a:lstStyle/>
                    <a:p>
                      <a:pPr>
                        <a:lnSpc>
                          <a:spcPct val="100000"/>
                        </a:lnSpc>
                      </a:pPr>
                      <a:r>
                        <a:rPr lang="en-US" sz="2000" dirty="0">
                          <a:latin typeface="Times New Roman" panose="02020603050405020304" pitchFamily="18" charset="0"/>
                          <a:cs typeface="Times New Roman" panose="02020603050405020304" pitchFamily="18" charset="0"/>
                        </a:rPr>
                        <a:t>Paper Title</a:t>
                      </a:r>
                    </a:p>
                  </a:txBody>
                  <a:tcPr/>
                </a:tc>
                <a:tc>
                  <a:txBody>
                    <a:bodyPr/>
                    <a:lstStyle/>
                    <a:p>
                      <a:pPr>
                        <a:lnSpc>
                          <a:spcPct val="100000"/>
                        </a:lnSpc>
                      </a:pPr>
                      <a:r>
                        <a:rPr lang="en-US" sz="2000" dirty="0">
                          <a:latin typeface="Times New Roman" panose="02020603050405020304" pitchFamily="18" charset="0"/>
                          <a:cs typeface="Times New Roman" panose="02020603050405020304" pitchFamily="18" charset="0"/>
                        </a:rPr>
                        <a:t>Authors, Publisher &amp; Publication Year</a:t>
                      </a:r>
                    </a:p>
                  </a:txBody>
                  <a:tcPr/>
                </a:tc>
                <a:tc>
                  <a:txBody>
                    <a:bodyPr/>
                    <a:lstStyle/>
                    <a:p>
                      <a:pPr marL="342900" indent="-342900">
                        <a:lnSpc>
                          <a:spcPct val="100000"/>
                        </a:lnSpc>
                        <a:buFont typeface="Arial" pitchFamily="34" charset="0"/>
                        <a:buChar char="•"/>
                      </a:pPr>
                      <a:r>
                        <a:rPr lang="en-US" sz="2000" dirty="0">
                          <a:latin typeface="Times New Roman" panose="02020603050405020304" pitchFamily="18" charset="0"/>
                          <a:cs typeface="Times New Roman" panose="02020603050405020304" pitchFamily="18" charset="0"/>
                        </a:rPr>
                        <a:t>Problem Identified</a:t>
                      </a:r>
                    </a:p>
                  </a:txBody>
                  <a:tcPr/>
                </a:tc>
                <a:tc>
                  <a:txBody>
                    <a:bodyPr/>
                    <a:lstStyle/>
                    <a:p>
                      <a:pPr>
                        <a:lnSpc>
                          <a:spcPct val="100000"/>
                        </a:lnSpc>
                      </a:pPr>
                      <a:r>
                        <a:rPr lang="en-US" sz="2000" dirty="0">
                          <a:latin typeface="Times New Roman" panose="02020603050405020304" pitchFamily="18" charset="0"/>
                          <a:cs typeface="Times New Roman" panose="02020603050405020304" pitchFamily="18" charset="0"/>
                        </a:rPr>
                        <a:t>Techniques used</a:t>
                      </a:r>
                    </a:p>
                  </a:txBody>
                  <a:tcPr/>
                </a:tc>
                <a:tc>
                  <a:txBody>
                    <a:bodyPr/>
                    <a:lstStyle/>
                    <a:p>
                      <a:pPr>
                        <a:lnSpc>
                          <a:spcPct val="100000"/>
                        </a:lnSpc>
                      </a:pPr>
                      <a:r>
                        <a:rPr lang="en-US" sz="2000" dirty="0">
                          <a:latin typeface="Times New Roman" panose="02020603050405020304" pitchFamily="18" charset="0"/>
                          <a:cs typeface="Times New Roman" panose="02020603050405020304" pitchFamily="18" charset="0"/>
                        </a:rPr>
                        <a:t>Outcome</a:t>
                      </a:r>
                    </a:p>
                  </a:txBody>
                  <a:tcPr/>
                </a:tc>
                <a:extLst>
                  <a:ext uri="{0D108BD9-81ED-4DB2-BD59-A6C34878D82A}">
                    <a16:rowId xmlns:a16="http://schemas.microsoft.com/office/drawing/2014/main" xmlns="" val="422556544"/>
                  </a:ext>
                </a:extLst>
              </a:tr>
              <a:tr h="5368328">
                <a:tc>
                  <a:txBody>
                    <a:bodyPr/>
                    <a:lstStyle/>
                    <a:p>
                      <a:pPr algn="ctr">
                        <a:lnSpc>
                          <a:spcPct val="100000"/>
                        </a:lnSpc>
                      </a:pPr>
                      <a:r>
                        <a:rPr lang="en-US" sz="2000" b="1" dirty="0">
                          <a:latin typeface="Times New Roman" panose="02020603050405020304" pitchFamily="18" charset="0"/>
                          <a:cs typeface="Times New Roman" panose="02020603050405020304" pitchFamily="18" charset="0"/>
                        </a:rPr>
                        <a:t>6</a:t>
                      </a:r>
                      <a:r>
                        <a:rPr lang="en-US" sz="2000" b="1" dirty="0" smtClean="0">
                          <a:latin typeface="Times New Roman" panose="02020603050405020304" pitchFamily="18"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a:txBody>
                  <a:tcPr/>
                </a:tc>
                <a:tc>
                  <a:txBody>
                    <a:bodyPr/>
                    <a:lstStyle/>
                    <a:p>
                      <a:pPr>
                        <a:lnSpc>
                          <a:spcPct val="100000"/>
                        </a:lnSpc>
                      </a:pPr>
                      <a:r>
                        <a:rPr lang="en-US" sz="2000" dirty="0" smtClean="0">
                          <a:latin typeface="Times New Roman" panose="02020603050405020304" pitchFamily="18" charset="0"/>
                          <a:cs typeface="Times New Roman" panose="02020603050405020304" pitchFamily="18" charset="0"/>
                        </a:rPr>
                        <a:t>A Secure Cloud Storage Framework With Access Control Based on </a:t>
                      </a:r>
                      <a:r>
                        <a:rPr lang="en-US" sz="2000" dirty="0" err="1" smtClean="0">
                          <a:latin typeface="Times New Roman" panose="02020603050405020304" pitchFamily="18" charset="0"/>
                          <a:cs typeface="Times New Roman" panose="02020603050405020304" pitchFamily="18" charset="0"/>
                        </a:rPr>
                        <a:t>Blockchain</a:t>
                      </a:r>
                      <a:endParaRPr lang="en-US" sz="2000" dirty="0">
                        <a:latin typeface="Times New Roman" panose="02020603050405020304" pitchFamily="18" charset="0"/>
                        <a:cs typeface="Times New Roman" panose="02020603050405020304" pitchFamily="18" charset="0"/>
                      </a:endParaRPr>
                    </a:p>
                    <a:p>
                      <a:pPr>
                        <a:lnSpc>
                          <a:spcPct val="100000"/>
                        </a:lnSpc>
                      </a:pPr>
                      <a:endParaRPr lang="en-US" sz="2000" dirty="0">
                        <a:latin typeface="Times New Roman" panose="02020603050405020304" pitchFamily="18" charset="0"/>
                        <a:cs typeface="Times New Roman" panose="02020603050405020304" pitchFamily="18" charset="0"/>
                      </a:endParaRPr>
                    </a:p>
                    <a:p>
                      <a:pPr>
                        <a:lnSpc>
                          <a:spcPct val="100000"/>
                        </a:lnSpc>
                      </a:pPr>
                      <a:endParaRPr lang="en-US" sz="2000" dirty="0">
                        <a:latin typeface="Times New Roman" panose="02020603050405020304" pitchFamily="18" charset="0"/>
                        <a:cs typeface="Times New Roman" panose="02020603050405020304" pitchFamily="18" charset="0"/>
                      </a:endParaRPr>
                    </a:p>
                    <a:p>
                      <a:pPr>
                        <a:lnSpc>
                          <a:spcPct val="100000"/>
                        </a:lnSpc>
                      </a:pPr>
                      <a:endParaRPr lang="en-US" sz="2000" dirty="0">
                        <a:latin typeface="Times New Roman" panose="02020603050405020304" pitchFamily="18" charset="0"/>
                        <a:cs typeface="Times New Roman" panose="02020603050405020304" pitchFamily="18" charset="0"/>
                      </a:endParaRPr>
                    </a:p>
                  </a:txBody>
                  <a:tcPr/>
                </a:tc>
                <a:tc>
                  <a:txBody>
                    <a:bodyPr/>
                    <a:lstStyle/>
                    <a:p>
                      <a:pPr>
                        <a:lnSpc>
                          <a:spcPct val="100000"/>
                        </a:lnSpc>
                      </a:pPr>
                      <a:r>
                        <a:rPr lang="en-US" sz="2000" dirty="0" err="1" smtClean="0">
                          <a:latin typeface="Times New Roman" panose="02020603050405020304" pitchFamily="18" charset="0"/>
                          <a:cs typeface="Times New Roman" panose="02020603050405020304" pitchFamily="18" charset="0"/>
                        </a:rPr>
                        <a:t>Shangping</a:t>
                      </a:r>
                      <a:r>
                        <a:rPr lang="en-US" sz="2000" baseline="0" dirty="0" smtClean="0">
                          <a:latin typeface="Times New Roman" panose="02020603050405020304" pitchFamily="18" charset="0"/>
                          <a:cs typeface="Times New Roman" panose="02020603050405020304" pitchFamily="18" charset="0"/>
                        </a:rPr>
                        <a:t>  Wang , </a:t>
                      </a:r>
                      <a:r>
                        <a:rPr lang="en-US" sz="2000" baseline="0" dirty="0" err="1" smtClean="0">
                          <a:latin typeface="Times New Roman" panose="02020603050405020304" pitchFamily="18" charset="0"/>
                          <a:cs typeface="Times New Roman" panose="02020603050405020304" pitchFamily="18" charset="0"/>
                        </a:rPr>
                        <a:t>Xu</a:t>
                      </a:r>
                      <a:r>
                        <a:rPr lang="en-US" sz="2000" baseline="0" dirty="0" smtClean="0">
                          <a:latin typeface="Times New Roman" panose="02020603050405020304" pitchFamily="18" charset="0"/>
                          <a:cs typeface="Times New Roman" panose="02020603050405020304" pitchFamily="18" charset="0"/>
                        </a:rPr>
                        <a:t> Wang, and </a:t>
                      </a:r>
                      <a:r>
                        <a:rPr lang="en-US" sz="2000" baseline="0" dirty="0" err="1" smtClean="0">
                          <a:latin typeface="Times New Roman" panose="02020603050405020304" pitchFamily="18" charset="0"/>
                          <a:cs typeface="Times New Roman" panose="02020603050405020304" pitchFamily="18" charset="0"/>
                        </a:rPr>
                        <a:t>Yaling</a:t>
                      </a:r>
                      <a:r>
                        <a:rPr lang="en-US" sz="2000" baseline="0" dirty="0" smtClean="0">
                          <a:latin typeface="Times New Roman" panose="02020603050405020304" pitchFamily="18" charset="0"/>
                          <a:cs typeface="Times New Roman" panose="02020603050405020304" pitchFamily="18" charset="0"/>
                        </a:rPr>
                        <a:t> Zhang,2019</a:t>
                      </a:r>
                      <a:endParaRPr lang="en-US" sz="2000" dirty="0">
                        <a:latin typeface="Times New Roman" panose="02020603050405020304" pitchFamily="18" charset="0"/>
                        <a:cs typeface="Times New Roman" panose="02020603050405020304" pitchFamily="18" charset="0"/>
                      </a:endParaRPr>
                    </a:p>
                  </a:txBody>
                  <a:tcPr/>
                </a:tc>
                <a:tc>
                  <a:txBody>
                    <a:bodyPr/>
                    <a:lstStyle/>
                    <a:p>
                      <a:pPr marL="342900" indent="-342900">
                        <a:lnSpc>
                          <a:spcPct val="100000"/>
                        </a:lnSpc>
                        <a:buFont typeface="Arial" pitchFamily="34" charset="0"/>
                        <a:buChar char="•"/>
                      </a:pPr>
                      <a:r>
                        <a:rPr lang="en-US" sz="2000" dirty="0" smtClean="0">
                          <a:latin typeface="Times New Roman" panose="02020603050405020304" pitchFamily="18" charset="0"/>
                          <a:cs typeface="Times New Roman" panose="02020603050405020304" pitchFamily="18" charset="0"/>
                        </a:rPr>
                        <a:t>This framework is based on the cloud storage platform, the cloud storage platform is semi-honest. </a:t>
                      </a:r>
                      <a:endParaRPr lang="en-US" sz="2000" dirty="0">
                        <a:latin typeface="Times New Roman" panose="02020603050405020304" pitchFamily="18" charset="0"/>
                        <a:cs typeface="Times New Roman" panose="02020603050405020304" pitchFamily="18" charset="0"/>
                      </a:endParaRP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smtClean="0">
                          <a:latin typeface="Times New Roman" panose="02020603050405020304" pitchFamily="18" charset="0"/>
                          <a:cs typeface="Times New Roman" panose="02020603050405020304" pitchFamily="18" charset="0"/>
                        </a:rPr>
                        <a:t>Cloud storage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smtClean="0">
                          <a:latin typeface="Times New Roman" panose="02020603050405020304" pitchFamily="18" charset="0"/>
                          <a:cs typeface="Times New Roman" panose="02020603050405020304" pitchFamily="18" charset="0"/>
                        </a:rPr>
                        <a:t>Access control.</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err="1" smtClean="0">
                          <a:latin typeface="Times New Roman" panose="02020603050405020304" pitchFamily="18" charset="0"/>
                          <a:cs typeface="Times New Roman" panose="02020603050405020304" pitchFamily="18" charset="0"/>
                        </a:rPr>
                        <a:t>Ethereum</a:t>
                      </a:r>
                      <a:endParaRPr lang="en-US" sz="2000" dirty="0" smtClean="0">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err="1" smtClean="0">
                          <a:latin typeface="Times New Roman" panose="02020603050405020304" pitchFamily="18" charset="0"/>
                          <a:cs typeface="Times New Roman" panose="02020603050405020304" pitchFamily="18" charset="0"/>
                        </a:rPr>
                        <a:t>Blockchain</a:t>
                      </a:r>
                      <a:endParaRPr lang="en-US" sz="2000" dirty="0" smtClean="0">
                        <a:latin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smtClean="0">
                          <a:latin typeface="Times New Roman" panose="02020603050405020304" pitchFamily="18" charset="0"/>
                          <a:cs typeface="Times New Roman" panose="02020603050405020304" pitchFamily="18" charset="0"/>
                        </a:rPr>
                        <a:t>Smart contract</a:t>
                      </a:r>
                      <a:endParaRPr lang="en-US" sz="2000" dirty="0">
                        <a:latin typeface="Times New Roman" panose="02020603050405020304" pitchFamily="18" charset="0"/>
                        <a:cs typeface="Times New Roman" panose="02020603050405020304" pitchFamily="18" charset="0"/>
                      </a:endParaRPr>
                    </a:p>
                  </a:txBody>
                  <a:tcPr/>
                </a:tc>
                <a:tc>
                  <a:txBody>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A distributed access control scheme is implemented through interaction between the data owner node and the data user node.</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426730835"/>
                  </a:ext>
                </a:extLst>
              </a:tr>
            </a:tbl>
          </a:graphicData>
        </a:graphic>
      </p:graphicFrame>
    </p:spTree>
    <p:extLst>
      <p:ext uri="{BB962C8B-B14F-4D97-AF65-F5344CB8AC3E}">
        <p14:creationId xmlns:p14="http://schemas.microsoft.com/office/powerpoint/2010/main" val="36655753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xmlns="" id="{204B99A6-3C9D-941B-3DD7-376A592CB27B}"/>
              </a:ext>
            </a:extLst>
          </p:cNvPr>
          <p:cNvGraphicFramePr>
            <a:graphicFrameLocks noGrp="1"/>
          </p:cNvGraphicFramePr>
          <p:nvPr>
            <p:ph idx="1"/>
            <p:extLst>
              <p:ext uri="{D42A27DB-BD31-4B8C-83A1-F6EECF244321}">
                <p14:modId xmlns:p14="http://schemas.microsoft.com/office/powerpoint/2010/main" val="724248152"/>
              </p:ext>
            </p:extLst>
          </p:nvPr>
        </p:nvGraphicFramePr>
        <p:xfrm>
          <a:off x="86496" y="131804"/>
          <a:ext cx="12019008" cy="6590271"/>
        </p:xfrm>
        <a:graphic>
          <a:graphicData uri="http://schemas.openxmlformats.org/drawingml/2006/table">
            <a:tbl>
              <a:tblPr firstRow="1" bandRow="1">
                <a:tableStyleId>{5C22544A-7EE6-4342-B048-85BDC9FD1C3A}</a:tableStyleId>
              </a:tblPr>
              <a:tblGrid>
                <a:gridCol w="655435">
                  <a:extLst>
                    <a:ext uri="{9D8B030D-6E8A-4147-A177-3AD203B41FA5}">
                      <a16:colId xmlns:a16="http://schemas.microsoft.com/office/drawing/2014/main" xmlns="" val="4249591745"/>
                    </a:ext>
                  </a:extLst>
                </a:gridCol>
                <a:gridCol w="1922954">
                  <a:extLst>
                    <a:ext uri="{9D8B030D-6E8A-4147-A177-3AD203B41FA5}">
                      <a16:colId xmlns:a16="http://schemas.microsoft.com/office/drawing/2014/main" xmlns="" val="2048446310"/>
                    </a:ext>
                  </a:extLst>
                </a:gridCol>
                <a:gridCol w="1541942">
                  <a:extLst>
                    <a:ext uri="{9D8B030D-6E8A-4147-A177-3AD203B41FA5}">
                      <a16:colId xmlns:a16="http://schemas.microsoft.com/office/drawing/2014/main" xmlns="" val="71004942"/>
                    </a:ext>
                  </a:extLst>
                </a:gridCol>
                <a:gridCol w="1700673">
                  <a:extLst>
                    <a:ext uri="{9D8B030D-6E8A-4147-A177-3AD203B41FA5}">
                      <a16:colId xmlns:a16="http://schemas.microsoft.com/office/drawing/2014/main" xmlns="" val="3060839510"/>
                    </a:ext>
                  </a:extLst>
                </a:gridCol>
                <a:gridCol w="2213043">
                  <a:extLst>
                    <a:ext uri="{9D8B030D-6E8A-4147-A177-3AD203B41FA5}">
                      <a16:colId xmlns:a16="http://schemas.microsoft.com/office/drawing/2014/main" xmlns="" val="821079912"/>
                    </a:ext>
                  </a:extLst>
                </a:gridCol>
                <a:gridCol w="3984961">
                  <a:extLst>
                    <a:ext uri="{9D8B030D-6E8A-4147-A177-3AD203B41FA5}">
                      <a16:colId xmlns:a16="http://schemas.microsoft.com/office/drawing/2014/main" xmlns="" val="2304526528"/>
                    </a:ext>
                  </a:extLst>
                </a:gridCol>
              </a:tblGrid>
              <a:tr h="1283819">
                <a:tc>
                  <a:txBody>
                    <a:bodyPr/>
                    <a:lstStyle/>
                    <a:p>
                      <a:r>
                        <a:rPr lang="en-US" dirty="0" err="1">
                          <a:latin typeface="Times New Roman" panose="02020603050405020304" pitchFamily="18" charset="0"/>
                          <a:cs typeface="Times New Roman" panose="02020603050405020304" pitchFamily="18" charset="0"/>
                        </a:rPr>
                        <a:t>Sl</a:t>
                      </a:r>
                      <a:r>
                        <a:rPr lang="en-US" dirty="0">
                          <a:latin typeface="Times New Roman" panose="02020603050405020304" pitchFamily="18" charset="0"/>
                          <a:cs typeface="Times New Roman" panose="02020603050405020304" pitchFamily="18" charset="0"/>
                        </a:rPr>
                        <a:t> . No</a:t>
                      </a:r>
                    </a:p>
                  </a:txBody>
                  <a:tcPr/>
                </a:tc>
                <a:tc>
                  <a:txBody>
                    <a:bodyPr/>
                    <a:lstStyle/>
                    <a:p>
                      <a:r>
                        <a:rPr lang="en-US" dirty="0">
                          <a:latin typeface="Times New Roman" panose="02020603050405020304" pitchFamily="18" charset="0"/>
                          <a:cs typeface="Times New Roman" panose="02020603050405020304" pitchFamily="18" charset="0"/>
                        </a:rPr>
                        <a:t>Paper Title</a:t>
                      </a:r>
                    </a:p>
                  </a:txBody>
                  <a:tcPr/>
                </a:tc>
                <a:tc>
                  <a:txBody>
                    <a:bodyPr/>
                    <a:lstStyle/>
                    <a:p>
                      <a:r>
                        <a:rPr lang="en-US" dirty="0">
                          <a:latin typeface="Times New Roman" panose="02020603050405020304" pitchFamily="18" charset="0"/>
                          <a:cs typeface="Times New Roman" panose="02020603050405020304" pitchFamily="18" charset="0"/>
                        </a:rPr>
                        <a:t>Authors, Publisher &amp; Publication Year</a:t>
                      </a:r>
                    </a:p>
                  </a:txBody>
                  <a:tcPr/>
                </a:tc>
                <a:tc>
                  <a:txBody>
                    <a:bodyPr/>
                    <a:lstStyle/>
                    <a:p>
                      <a:r>
                        <a:rPr lang="en-US" dirty="0">
                          <a:latin typeface="Times New Roman" panose="02020603050405020304" pitchFamily="18" charset="0"/>
                          <a:cs typeface="Times New Roman" panose="02020603050405020304" pitchFamily="18" charset="0"/>
                        </a:rPr>
                        <a:t>Problem Identified</a:t>
                      </a:r>
                    </a:p>
                  </a:txBody>
                  <a:tcPr/>
                </a:tc>
                <a:tc>
                  <a:txBody>
                    <a:bodyPr/>
                    <a:lstStyle/>
                    <a:p>
                      <a:r>
                        <a:rPr lang="en-US" dirty="0">
                          <a:latin typeface="Times New Roman" panose="02020603050405020304" pitchFamily="18" charset="0"/>
                          <a:cs typeface="Times New Roman" panose="02020603050405020304" pitchFamily="18" charset="0"/>
                        </a:rPr>
                        <a:t>Techniques used</a:t>
                      </a:r>
                    </a:p>
                  </a:txBody>
                  <a:tcPr/>
                </a:tc>
                <a:tc>
                  <a:txBody>
                    <a:bodyPr/>
                    <a:lstStyle/>
                    <a:p>
                      <a:r>
                        <a:rPr lang="en-US" dirty="0">
                          <a:latin typeface="Times New Roman" panose="02020603050405020304" pitchFamily="18" charset="0"/>
                          <a:cs typeface="Times New Roman" panose="02020603050405020304" pitchFamily="18" charset="0"/>
                        </a:rPr>
                        <a:t>Outcome</a:t>
                      </a:r>
                    </a:p>
                  </a:txBody>
                  <a:tcPr/>
                </a:tc>
                <a:extLst>
                  <a:ext uri="{0D108BD9-81ED-4DB2-BD59-A6C34878D82A}">
                    <a16:rowId xmlns:a16="http://schemas.microsoft.com/office/drawing/2014/main" xmlns="" val="422556544"/>
                  </a:ext>
                </a:extLst>
              </a:tr>
              <a:tr h="5306452">
                <a:tc>
                  <a:txBody>
                    <a:bodyPr/>
                    <a:lstStyle/>
                    <a:p>
                      <a:pPr algn="ctr"/>
                      <a:r>
                        <a:rPr lang="en-US" b="1" dirty="0">
                          <a:latin typeface="Times New Roman" panose="02020603050405020304" pitchFamily="18" charset="0"/>
                          <a:cs typeface="Times New Roman" panose="02020603050405020304" pitchFamily="18" charset="0"/>
                        </a:rPr>
                        <a:t>7</a:t>
                      </a:r>
                      <a:r>
                        <a:rPr lang="en-US"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Blockchain</a:t>
                      </a:r>
                      <a:r>
                        <a:rPr lang="en-US" dirty="0" smtClean="0">
                          <a:latin typeface="Times New Roman" panose="02020603050405020304" pitchFamily="18" charset="0"/>
                          <a:cs typeface="Times New Roman" panose="02020603050405020304" pitchFamily="18" charset="0"/>
                        </a:rPr>
                        <a:t> based Secure Data Storage and Access Control System using Cloud </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err="1" smtClean="0">
                          <a:latin typeface="Times New Roman" panose="02020603050405020304" pitchFamily="18" charset="0"/>
                          <a:cs typeface="Times New Roman" panose="02020603050405020304" pitchFamily="18" charset="0"/>
                        </a:rPr>
                        <a:t>Shubham</a:t>
                      </a:r>
                      <a:r>
                        <a:rPr lang="en-US" dirty="0" smtClean="0">
                          <a:latin typeface="Times New Roman" panose="02020603050405020304" pitchFamily="18" charset="0"/>
                          <a:cs typeface="Times New Roman" panose="02020603050405020304" pitchFamily="18" charset="0"/>
                        </a:rPr>
                        <a:t> Desai, </a:t>
                      </a:r>
                      <a:r>
                        <a:rPr lang="en-US" dirty="0" err="1" smtClean="0">
                          <a:latin typeface="Times New Roman" panose="02020603050405020304" pitchFamily="18" charset="0"/>
                          <a:cs typeface="Times New Roman" panose="02020603050405020304" pitchFamily="18" charset="0"/>
                        </a:rPr>
                        <a:t>Onkar</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Deshmukh</a:t>
                      </a:r>
                      <a:r>
                        <a:rPr lang="en-US" dirty="0" smtClean="0">
                          <a:latin typeface="Times New Roman" panose="02020603050405020304" pitchFamily="18" charset="0"/>
                          <a:cs typeface="Times New Roman" panose="02020603050405020304" pitchFamily="18" charset="0"/>
                        </a:rPr>
                        <a:t>,</a:t>
                      </a:r>
                      <a:r>
                        <a:rPr lang="en-US" baseline="0" dirty="0" smtClean="0">
                          <a:latin typeface="Times New Roman" panose="02020603050405020304" pitchFamily="18" charset="0"/>
                          <a:cs typeface="Times New Roman" panose="02020603050405020304" pitchFamily="18" charset="0"/>
                        </a:rPr>
                        <a:t> Rahul </a:t>
                      </a:r>
                      <a:r>
                        <a:rPr lang="en-US" baseline="0" dirty="0" err="1" smtClean="0">
                          <a:latin typeface="Times New Roman" panose="02020603050405020304" pitchFamily="18" charset="0"/>
                          <a:cs typeface="Times New Roman" panose="02020603050405020304" pitchFamily="18" charset="0"/>
                        </a:rPr>
                        <a:t>Shelke</a:t>
                      </a:r>
                      <a:r>
                        <a:rPr lang="en-US" baseline="0"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 Harish </a:t>
                      </a:r>
                      <a:r>
                        <a:rPr lang="en-US" dirty="0" err="1" smtClean="0">
                          <a:latin typeface="Times New Roman" panose="02020603050405020304" pitchFamily="18" charset="0"/>
                          <a:cs typeface="Times New Roman" panose="02020603050405020304" pitchFamily="18" charset="0"/>
                        </a:rPr>
                        <a:t>Choudhary</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2019</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smtClean="0">
                          <a:latin typeface="Times New Roman" panose="02020603050405020304" pitchFamily="18" charset="0"/>
                          <a:cs typeface="Times New Roman" panose="02020603050405020304" pitchFamily="18" charset="0"/>
                        </a:rPr>
                        <a:t>The data stored in the </a:t>
                      </a:r>
                      <a:r>
                        <a:rPr lang="en-US" dirty="0" err="1" smtClean="0">
                          <a:latin typeface="Times New Roman" panose="02020603050405020304" pitchFamily="18" charset="0"/>
                          <a:cs typeface="Times New Roman" panose="02020603050405020304" pitchFamily="18" charset="0"/>
                        </a:rPr>
                        <a:t>blockchain</a:t>
                      </a:r>
                      <a:r>
                        <a:rPr lang="en-US" dirty="0" smtClean="0">
                          <a:latin typeface="Times New Roman" panose="02020603050405020304" pitchFamily="18" charset="0"/>
                          <a:cs typeface="Times New Roman" panose="02020603050405020304" pitchFamily="18" charset="0"/>
                        </a:rPr>
                        <a:t> is publicized.</a:t>
                      </a:r>
                      <a:endParaRPr lang="en-US" dirty="0">
                        <a:latin typeface="Times New Roman" panose="02020603050405020304" pitchFamily="18" charset="0"/>
                        <a:cs typeface="Times New Roman" panose="02020603050405020304" pitchFamily="18" charset="0"/>
                      </a:endParaRPr>
                    </a:p>
                  </a:txBody>
                  <a:tcPr/>
                </a:tc>
                <a:tc>
                  <a:txBody>
                    <a:bodyPr/>
                    <a:lstStyle/>
                    <a:p>
                      <a:pPr marL="285750" indent="-285750" eaLnBrk="1" hangingPunct="1">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Blockchain</a:t>
                      </a:r>
                      <a:r>
                        <a:rPr lang="en-US" dirty="0" smtClean="0">
                          <a:latin typeface="Times New Roman" panose="02020603050405020304" pitchFamily="18" charset="0"/>
                          <a:cs typeface="Times New Roman" panose="02020603050405020304" pitchFamily="18" charset="0"/>
                        </a:rPr>
                        <a:t>,</a:t>
                      </a:r>
                    </a:p>
                    <a:p>
                      <a:pPr marL="285750" indent="-285750" eaLnBrk="1" hangingPunct="1">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Cloud Storage.</a:t>
                      </a:r>
                    </a:p>
                    <a:p>
                      <a:pPr marL="285750" indent="-285750" eaLnBrk="1" hangingPunct="1">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Smart Contract.</a:t>
                      </a:r>
                    </a:p>
                    <a:p>
                      <a:pPr marL="285750" indent="-285750" eaLnBrk="1" hangingPunct="1">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Encryption</a:t>
                      </a:r>
                    </a:p>
                    <a:p>
                      <a:pPr marL="285750" indent="-285750" eaLnBrk="1" hangingPunct="1">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Decryption </a:t>
                      </a:r>
                      <a:endParaRPr lang="en-US"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itchFamily="34" charset="0"/>
                        <a:buChar char="•"/>
                      </a:pPr>
                      <a:r>
                        <a:rPr lang="en-US" dirty="0" smtClean="0">
                          <a:latin typeface="Times New Roman" panose="02020603050405020304" pitchFamily="18" charset="0"/>
                          <a:cs typeface="Times New Roman" panose="02020603050405020304" pitchFamily="18" charset="0"/>
                        </a:rPr>
                        <a:t>The proposed system incorporates HASBE technique with a fixed length cipher text and key, which enhances the efficiency of the system</a:t>
                      </a:r>
                    </a:p>
                    <a:p>
                      <a:pPr marL="285750" indent="-285750">
                        <a:buFont typeface="Arial" pitchFamily="34" charset="0"/>
                        <a:buChar char="•"/>
                      </a:pPr>
                      <a:r>
                        <a:rPr lang="en-US" dirty="0" smtClean="0">
                          <a:latin typeface="Times New Roman" panose="02020603050405020304" pitchFamily="18" charset="0"/>
                          <a:cs typeface="Times New Roman" panose="02020603050405020304" pitchFamily="18" charset="0"/>
                        </a:rPr>
                        <a:t>The system uses </a:t>
                      </a:r>
                      <a:r>
                        <a:rPr lang="en-US" dirty="0" err="1" smtClean="0">
                          <a:latin typeface="Times New Roman" panose="02020603050405020304" pitchFamily="18" charset="0"/>
                          <a:cs typeface="Times New Roman" panose="02020603050405020304" pitchFamily="18" charset="0"/>
                        </a:rPr>
                        <a:t>blockchain</a:t>
                      </a:r>
                      <a:r>
                        <a:rPr lang="en-US" dirty="0" smtClean="0">
                          <a:latin typeface="Times New Roman" panose="02020603050405020304" pitchFamily="18" charset="0"/>
                          <a:cs typeface="Times New Roman" panose="02020603050405020304" pitchFamily="18" charset="0"/>
                        </a:rPr>
                        <a:t> to store links of encrypted documents that are available on the cloud. </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426730835"/>
                  </a:ext>
                </a:extLst>
              </a:tr>
            </a:tbl>
          </a:graphicData>
        </a:graphic>
      </p:graphicFrame>
    </p:spTree>
    <p:extLst>
      <p:ext uri="{BB962C8B-B14F-4D97-AF65-F5344CB8AC3E}">
        <p14:creationId xmlns:p14="http://schemas.microsoft.com/office/powerpoint/2010/main" val="57070998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xmlns="" id="{204B99A6-3C9D-941B-3DD7-376A592CB27B}"/>
              </a:ext>
            </a:extLst>
          </p:cNvPr>
          <p:cNvGraphicFramePr>
            <a:graphicFrameLocks noGrp="1"/>
          </p:cNvGraphicFramePr>
          <p:nvPr>
            <p:ph idx="1"/>
            <p:extLst>
              <p:ext uri="{D42A27DB-BD31-4B8C-83A1-F6EECF244321}">
                <p14:modId xmlns:p14="http://schemas.microsoft.com/office/powerpoint/2010/main" val="1746352534"/>
              </p:ext>
            </p:extLst>
          </p:nvPr>
        </p:nvGraphicFramePr>
        <p:xfrm>
          <a:off x="86496" y="131804"/>
          <a:ext cx="12009250" cy="6533792"/>
        </p:xfrm>
        <a:graphic>
          <a:graphicData uri="http://schemas.openxmlformats.org/drawingml/2006/table">
            <a:tbl>
              <a:tblPr firstRow="1" bandRow="1">
                <a:tableStyleId>{5C22544A-7EE6-4342-B048-85BDC9FD1C3A}</a:tableStyleId>
              </a:tblPr>
              <a:tblGrid>
                <a:gridCol w="654903">
                  <a:extLst>
                    <a:ext uri="{9D8B030D-6E8A-4147-A177-3AD203B41FA5}">
                      <a16:colId xmlns:a16="http://schemas.microsoft.com/office/drawing/2014/main" xmlns="" val="4249591745"/>
                    </a:ext>
                  </a:extLst>
                </a:gridCol>
                <a:gridCol w="1921393">
                  <a:extLst>
                    <a:ext uri="{9D8B030D-6E8A-4147-A177-3AD203B41FA5}">
                      <a16:colId xmlns:a16="http://schemas.microsoft.com/office/drawing/2014/main" xmlns="" val="2048446310"/>
                    </a:ext>
                  </a:extLst>
                </a:gridCol>
                <a:gridCol w="1540690">
                  <a:extLst>
                    <a:ext uri="{9D8B030D-6E8A-4147-A177-3AD203B41FA5}">
                      <a16:colId xmlns:a16="http://schemas.microsoft.com/office/drawing/2014/main" xmlns="" val="71004942"/>
                    </a:ext>
                  </a:extLst>
                </a:gridCol>
                <a:gridCol w="1699292">
                  <a:extLst>
                    <a:ext uri="{9D8B030D-6E8A-4147-A177-3AD203B41FA5}">
                      <a16:colId xmlns:a16="http://schemas.microsoft.com/office/drawing/2014/main" xmlns="" val="3060839510"/>
                    </a:ext>
                  </a:extLst>
                </a:gridCol>
                <a:gridCol w="2735900">
                  <a:extLst>
                    <a:ext uri="{9D8B030D-6E8A-4147-A177-3AD203B41FA5}">
                      <a16:colId xmlns:a16="http://schemas.microsoft.com/office/drawing/2014/main" xmlns="" val="821079912"/>
                    </a:ext>
                  </a:extLst>
                </a:gridCol>
                <a:gridCol w="3457072">
                  <a:extLst>
                    <a:ext uri="{9D8B030D-6E8A-4147-A177-3AD203B41FA5}">
                      <a16:colId xmlns:a16="http://schemas.microsoft.com/office/drawing/2014/main" xmlns="" val="2304526528"/>
                    </a:ext>
                  </a:extLst>
                </a:gridCol>
              </a:tblGrid>
              <a:tr h="1172577">
                <a:tc>
                  <a:txBody>
                    <a:bodyPr/>
                    <a:lstStyle/>
                    <a:p>
                      <a:r>
                        <a:rPr lang="en-US" dirty="0" err="1">
                          <a:latin typeface="Times New Roman" panose="02020603050405020304" pitchFamily="18" charset="0"/>
                          <a:cs typeface="Times New Roman" panose="02020603050405020304" pitchFamily="18" charset="0"/>
                        </a:rPr>
                        <a:t>Sl</a:t>
                      </a:r>
                      <a:r>
                        <a:rPr lang="en-US" dirty="0">
                          <a:latin typeface="Times New Roman" panose="02020603050405020304" pitchFamily="18" charset="0"/>
                          <a:cs typeface="Times New Roman" panose="02020603050405020304" pitchFamily="18" charset="0"/>
                        </a:rPr>
                        <a:t> . No</a:t>
                      </a:r>
                    </a:p>
                  </a:txBody>
                  <a:tcPr/>
                </a:tc>
                <a:tc>
                  <a:txBody>
                    <a:bodyPr/>
                    <a:lstStyle/>
                    <a:p>
                      <a:r>
                        <a:rPr lang="en-US" dirty="0">
                          <a:latin typeface="Times New Roman" panose="02020603050405020304" pitchFamily="18" charset="0"/>
                          <a:cs typeface="Times New Roman" panose="02020603050405020304" pitchFamily="18" charset="0"/>
                        </a:rPr>
                        <a:t>Paper Title</a:t>
                      </a:r>
                    </a:p>
                  </a:txBody>
                  <a:tcPr/>
                </a:tc>
                <a:tc>
                  <a:txBody>
                    <a:bodyPr/>
                    <a:lstStyle/>
                    <a:p>
                      <a:r>
                        <a:rPr lang="en-US" dirty="0">
                          <a:latin typeface="Times New Roman" panose="02020603050405020304" pitchFamily="18" charset="0"/>
                          <a:cs typeface="Times New Roman" panose="02020603050405020304" pitchFamily="18" charset="0"/>
                        </a:rPr>
                        <a:t>Authors, Publisher &amp; Publication Year</a:t>
                      </a:r>
                    </a:p>
                  </a:txBody>
                  <a:tcPr/>
                </a:tc>
                <a:tc>
                  <a:txBody>
                    <a:bodyPr/>
                    <a:lstStyle/>
                    <a:p>
                      <a:r>
                        <a:rPr lang="en-US" dirty="0">
                          <a:latin typeface="Times New Roman" panose="02020603050405020304" pitchFamily="18" charset="0"/>
                          <a:cs typeface="Times New Roman" panose="02020603050405020304" pitchFamily="18" charset="0"/>
                        </a:rPr>
                        <a:t>Problem </a:t>
                      </a:r>
                      <a:r>
                        <a:rPr lang="en-US" dirty="0" smtClean="0">
                          <a:latin typeface="Times New Roman" panose="02020603050405020304" pitchFamily="18" charset="0"/>
                          <a:cs typeface="Times New Roman" panose="02020603050405020304" pitchFamily="18" charset="0"/>
                        </a:rPr>
                        <a:t>Identified</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Techniques used</a:t>
                      </a:r>
                    </a:p>
                  </a:txBody>
                  <a:tcPr/>
                </a:tc>
                <a:tc>
                  <a:txBody>
                    <a:bodyPr/>
                    <a:lstStyle/>
                    <a:p>
                      <a:r>
                        <a:rPr lang="en-US" dirty="0">
                          <a:latin typeface="Times New Roman" panose="02020603050405020304" pitchFamily="18" charset="0"/>
                          <a:cs typeface="Times New Roman" panose="02020603050405020304" pitchFamily="18" charset="0"/>
                        </a:rPr>
                        <a:t>Outcome</a:t>
                      </a:r>
                    </a:p>
                  </a:txBody>
                  <a:tcPr/>
                </a:tc>
                <a:extLst>
                  <a:ext uri="{0D108BD9-81ED-4DB2-BD59-A6C34878D82A}">
                    <a16:rowId xmlns:a16="http://schemas.microsoft.com/office/drawing/2014/main" xmlns="" val="422556544"/>
                  </a:ext>
                </a:extLst>
              </a:tr>
              <a:tr h="5345072">
                <a:tc>
                  <a:txBody>
                    <a:bodyPr/>
                    <a:lstStyle/>
                    <a:p>
                      <a:pPr algn="ctr"/>
                      <a:r>
                        <a:rPr lang="en-US" b="1" dirty="0" smtClean="0">
                          <a:latin typeface="Times New Roman" panose="02020603050405020304" pitchFamily="18" charset="0"/>
                          <a:cs typeface="Times New Roman" panose="02020603050405020304" pitchFamily="18" charset="0"/>
                        </a:rPr>
                        <a:t>8.</a:t>
                      </a:r>
                      <a:endParaRPr lang="en-US" b="1" dirty="0">
                        <a:latin typeface="Times New Roman" panose="02020603050405020304" pitchFamily="18" charset="0"/>
                        <a:cs typeface="Times New Roman" panose="02020603050405020304" pitchFamily="18" charset="0"/>
                      </a:endParaRPr>
                    </a:p>
                  </a:txBody>
                  <a:tcPr/>
                </a:tc>
                <a:tc>
                  <a:txBody>
                    <a:bodyPr/>
                    <a:lstStyle/>
                    <a:p>
                      <a:r>
                        <a:rPr lang="en-US" sz="2000" b="0" i="0" kern="1200" dirty="0" smtClean="0">
                          <a:solidFill>
                            <a:schemeClr val="dk1"/>
                          </a:solidFill>
                          <a:effectLst/>
                          <a:latin typeface="+mn-lt"/>
                          <a:ea typeface="+mn-ea"/>
                          <a:cs typeface="+mn-cs"/>
                        </a:rPr>
                        <a:t>Cloud Computing Security using </a:t>
                      </a:r>
                      <a:r>
                        <a:rPr lang="en-US" sz="2000" b="0" i="0" kern="1200" dirty="0" err="1" smtClean="0">
                          <a:solidFill>
                            <a:schemeClr val="dk1"/>
                          </a:solidFill>
                          <a:effectLst/>
                          <a:latin typeface="+mn-lt"/>
                          <a:ea typeface="+mn-ea"/>
                          <a:cs typeface="+mn-cs"/>
                        </a:rPr>
                        <a:t>Blockchain</a:t>
                      </a:r>
                      <a:r>
                        <a:rPr lang="en-US" sz="2000" b="0" i="0" kern="1200" dirty="0" smtClean="0">
                          <a:solidFill>
                            <a:schemeClr val="dk1"/>
                          </a:solidFill>
                          <a:effectLst/>
                          <a:latin typeface="+mn-lt"/>
                          <a:ea typeface="+mn-ea"/>
                          <a:cs typeface="+mn-cs"/>
                        </a:rPr>
                        <a:t> </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txBody>
                  <a:tcPr/>
                </a:tc>
                <a:tc>
                  <a:txBody>
                    <a:bodyPr/>
                    <a:lstStyle/>
                    <a:p>
                      <a:r>
                        <a:rPr lang="en-IN" sz="2000" b="0" i="0" kern="1200" dirty="0" smtClean="0">
                          <a:solidFill>
                            <a:schemeClr val="dk1"/>
                          </a:solidFill>
                          <a:effectLst/>
                          <a:latin typeface="+mn-lt"/>
                          <a:ea typeface="+mn-ea"/>
                          <a:cs typeface="+mn-cs"/>
                        </a:rPr>
                        <a:t>Ashok Gupta, Shams </a:t>
                      </a:r>
                      <a:r>
                        <a:rPr lang="en-IN" sz="2000" b="0" i="0" kern="1200" dirty="0" err="1" smtClean="0">
                          <a:solidFill>
                            <a:schemeClr val="dk1"/>
                          </a:solidFill>
                          <a:effectLst/>
                          <a:latin typeface="+mn-lt"/>
                          <a:ea typeface="+mn-ea"/>
                          <a:cs typeface="+mn-cs"/>
                        </a:rPr>
                        <a:t>Tabrez</a:t>
                      </a:r>
                      <a:r>
                        <a:rPr lang="en-IN" sz="2000" b="0" i="0" kern="1200" dirty="0" smtClean="0">
                          <a:solidFill>
                            <a:schemeClr val="dk1"/>
                          </a:solidFill>
                          <a:effectLst/>
                          <a:latin typeface="+mn-lt"/>
                          <a:ea typeface="+mn-ea"/>
                          <a:cs typeface="+mn-cs"/>
                        </a:rPr>
                        <a:t> </a:t>
                      </a:r>
                      <a:r>
                        <a:rPr lang="en-IN" sz="2000" b="0" i="0" kern="1200" dirty="0" err="1" smtClean="0">
                          <a:solidFill>
                            <a:schemeClr val="dk1"/>
                          </a:solidFill>
                          <a:effectLst/>
                          <a:latin typeface="+mn-lt"/>
                          <a:ea typeface="+mn-ea"/>
                          <a:cs typeface="+mn-cs"/>
                        </a:rPr>
                        <a:t>Siddiqui</a:t>
                      </a:r>
                      <a:r>
                        <a:rPr lang="en-IN" sz="2000" b="0" i="0" kern="1200" dirty="0" smtClean="0">
                          <a:solidFill>
                            <a:schemeClr val="dk1"/>
                          </a:solidFill>
                          <a:effectLst/>
                          <a:latin typeface="+mn-lt"/>
                          <a:ea typeface="+mn-ea"/>
                          <a:cs typeface="+mn-cs"/>
                        </a:rPr>
                        <a:t>, </a:t>
                      </a:r>
                      <a:r>
                        <a:rPr lang="en-IN" sz="2000" b="0" i="0" kern="1200" dirty="0" err="1" smtClean="0">
                          <a:solidFill>
                            <a:schemeClr val="dk1"/>
                          </a:solidFill>
                          <a:effectLst/>
                          <a:latin typeface="+mn-lt"/>
                          <a:ea typeface="+mn-ea"/>
                          <a:cs typeface="+mn-cs"/>
                        </a:rPr>
                        <a:t>Shadab</a:t>
                      </a:r>
                      <a:r>
                        <a:rPr lang="en-IN" sz="2000" b="0" i="0" kern="1200" dirty="0" smtClean="0">
                          <a:solidFill>
                            <a:schemeClr val="dk1"/>
                          </a:solidFill>
                          <a:effectLst/>
                          <a:latin typeface="+mn-lt"/>
                          <a:ea typeface="+mn-ea"/>
                          <a:cs typeface="+mn-cs"/>
                        </a:rPr>
                        <a:t> </a:t>
                      </a:r>
                      <a:r>
                        <a:rPr lang="en-IN" sz="2000" b="0" i="0" kern="1200" dirty="0" err="1" smtClean="0">
                          <a:solidFill>
                            <a:schemeClr val="dk1"/>
                          </a:solidFill>
                          <a:effectLst/>
                          <a:latin typeface="+mn-lt"/>
                          <a:ea typeface="+mn-ea"/>
                          <a:cs typeface="+mn-cs"/>
                        </a:rPr>
                        <a:t>Alam</a:t>
                      </a:r>
                      <a:r>
                        <a:rPr lang="en-IN" sz="2000" b="0" i="0" kern="1200" dirty="0" smtClean="0">
                          <a:solidFill>
                            <a:schemeClr val="dk1"/>
                          </a:solidFill>
                          <a:effectLst/>
                          <a:latin typeface="+mn-lt"/>
                          <a:ea typeface="+mn-ea"/>
                          <a:cs typeface="+mn-cs"/>
                        </a:rPr>
                        <a:t> and Mohammed Shuaib,2019</a:t>
                      </a:r>
                      <a:endParaRPr lang="en-US" sz="20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itchFamily="34" charset="0"/>
                        <a:buChar char="•"/>
                      </a:pPr>
                      <a:r>
                        <a:rPr lang="en-US" sz="2000" b="0" i="0" kern="1200" dirty="0" smtClean="0">
                          <a:solidFill>
                            <a:schemeClr val="dk1"/>
                          </a:solidFill>
                          <a:effectLst/>
                          <a:latin typeface="+mn-lt"/>
                          <a:ea typeface="+mn-ea"/>
                          <a:cs typeface="+mn-cs"/>
                        </a:rPr>
                        <a:t>Challenges </a:t>
                      </a:r>
                      <a:r>
                        <a:rPr lang="en-US" sz="2000" b="0" i="0" kern="1200" dirty="0" err="1" smtClean="0">
                          <a:solidFill>
                            <a:schemeClr val="dk1"/>
                          </a:solidFill>
                          <a:effectLst/>
                          <a:latin typeface="+mn-lt"/>
                          <a:ea typeface="+mn-ea"/>
                          <a:cs typeface="+mn-cs"/>
                        </a:rPr>
                        <a:t>Blockchain</a:t>
                      </a:r>
                      <a:r>
                        <a:rPr lang="en-US" sz="2000" b="0" i="0" kern="1200" dirty="0" smtClean="0">
                          <a:solidFill>
                            <a:schemeClr val="dk1"/>
                          </a:solidFill>
                          <a:effectLst/>
                          <a:latin typeface="+mn-lt"/>
                          <a:ea typeface="+mn-ea"/>
                          <a:cs typeface="+mn-cs"/>
                        </a:rPr>
                        <a:t> Agreement </a:t>
                      </a:r>
                    </a:p>
                    <a:p>
                      <a:pPr marL="285750" indent="-285750">
                        <a:buFont typeface="Arial" pitchFamily="34" charset="0"/>
                        <a:buChar char="•"/>
                      </a:pPr>
                      <a:r>
                        <a:rPr lang="en-US" sz="2000" b="0" i="0" kern="1200" dirty="0" smtClean="0">
                          <a:solidFill>
                            <a:schemeClr val="dk1"/>
                          </a:solidFill>
                          <a:effectLst/>
                          <a:latin typeface="+mn-lt"/>
                          <a:ea typeface="+mn-ea"/>
                          <a:cs typeface="+mn-cs"/>
                        </a:rPr>
                        <a:t>Transaction-s Security </a:t>
                      </a:r>
                    </a:p>
                    <a:p>
                      <a:pPr marL="285750" indent="-285750">
                        <a:buFont typeface="Arial" pitchFamily="34" charset="0"/>
                        <a:buChar char="•"/>
                      </a:pPr>
                      <a:r>
                        <a:rPr lang="en-US" sz="2000" b="0" i="0" kern="1200" dirty="0" smtClean="0">
                          <a:solidFill>
                            <a:schemeClr val="dk1"/>
                          </a:solidFill>
                          <a:effectLst/>
                          <a:latin typeface="+mn-lt"/>
                          <a:ea typeface="+mn-ea"/>
                          <a:cs typeface="+mn-cs"/>
                        </a:rPr>
                        <a:t>Wallet Security </a:t>
                      </a:r>
                    </a:p>
                    <a:p>
                      <a:pPr marL="285750" indent="-285750">
                        <a:buFont typeface="Arial" pitchFamily="34" charset="0"/>
                        <a:buChar char="•"/>
                      </a:pPr>
                      <a:r>
                        <a:rPr lang="en-US" sz="2000" b="0" i="0" kern="1200" dirty="0" smtClean="0">
                          <a:solidFill>
                            <a:schemeClr val="dk1"/>
                          </a:solidFill>
                          <a:effectLst/>
                          <a:latin typeface="+mn-lt"/>
                          <a:ea typeface="+mn-ea"/>
                          <a:cs typeface="+mn-cs"/>
                        </a:rPr>
                        <a:t>Software Security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itchFamily="34" charset="0"/>
                        <a:buChar char="•"/>
                      </a:pPr>
                      <a:r>
                        <a:rPr lang="en-US" sz="2000" b="0" i="0" kern="1200" dirty="0" smtClean="0">
                          <a:solidFill>
                            <a:schemeClr val="dk1"/>
                          </a:solidFill>
                          <a:effectLst/>
                          <a:latin typeface="+mn-lt"/>
                          <a:ea typeface="+mn-ea"/>
                          <a:cs typeface="+mn-cs"/>
                        </a:rPr>
                        <a:t>Cloud Computing </a:t>
                      </a:r>
                      <a:r>
                        <a:rPr lang="en-US" sz="2000" b="0" i="0" kern="1200" dirty="0" err="1" smtClean="0">
                          <a:solidFill>
                            <a:schemeClr val="dk1"/>
                          </a:solidFill>
                          <a:effectLst/>
                          <a:latin typeface="+mn-lt"/>
                          <a:ea typeface="+mn-ea"/>
                          <a:cs typeface="+mn-cs"/>
                        </a:rPr>
                        <a:t>Blockchain</a:t>
                      </a:r>
                      <a:endParaRPr lang="en-US" sz="2000" b="0" i="0" kern="1200" dirty="0" smtClean="0">
                        <a:solidFill>
                          <a:schemeClr val="dk1"/>
                        </a:solidFill>
                        <a:effectLst/>
                        <a:latin typeface="+mn-lt"/>
                        <a:ea typeface="+mn-ea"/>
                        <a:cs typeface="+mn-cs"/>
                      </a:endParaRPr>
                    </a:p>
                    <a:p>
                      <a:pPr marL="285750" indent="-285750">
                        <a:buFont typeface="Arial" pitchFamily="34" charset="0"/>
                        <a:buChar char="•"/>
                      </a:pPr>
                      <a:r>
                        <a:rPr lang="en-US" sz="2000" b="0" i="0" kern="1200" dirty="0" smtClean="0">
                          <a:solidFill>
                            <a:schemeClr val="dk1"/>
                          </a:solidFill>
                          <a:effectLst/>
                          <a:latin typeface="+mn-lt"/>
                          <a:ea typeface="+mn-ea"/>
                          <a:cs typeface="+mn-cs"/>
                        </a:rPr>
                        <a:t>Security</a:t>
                      </a:r>
                    </a:p>
                    <a:p>
                      <a:pPr marL="285750" indent="-285750">
                        <a:buFont typeface="Arial" pitchFamily="34" charset="0"/>
                        <a:buChar char="•"/>
                      </a:pPr>
                      <a:r>
                        <a:rPr lang="en-US" sz="2000" b="0" i="0" kern="1200" dirty="0" smtClean="0">
                          <a:solidFill>
                            <a:schemeClr val="dk1"/>
                          </a:solidFill>
                          <a:effectLst/>
                          <a:latin typeface="+mn-lt"/>
                          <a:ea typeface="+mn-ea"/>
                          <a:cs typeface="+mn-cs"/>
                        </a:rPr>
                        <a:t>Information security</a:t>
                      </a:r>
                      <a:endParaRPr lang="en-US" sz="20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itchFamily="34" charset="0"/>
                        <a:buChar char="•"/>
                      </a:pPr>
                      <a:r>
                        <a:rPr lang="en-US" sz="2000" b="0" i="0" kern="1200" dirty="0" smtClean="0">
                          <a:solidFill>
                            <a:schemeClr val="dk1"/>
                          </a:solidFill>
                          <a:effectLst/>
                          <a:latin typeface="+mn-lt"/>
                          <a:ea typeface="+mn-ea"/>
                          <a:cs typeface="+mn-cs"/>
                        </a:rPr>
                        <a:t>The characteristics of </a:t>
                      </a:r>
                      <a:r>
                        <a:rPr lang="en-US" sz="2000" b="0" i="0" kern="1200" dirty="0" err="1" smtClean="0">
                          <a:solidFill>
                            <a:schemeClr val="dk1"/>
                          </a:solidFill>
                          <a:effectLst/>
                          <a:latin typeface="+mn-lt"/>
                          <a:ea typeface="+mn-ea"/>
                          <a:cs typeface="+mn-cs"/>
                        </a:rPr>
                        <a:t>Blockchain</a:t>
                      </a:r>
                      <a:r>
                        <a:rPr lang="en-US" sz="2000" b="0" i="0" kern="1200" dirty="0" smtClean="0">
                          <a:solidFill>
                            <a:schemeClr val="dk1"/>
                          </a:solidFill>
                          <a:effectLst/>
                          <a:latin typeface="+mn-lt"/>
                          <a:ea typeface="+mn-ea"/>
                          <a:cs typeface="+mn-cs"/>
                        </a:rPr>
                        <a:t> and Cloud Computing security requirements have been analyzed. </a:t>
                      </a:r>
                    </a:p>
                    <a:p>
                      <a:pPr marL="285750" indent="-285750">
                        <a:buFont typeface="Arial" pitchFamily="34" charset="0"/>
                        <a:buChar char="•"/>
                      </a:pPr>
                      <a:r>
                        <a:rPr lang="en-US" sz="2000" b="0" i="0" kern="1200" dirty="0" smtClean="0">
                          <a:solidFill>
                            <a:schemeClr val="dk1"/>
                          </a:solidFill>
                          <a:effectLst/>
                          <a:latin typeface="+mn-lt"/>
                          <a:ea typeface="+mn-ea"/>
                          <a:cs typeface="+mn-cs"/>
                        </a:rPr>
                        <a:t>Based on this analysis, it has been established that </a:t>
                      </a:r>
                      <a:r>
                        <a:rPr lang="en-US" sz="2000" b="0" i="0" kern="1200" dirty="0" err="1" smtClean="0">
                          <a:solidFill>
                            <a:schemeClr val="dk1"/>
                          </a:solidFill>
                          <a:effectLst/>
                          <a:latin typeface="+mn-lt"/>
                          <a:ea typeface="+mn-ea"/>
                          <a:cs typeface="+mn-cs"/>
                        </a:rPr>
                        <a:t>Blockchain</a:t>
                      </a:r>
                      <a:r>
                        <a:rPr lang="en-US" sz="2000" b="0" i="0" kern="1200" dirty="0" smtClean="0">
                          <a:solidFill>
                            <a:schemeClr val="dk1"/>
                          </a:solidFill>
                          <a:effectLst/>
                          <a:latin typeface="+mn-lt"/>
                          <a:ea typeface="+mn-ea"/>
                          <a:cs typeface="+mn-cs"/>
                        </a:rPr>
                        <a:t> can be a suitable and powerful tool to provide security in the Cloud Computing environment. </a:t>
                      </a:r>
                    </a:p>
                    <a:p>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426730835"/>
                  </a:ext>
                </a:extLst>
              </a:tr>
            </a:tbl>
          </a:graphicData>
        </a:graphic>
      </p:graphicFrame>
    </p:spTree>
    <p:extLst>
      <p:ext uri="{BB962C8B-B14F-4D97-AF65-F5344CB8AC3E}">
        <p14:creationId xmlns:p14="http://schemas.microsoft.com/office/powerpoint/2010/main" val="26496027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xmlns="" id="{204B99A6-3C9D-941B-3DD7-376A592CB27B}"/>
              </a:ext>
            </a:extLst>
          </p:cNvPr>
          <p:cNvGraphicFramePr>
            <a:graphicFrameLocks noGrp="1"/>
          </p:cNvGraphicFramePr>
          <p:nvPr>
            <p:ph idx="1"/>
            <p:extLst>
              <p:ext uri="{D42A27DB-BD31-4B8C-83A1-F6EECF244321}">
                <p14:modId xmlns:p14="http://schemas.microsoft.com/office/powerpoint/2010/main" val="3730031883"/>
              </p:ext>
            </p:extLst>
          </p:nvPr>
        </p:nvGraphicFramePr>
        <p:xfrm>
          <a:off x="86496" y="131804"/>
          <a:ext cx="12019008" cy="6590271"/>
        </p:xfrm>
        <a:graphic>
          <a:graphicData uri="http://schemas.openxmlformats.org/drawingml/2006/table">
            <a:tbl>
              <a:tblPr firstRow="1" bandRow="1">
                <a:tableStyleId>{5C22544A-7EE6-4342-B048-85BDC9FD1C3A}</a:tableStyleId>
              </a:tblPr>
              <a:tblGrid>
                <a:gridCol w="655435">
                  <a:extLst>
                    <a:ext uri="{9D8B030D-6E8A-4147-A177-3AD203B41FA5}">
                      <a16:colId xmlns:a16="http://schemas.microsoft.com/office/drawing/2014/main" xmlns="" val="4249591745"/>
                    </a:ext>
                  </a:extLst>
                </a:gridCol>
                <a:gridCol w="1922954">
                  <a:extLst>
                    <a:ext uri="{9D8B030D-6E8A-4147-A177-3AD203B41FA5}">
                      <a16:colId xmlns:a16="http://schemas.microsoft.com/office/drawing/2014/main" xmlns="" val="2048446310"/>
                    </a:ext>
                  </a:extLst>
                </a:gridCol>
                <a:gridCol w="1541942">
                  <a:extLst>
                    <a:ext uri="{9D8B030D-6E8A-4147-A177-3AD203B41FA5}">
                      <a16:colId xmlns:a16="http://schemas.microsoft.com/office/drawing/2014/main" xmlns="" val="71004942"/>
                    </a:ext>
                  </a:extLst>
                </a:gridCol>
                <a:gridCol w="1700673">
                  <a:extLst>
                    <a:ext uri="{9D8B030D-6E8A-4147-A177-3AD203B41FA5}">
                      <a16:colId xmlns:a16="http://schemas.microsoft.com/office/drawing/2014/main" xmlns="" val="3060839510"/>
                    </a:ext>
                  </a:extLst>
                </a:gridCol>
                <a:gridCol w="2548603">
                  <a:extLst>
                    <a:ext uri="{9D8B030D-6E8A-4147-A177-3AD203B41FA5}">
                      <a16:colId xmlns:a16="http://schemas.microsoft.com/office/drawing/2014/main" xmlns="" val="821079912"/>
                    </a:ext>
                  </a:extLst>
                </a:gridCol>
                <a:gridCol w="3649401">
                  <a:extLst>
                    <a:ext uri="{9D8B030D-6E8A-4147-A177-3AD203B41FA5}">
                      <a16:colId xmlns:a16="http://schemas.microsoft.com/office/drawing/2014/main" xmlns="" val="2304526528"/>
                    </a:ext>
                  </a:extLst>
                </a:gridCol>
              </a:tblGrid>
              <a:tr h="1283819">
                <a:tc>
                  <a:txBody>
                    <a:bodyPr/>
                    <a:lstStyle/>
                    <a:p>
                      <a:r>
                        <a:rPr lang="en-US" dirty="0" err="1">
                          <a:latin typeface="Times New Roman" panose="02020603050405020304" pitchFamily="18" charset="0"/>
                          <a:cs typeface="Times New Roman" panose="02020603050405020304" pitchFamily="18" charset="0"/>
                        </a:rPr>
                        <a:t>Sl</a:t>
                      </a:r>
                      <a:r>
                        <a:rPr lang="en-US" dirty="0">
                          <a:latin typeface="Times New Roman" panose="02020603050405020304" pitchFamily="18" charset="0"/>
                          <a:cs typeface="Times New Roman" panose="02020603050405020304" pitchFamily="18" charset="0"/>
                        </a:rPr>
                        <a:t> . No</a:t>
                      </a:r>
                    </a:p>
                  </a:txBody>
                  <a:tcPr/>
                </a:tc>
                <a:tc>
                  <a:txBody>
                    <a:bodyPr/>
                    <a:lstStyle/>
                    <a:p>
                      <a:r>
                        <a:rPr lang="en-US" dirty="0">
                          <a:latin typeface="Times New Roman" panose="02020603050405020304" pitchFamily="18" charset="0"/>
                          <a:cs typeface="Times New Roman" panose="02020603050405020304" pitchFamily="18" charset="0"/>
                        </a:rPr>
                        <a:t>Paper Title</a:t>
                      </a:r>
                    </a:p>
                  </a:txBody>
                  <a:tcPr/>
                </a:tc>
                <a:tc>
                  <a:txBody>
                    <a:bodyPr/>
                    <a:lstStyle/>
                    <a:p>
                      <a:r>
                        <a:rPr lang="en-US" dirty="0">
                          <a:latin typeface="Times New Roman" panose="02020603050405020304" pitchFamily="18" charset="0"/>
                          <a:cs typeface="Times New Roman" panose="02020603050405020304" pitchFamily="18" charset="0"/>
                        </a:rPr>
                        <a:t>Authors, Publisher &amp; Publication Year</a:t>
                      </a:r>
                    </a:p>
                  </a:txBody>
                  <a:tcPr/>
                </a:tc>
                <a:tc>
                  <a:txBody>
                    <a:bodyPr/>
                    <a:lstStyle/>
                    <a:p>
                      <a:r>
                        <a:rPr lang="en-US" dirty="0">
                          <a:latin typeface="Times New Roman" panose="02020603050405020304" pitchFamily="18" charset="0"/>
                          <a:cs typeface="Times New Roman" panose="02020603050405020304" pitchFamily="18" charset="0"/>
                        </a:rPr>
                        <a:t>Problem Identified</a:t>
                      </a:r>
                    </a:p>
                  </a:txBody>
                  <a:tcPr/>
                </a:tc>
                <a:tc>
                  <a:txBody>
                    <a:bodyPr/>
                    <a:lstStyle/>
                    <a:p>
                      <a:r>
                        <a:rPr lang="en-US" dirty="0">
                          <a:latin typeface="Times New Roman" panose="02020603050405020304" pitchFamily="18" charset="0"/>
                          <a:cs typeface="Times New Roman" panose="02020603050405020304" pitchFamily="18" charset="0"/>
                        </a:rPr>
                        <a:t>Techniques used</a:t>
                      </a:r>
                    </a:p>
                  </a:txBody>
                  <a:tcPr/>
                </a:tc>
                <a:tc>
                  <a:txBody>
                    <a:bodyPr/>
                    <a:lstStyle/>
                    <a:p>
                      <a:r>
                        <a:rPr lang="en-US" dirty="0">
                          <a:latin typeface="Times New Roman" panose="02020603050405020304" pitchFamily="18" charset="0"/>
                          <a:cs typeface="Times New Roman" panose="02020603050405020304" pitchFamily="18" charset="0"/>
                        </a:rPr>
                        <a:t>Outcome</a:t>
                      </a:r>
                    </a:p>
                  </a:txBody>
                  <a:tcPr/>
                </a:tc>
                <a:extLst>
                  <a:ext uri="{0D108BD9-81ED-4DB2-BD59-A6C34878D82A}">
                    <a16:rowId xmlns:a16="http://schemas.microsoft.com/office/drawing/2014/main" xmlns="" val="422556544"/>
                  </a:ext>
                </a:extLst>
              </a:tr>
              <a:tr h="5306452">
                <a:tc>
                  <a:txBody>
                    <a:bodyPr/>
                    <a:lstStyle/>
                    <a:p>
                      <a:pPr algn="ctr"/>
                      <a:r>
                        <a:rPr lang="en-US" b="1" dirty="0">
                          <a:latin typeface="Times New Roman" panose="02020603050405020304" pitchFamily="18" charset="0"/>
                          <a:cs typeface="Times New Roman" panose="02020603050405020304" pitchFamily="18" charset="0"/>
                        </a:rPr>
                        <a:t>9</a:t>
                      </a:r>
                      <a:r>
                        <a:rPr lang="en-US" b="1" dirty="0" smtClean="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a:txBody>
                  <a:tcPr/>
                </a:tc>
                <a:tc>
                  <a:txBody>
                    <a:bodyPr/>
                    <a:lstStyle/>
                    <a:p>
                      <a:r>
                        <a:rPr lang="en-US" sz="2000" dirty="0" smtClean="0">
                          <a:latin typeface="Times New Roman" panose="02020603050405020304" pitchFamily="18" charset="0"/>
                          <a:cs typeface="Times New Roman" panose="02020603050405020304" pitchFamily="18" charset="0"/>
                        </a:rPr>
                        <a:t>A </a:t>
                      </a:r>
                      <a:r>
                        <a:rPr lang="en-US" sz="2000" dirty="0" err="1" smtClean="0">
                          <a:latin typeface="Times New Roman" panose="02020603050405020304" pitchFamily="18" charset="0"/>
                          <a:cs typeface="Times New Roman" panose="02020603050405020304" pitchFamily="18" charset="0"/>
                        </a:rPr>
                        <a:t>Blockchain</a:t>
                      </a:r>
                      <a:r>
                        <a:rPr lang="en-US" sz="2000" dirty="0" smtClean="0">
                          <a:latin typeface="Times New Roman" panose="02020603050405020304" pitchFamily="18" charset="0"/>
                          <a:cs typeface="Times New Roman" panose="02020603050405020304" pitchFamily="18" charset="0"/>
                        </a:rPr>
                        <a:t>-Based Access Control System for Cloud Storage</a:t>
                      </a: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txBody>
                  <a:tcPr/>
                </a:tc>
                <a:tc>
                  <a:txBody>
                    <a:bodyPr/>
                    <a:lstStyle/>
                    <a:p>
                      <a:r>
                        <a:rPr lang="en-US" sz="2000" dirty="0" err="1" smtClean="0">
                          <a:latin typeface="Times New Roman" panose="02020603050405020304" pitchFamily="18" charset="0"/>
                          <a:cs typeface="Times New Roman" panose="02020603050405020304" pitchFamily="18" charset="0"/>
                        </a:rPr>
                        <a:t>Ilya</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Sukhodolskiy</a:t>
                      </a:r>
                      <a:r>
                        <a:rPr lang="en-US" sz="2000" dirty="0" smtClean="0">
                          <a:latin typeface="Times New Roman" panose="02020603050405020304" pitchFamily="18" charset="0"/>
                          <a:cs typeface="Times New Roman" panose="02020603050405020304" pitchFamily="18" charset="0"/>
                        </a:rPr>
                        <a:t>, Sergey </a:t>
                      </a:r>
                      <a:r>
                        <a:rPr lang="en-US" sz="2000" dirty="0" err="1" smtClean="0">
                          <a:latin typeface="Times New Roman" panose="02020603050405020304" pitchFamily="18" charset="0"/>
                          <a:cs typeface="Times New Roman" panose="02020603050405020304" pitchFamily="18" charset="0"/>
                        </a:rPr>
                        <a:t>Zapechnikov</a:t>
                      </a:r>
                      <a:r>
                        <a:rPr lang="en-US" sz="2000" dirty="0" smtClean="0">
                          <a:latin typeface="Times New Roman" panose="02020603050405020304" pitchFamily="18" charset="0"/>
                          <a:cs typeface="Times New Roman" panose="02020603050405020304" pitchFamily="18" charset="0"/>
                        </a:rPr>
                        <a:t> Department of Cryptology and Cybersecurity,2018.</a:t>
                      </a:r>
                      <a:endParaRPr lang="en-US" sz="20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itchFamily="34" charset="0"/>
                        <a:buChar char="•"/>
                      </a:pPr>
                      <a:r>
                        <a:rPr lang="en-US" sz="2000" dirty="0" smtClean="0">
                          <a:latin typeface="Times New Roman" panose="02020603050405020304" pitchFamily="18" charset="0"/>
                          <a:cs typeface="Times New Roman" panose="02020603050405020304" pitchFamily="18" charset="0"/>
                        </a:rPr>
                        <a:t>Complicated</a:t>
                      </a:r>
                      <a:r>
                        <a:rPr lang="en-US" sz="2000" baseline="0" dirty="0" smtClean="0">
                          <a:latin typeface="Times New Roman" panose="02020603050405020304" pitchFamily="18" charset="0"/>
                          <a:cs typeface="Times New Roman" panose="02020603050405020304" pitchFamily="18" charset="0"/>
                        </a:rPr>
                        <a:t> to implement.</a:t>
                      </a:r>
                      <a:endParaRPr lang="en-US" sz="2000" dirty="0">
                        <a:latin typeface="Times New Roman" panose="02020603050405020304" pitchFamily="18" charset="0"/>
                        <a:cs typeface="Times New Roman" panose="02020603050405020304" pitchFamily="18"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smtClean="0">
                          <a:latin typeface="Times New Roman" panose="02020603050405020304" pitchFamily="18" charset="0"/>
                          <a:cs typeface="Times New Roman" panose="02020603050405020304" pitchFamily="18" charset="0"/>
                        </a:rPr>
                        <a:t>Cloud storage attribute-based access control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err="1" smtClean="0">
                          <a:latin typeface="Times New Roman" panose="02020603050405020304" pitchFamily="18" charset="0"/>
                          <a:cs typeface="Times New Roman" panose="02020603050405020304" pitchFamily="18" charset="0"/>
                        </a:rPr>
                        <a:t>Ciphertext</a:t>
                      </a:r>
                      <a:r>
                        <a:rPr lang="en-US" sz="2400" dirty="0" smtClean="0">
                          <a:latin typeface="Times New Roman" panose="02020603050405020304" pitchFamily="18" charset="0"/>
                          <a:cs typeface="Times New Roman" panose="02020603050405020304" pitchFamily="18" charset="0"/>
                        </a:rPr>
                        <a:t> - policy attribute - based encryption,</a:t>
                      </a:r>
                      <a:r>
                        <a:rPr lang="en-US" sz="2400" baseline="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blockchain</a:t>
                      </a:r>
                      <a:r>
                        <a:rPr lang="en-US" sz="2400" dirty="0" smtClean="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itchFamily="34" charset="0"/>
                        <a:buChar char="•"/>
                      </a:pPr>
                      <a:r>
                        <a:rPr lang="en-US" sz="2000" dirty="0" smtClean="0">
                          <a:latin typeface="Times New Roman" panose="02020603050405020304" pitchFamily="18" charset="0"/>
                          <a:cs typeface="Times New Roman" panose="02020603050405020304" pitchFamily="18" charset="0"/>
                        </a:rPr>
                        <a:t>The implementation of a software system prototype that implements the access control model of the system to data stored in untrusted environments.</a:t>
                      </a:r>
                      <a:endParaRPr lang="en-US"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426730835"/>
                  </a:ext>
                </a:extLst>
              </a:tr>
            </a:tbl>
          </a:graphicData>
        </a:graphic>
      </p:graphicFrame>
    </p:spTree>
    <p:extLst>
      <p:ext uri="{BB962C8B-B14F-4D97-AF65-F5344CB8AC3E}">
        <p14:creationId xmlns:p14="http://schemas.microsoft.com/office/powerpoint/2010/main" val="10148841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xmlns="" id="{204B99A6-3C9D-941B-3DD7-376A592CB27B}"/>
              </a:ext>
            </a:extLst>
          </p:cNvPr>
          <p:cNvGraphicFramePr>
            <a:graphicFrameLocks noGrp="1"/>
          </p:cNvGraphicFramePr>
          <p:nvPr>
            <p:ph idx="1"/>
            <p:extLst>
              <p:ext uri="{D42A27DB-BD31-4B8C-83A1-F6EECF244321}">
                <p14:modId xmlns:p14="http://schemas.microsoft.com/office/powerpoint/2010/main" val="2619114645"/>
              </p:ext>
            </p:extLst>
          </p:nvPr>
        </p:nvGraphicFramePr>
        <p:xfrm>
          <a:off x="86496" y="131804"/>
          <a:ext cx="12019008" cy="6590271"/>
        </p:xfrm>
        <a:graphic>
          <a:graphicData uri="http://schemas.openxmlformats.org/drawingml/2006/table">
            <a:tbl>
              <a:tblPr firstRow="1" bandRow="1">
                <a:tableStyleId>{5C22544A-7EE6-4342-B048-85BDC9FD1C3A}</a:tableStyleId>
              </a:tblPr>
              <a:tblGrid>
                <a:gridCol w="655435">
                  <a:extLst>
                    <a:ext uri="{9D8B030D-6E8A-4147-A177-3AD203B41FA5}">
                      <a16:colId xmlns:a16="http://schemas.microsoft.com/office/drawing/2014/main" xmlns="" val="4249591745"/>
                    </a:ext>
                  </a:extLst>
                </a:gridCol>
                <a:gridCol w="1922954">
                  <a:extLst>
                    <a:ext uri="{9D8B030D-6E8A-4147-A177-3AD203B41FA5}">
                      <a16:colId xmlns:a16="http://schemas.microsoft.com/office/drawing/2014/main" xmlns="" val="2048446310"/>
                    </a:ext>
                  </a:extLst>
                </a:gridCol>
                <a:gridCol w="1541942">
                  <a:extLst>
                    <a:ext uri="{9D8B030D-6E8A-4147-A177-3AD203B41FA5}">
                      <a16:colId xmlns:a16="http://schemas.microsoft.com/office/drawing/2014/main" xmlns="" val="71004942"/>
                    </a:ext>
                  </a:extLst>
                </a:gridCol>
                <a:gridCol w="2538878">
                  <a:extLst>
                    <a:ext uri="{9D8B030D-6E8A-4147-A177-3AD203B41FA5}">
                      <a16:colId xmlns:a16="http://schemas.microsoft.com/office/drawing/2014/main" xmlns="" val="3060839510"/>
                    </a:ext>
                  </a:extLst>
                </a:gridCol>
                <a:gridCol w="1936901">
                  <a:extLst>
                    <a:ext uri="{9D8B030D-6E8A-4147-A177-3AD203B41FA5}">
                      <a16:colId xmlns:a16="http://schemas.microsoft.com/office/drawing/2014/main" xmlns="" val="821079912"/>
                    </a:ext>
                  </a:extLst>
                </a:gridCol>
                <a:gridCol w="3422898">
                  <a:extLst>
                    <a:ext uri="{9D8B030D-6E8A-4147-A177-3AD203B41FA5}">
                      <a16:colId xmlns:a16="http://schemas.microsoft.com/office/drawing/2014/main" xmlns="" val="2304526528"/>
                    </a:ext>
                  </a:extLst>
                </a:gridCol>
              </a:tblGrid>
              <a:tr h="1283819">
                <a:tc>
                  <a:txBody>
                    <a:bodyPr/>
                    <a:lstStyle/>
                    <a:p>
                      <a:r>
                        <a:rPr lang="en-US" dirty="0" err="1">
                          <a:latin typeface="Times New Roman" panose="02020603050405020304" pitchFamily="18" charset="0"/>
                          <a:cs typeface="Times New Roman" panose="02020603050405020304" pitchFamily="18" charset="0"/>
                        </a:rPr>
                        <a:t>Sl</a:t>
                      </a:r>
                      <a:r>
                        <a:rPr lang="en-US" dirty="0">
                          <a:latin typeface="Times New Roman" panose="02020603050405020304" pitchFamily="18" charset="0"/>
                          <a:cs typeface="Times New Roman" panose="02020603050405020304" pitchFamily="18" charset="0"/>
                        </a:rPr>
                        <a:t> . No</a:t>
                      </a:r>
                    </a:p>
                  </a:txBody>
                  <a:tcPr/>
                </a:tc>
                <a:tc>
                  <a:txBody>
                    <a:bodyPr/>
                    <a:lstStyle/>
                    <a:p>
                      <a:r>
                        <a:rPr lang="en-US" dirty="0">
                          <a:latin typeface="Times New Roman" panose="02020603050405020304" pitchFamily="18" charset="0"/>
                          <a:cs typeface="Times New Roman" panose="02020603050405020304" pitchFamily="18" charset="0"/>
                        </a:rPr>
                        <a:t>Paper Title</a:t>
                      </a:r>
                    </a:p>
                  </a:txBody>
                  <a:tcPr/>
                </a:tc>
                <a:tc>
                  <a:txBody>
                    <a:bodyPr/>
                    <a:lstStyle/>
                    <a:p>
                      <a:r>
                        <a:rPr lang="en-US" dirty="0">
                          <a:latin typeface="Times New Roman" panose="02020603050405020304" pitchFamily="18" charset="0"/>
                          <a:cs typeface="Times New Roman" panose="02020603050405020304" pitchFamily="18" charset="0"/>
                        </a:rPr>
                        <a:t>Authors, Publisher &amp; Publication Year</a:t>
                      </a:r>
                    </a:p>
                  </a:txBody>
                  <a:tcPr/>
                </a:tc>
                <a:tc>
                  <a:txBody>
                    <a:bodyPr/>
                    <a:lstStyle/>
                    <a:p>
                      <a:r>
                        <a:rPr lang="en-US" dirty="0" smtClean="0">
                          <a:latin typeface="Times New Roman" panose="02020603050405020304" pitchFamily="18" charset="0"/>
                          <a:cs typeface="Times New Roman" panose="02020603050405020304" pitchFamily="18" charset="0"/>
                        </a:rPr>
                        <a:t>Problem  </a:t>
                      </a:r>
                      <a:r>
                        <a:rPr lang="en-US" dirty="0">
                          <a:latin typeface="Times New Roman" panose="02020603050405020304" pitchFamily="18" charset="0"/>
                          <a:cs typeface="Times New Roman" panose="02020603050405020304" pitchFamily="18" charset="0"/>
                        </a:rPr>
                        <a:t>Identified</a:t>
                      </a:r>
                    </a:p>
                  </a:txBody>
                  <a:tcPr/>
                </a:tc>
                <a:tc>
                  <a:txBody>
                    <a:bodyPr/>
                    <a:lstStyle/>
                    <a:p>
                      <a:r>
                        <a:rPr lang="en-US" dirty="0">
                          <a:latin typeface="Times New Roman" panose="02020603050405020304" pitchFamily="18" charset="0"/>
                          <a:cs typeface="Times New Roman" panose="02020603050405020304" pitchFamily="18" charset="0"/>
                        </a:rPr>
                        <a:t>Techniques used</a:t>
                      </a:r>
                    </a:p>
                  </a:txBody>
                  <a:tcPr/>
                </a:tc>
                <a:tc>
                  <a:txBody>
                    <a:bodyPr/>
                    <a:lstStyle/>
                    <a:p>
                      <a:r>
                        <a:rPr lang="en-US" dirty="0">
                          <a:latin typeface="Times New Roman" panose="02020603050405020304" pitchFamily="18" charset="0"/>
                          <a:cs typeface="Times New Roman" panose="02020603050405020304" pitchFamily="18" charset="0"/>
                        </a:rPr>
                        <a:t>Outcome</a:t>
                      </a:r>
                    </a:p>
                  </a:txBody>
                  <a:tcPr/>
                </a:tc>
                <a:extLst>
                  <a:ext uri="{0D108BD9-81ED-4DB2-BD59-A6C34878D82A}">
                    <a16:rowId xmlns:a16="http://schemas.microsoft.com/office/drawing/2014/main" xmlns="" val="422556544"/>
                  </a:ext>
                </a:extLst>
              </a:tr>
              <a:tr h="5306452">
                <a:tc>
                  <a:txBody>
                    <a:bodyPr/>
                    <a:lstStyle/>
                    <a:p>
                      <a:pPr algn="ctr"/>
                      <a:r>
                        <a:rPr lang="en-US" b="1" dirty="0" smtClean="0">
                          <a:latin typeface="Times New Roman" panose="02020603050405020304" pitchFamily="18" charset="0"/>
                          <a:cs typeface="Times New Roman" panose="02020603050405020304" pitchFamily="18" charset="0"/>
                        </a:rPr>
                        <a:t>10.</a:t>
                      </a:r>
                      <a:endParaRPr lang="en-US" b="1"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latin typeface="Times New Roman" panose="02020603050405020304" pitchFamily="18" charset="0"/>
                          <a:cs typeface="Times New Roman" panose="02020603050405020304" pitchFamily="18" charset="0"/>
                        </a:rPr>
                        <a:t>A </a:t>
                      </a:r>
                      <a:r>
                        <a:rPr lang="en-US" dirty="0" err="1" smtClean="0">
                          <a:latin typeface="Times New Roman" panose="02020603050405020304" pitchFamily="18" charset="0"/>
                          <a:cs typeface="Times New Roman" panose="02020603050405020304" pitchFamily="18" charset="0"/>
                        </a:rPr>
                        <a:t>Blockchain</a:t>
                      </a:r>
                      <a:r>
                        <a:rPr lang="en-US" dirty="0" smtClean="0">
                          <a:latin typeface="Times New Roman" panose="02020603050405020304" pitchFamily="18" charset="0"/>
                          <a:cs typeface="Times New Roman" panose="02020603050405020304" pitchFamily="18" charset="0"/>
                        </a:rPr>
                        <a:t>-based Data Provenance Architecture in Cloud Environment with Enhanced Privacy and Availability</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txBody>
                  <a:tcPr/>
                </a:tc>
                <a:tc>
                  <a:txBody>
                    <a:bodyPr/>
                    <a:lstStyle/>
                    <a:p>
                      <a:r>
                        <a:rPr lang="en-US" dirty="0" err="1" smtClean="0">
                          <a:latin typeface="Times New Roman" panose="02020603050405020304" pitchFamily="18" charset="0"/>
                          <a:cs typeface="Times New Roman" panose="02020603050405020304" pitchFamily="18" charset="0"/>
                        </a:rPr>
                        <a:t>Xueping</a:t>
                      </a:r>
                      <a:r>
                        <a:rPr lang="en-US" dirty="0" smtClean="0">
                          <a:latin typeface="Times New Roman" panose="02020603050405020304" pitchFamily="18" charset="0"/>
                          <a:cs typeface="Times New Roman" panose="02020603050405020304" pitchFamily="18" charset="0"/>
                        </a:rPr>
                        <a:t> Liang, </a:t>
                      </a:r>
                      <a:r>
                        <a:rPr lang="en-US" dirty="0" err="1" smtClean="0">
                          <a:latin typeface="Times New Roman" panose="02020603050405020304" pitchFamily="18" charset="0"/>
                          <a:cs typeface="Times New Roman" panose="02020603050405020304" pitchFamily="18" charset="0"/>
                        </a:rPr>
                        <a:t>Sachin</a:t>
                      </a:r>
                      <a:r>
                        <a:rPr lang="en-US" dirty="0" smtClean="0">
                          <a:latin typeface="Times New Roman" panose="02020603050405020304" pitchFamily="18" charset="0"/>
                          <a:cs typeface="Times New Roman" panose="02020603050405020304" pitchFamily="18" charset="0"/>
                        </a:rPr>
                        <a:t> </a:t>
                      </a:r>
                      <a:r>
                        <a:rPr lang="en-US" dirty="0" err="1" smtClean="0">
                          <a:latin typeface="Times New Roman" panose="02020603050405020304" pitchFamily="18" charset="0"/>
                          <a:cs typeface="Times New Roman" panose="02020603050405020304" pitchFamily="18" charset="0"/>
                        </a:rPr>
                        <a:t>Shetty</a:t>
                      </a:r>
                      <a:r>
                        <a:rPr lang="en-US" dirty="0" smtClean="0">
                          <a:latin typeface="Times New Roman" panose="02020603050405020304" pitchFamily="18" charset="0"/>
                          <a:cs typeface="Times New Roman" panose="02020603050405020304" pitchFamily="18" charset="0"/>
                        </a:rPr>
                        <a:t>, Deepak Tosh, Charles </a:t>
                      </a:r>
                      <a:r>
                        <a:rPr lang="en-US" dirty="0" err="1" smtClean="0">
                          <a:latin typeface="Times New Roman" panose="02020603050405020304" pitchFamily="18" charset="0"/>
                          <a:cs typeface="Times New Roman" panose="02020603050405020304" pitchFamily="18" charset="0"/>
                        </a:rPr>
                        <a:t>Kamhoua</a:t>
                      </a:r>
                      <a:r>
                        <a:rPr lang="en-US" dirty="0" smtClean="0">
                          <a:latin typeface="Times New Roman" panose="02020603050405020304" pitchFamily="18" charset="0"/>
                          <a:cs typeface="Times New Roman" panose="02020603050405020304" pitchFamily="18" charset="0"/>
                        </a:rPr>
                        <a:t>, Kevin </a:t>
                      </a:r>
                      <a:r>
                        <a:rPr lang="en-US" dirty="0" err="1" smtClean="0">
                          <a:latin typeface="Times New Roman" panose="02020603050405020304" pitchFamily="18" charset="0"/>
                          <a:cs typeface="Times New Roman" panose="02020603050405020304" pitchFamily="18" charset="0"/>
                        </a:rPr>
                        <a:t>Kwiat</a:t>
                      </a:r>
                      <a:r>
                        <a:rPr lang="en-US" dirty="0" smtClean="0">
                          <a:latin typeface="Times New Roman" panose="02020603050405020304" pitchFamily="18" charset="0"/>
                          <a:cs typeface="Times New Roman" panose="02020603050405020304" pitchFamily="18" charset="0"/>
                        </a:rPr>
                        <a:t>, and Laurent </a:t>
                      </a:r>
                      <a:r>
                        <a:rPr lang="en-US" dirty="0" err="1" smtClean="0">
                          <a:latin typeface="Times New Roman" panose="02020603050405020304" pitchFamily="18" charset="0"/>
                          <a:cs typeface="Times New Roman" panose="02020603050405020304" pitchFamily="18" charset="0"/>
                        </a:rPr>
                        <a:t>Njilla</a:t>
                      </a:r>
                      <a:r>
                        <a:rPr lang="en-US" dirty="0" smtClean="0">
                          <a:latin typeface="Times New Roman" panose="02020603050405020304" pitchFamily="18" charset="0"/>
                          <a:cs typeface="Times New Roman" panose="02020603050405020304" pitchFamily="18" charset="0"/>
                        </a:rPr>
                        <a:t>, 2017</a:t>
                      </a:r>
                      <a:endParaRPr lang="en-US" dirty="0">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dirty="0" smtClean="0">
                          <a:latin typeface="Times New Roman" panose="02020603050405020304" pitchFamily="18" charset="0"/>
                          <a:cs typeface="Times New Roman" panose="02020603050405020304" pitchFamily="18" charset="0"/>
                        </a:rPr>
                        <a:t>Files are used as a data unit instead data chunk can be used in cloud storage.</a:t>
                      </a:r>
                    </a:p>
                    <a:p>
                      <a:endParaRPr lang="en-US"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itchFamily="34" charset="0"/>
                        <a:buChar char="•"/>
                      </a:pPr>
                      <a:r>
                        <a:rPr lang="en-US" dirty="0" smtClean="0">
                          <a:latin typeface="Times New Roman" panose="02020603050405020304" pitchFamily="18" charset="0"/>
                          <a:cs typeface="Times New Roman" panose="02020603050405020304" pitchFamily="18" charset="0"/>
                        </a:rPr>
                        <a:t>Data provenance, </a:t>
                      </a:r>
                      <a:r>
                        <a:rPr lang="en-US" dirty="0" err="1" smtClean="0">
                          <a:latin typeface="Times New Roman" panose="02020603050405020304" pitchFamily="18" charset="0"/>
                          <a:cs typeface="Times New Roman" panose="02020603050405020304" pitchFamily="18" charset="0"/>
                        </a:rPr>
                        <a:t>Blockchain</a:t>
                      </a:r>
                      <a:r>
                        <a:rPr lang="en-US" dirty="0" smtClean="0">
                          <a:latin typeface="Times New Roman" panose="02020603050405020304" pitchFamily="18" charset="0"/>
                          <a:cs typeface="Times New Roman" panose="02020603050405020304" pitchFamily="18" charset="0"/>
                        </a:rPr>
                        <a:t>, Cloud Computing.</a:t>
                      </a:r>
                    </a:p>
                    <a:p>
                      <a:pPr marL="285750" indent="-285750">
                        <a:buFont typeface="Arial" pitchFamily="34" charset="0"/>
                        <a:buChar char="•"/>
                      </a:pPr>
                      <a:r>
                        <a:rPr lang="en-US" dirty="0" smtClean="0">
                          <a:latin typeface="Times New Roman" panose="02020603050405020304" pitchFamily="18" charset="0"/>
                          <a:cs typeface="Times New Roman" panose="02020603050405020304" pitchFamily="18" charset="0"/>
                        </a:rPr>
                        <a:t>Privacy, Reliability, </a:t>
                      </a:r>
                      <a:r>
                        <a:rPr lang="en-US" dirty="0" err="1" smtClean="0">
                          <a:latin typeface="Times New Roman" panose="02020603050405020304" pitchFamily="18" charset="0"/>
                          <a:cs typeface="Times New Roman" panose="02020603050405020304" pitchFamily="18" charset="0"/>
                        </a:rPr>
                        <a:t>Blockchain</a:t>
                      </a:r>
                      <a:r>
                        <a:rPr lang="en-US" dirty="0" smtClean="0">
                          <a:latin typeface="Times New Roman" panose="02020603050405020304" pitchFamily="18" charset="0"/>
                          <a:cs typeface="Times New Roman" panose="02020603050405020304" pitchFamily="18" charset="0"/>
                        </a:rPr>
                        <a:t> Cloud.</a:t>
                      </a:r>
                      <a:endParaRPr lang="en-US"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itchFamily="34" charset="0"/>
                        <a:buChar char="•"/>
                      </a:pPr>
                      <a:r>
                        <a:rPr lang="en-US" dirty="0" smtClean="0">
                          <a:latin typeface="Times New Roman" panose="02020603050405020304" pitchFamily="18" charset="0"/>
                          <a:cs typeface="Times New Roman" panose="02020603050405020304" pitchFamily="18" charset="0"/>
                        </a:rPr>
                        <a:t>The design and implementation of </a:t>
                      </a:r>
                      <a:r>
                        <a:rPr lang="en-US" dirty="0" err="1" smtClean="0">
                          <a:latin typeface="Times New Roman" panose="02020603050405020304" pitchFamily="18" charset="0"/>
                          <a:cs typeface="Times New Roman" panose="02020603050405020304" pitchFamily="18" charset="0"/>
                        </a:rPr>
                        <a:t>ProvChain</a:t>
                      </a:r>
                      <a:r>
                        <a:rPr lang="en-US" dirty="0" smtClean="0">
                          <a:latin typeface="Times New Roman" panose="02020603050405020304" pitchFamily="18" charset="0"/>
                          <a:cs typeface="Times New Roman" panose="02020603050405020304" pitchFamily="18" charset="0"/>
                        </a:rPr>
                        <a:t>, a </a:t>
                      </a:r>
                      <a:r>
                        <a:rPr lang="en-US" dirty="0" err="1" smtClean="0">
                          <a:latin typeface="Times New Roman" panose="02020603050405020304" pitchFamily="18" charset="0"/>
                          <a:cs typeface="Times New Roman" panose="02020603050405020304" pitchFamily="18" charset="0"/>
                        </a:rPr>
                        <a:t>blockchain</a:t>
                      </a:r>
                      <a:r>
                        <a:rPr lang="en-US" dirty="0" smtClean="0">
                          <a:latin typeface="Times New Roman" panose="02020603050405020304" pitchFamily="18" charset="0"/>
                          <a:cs typeface="Times New Roman" panose="02020603050405020304" pitchFamily="18" charset="0"/>
                        </a:rPr>
                        <a:t> based data provenance system for cloud auditing, with preserved user privacy and increased availability. </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xmlns="" val="426730835"/>
                  </a:ext>
                </a:extLst>
              </a:tr>
            </a:tbl>
          </a:graphicData>
        </a:graphic>
      </p:graphicFrame>
    </p:spTree>
    <p:extLst>
      <p:ext uri="{BB962C8B-B14F-4D97-AF65-F5344CB8AC3E}">
        <p14:creationId xmlns:p14="http://schemas.microsoft.com/office/powerpoint/2010/main" val="20113040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2"/>
          <p:cNvSpPr>
            <a:spLocks noGrp="1"/>
          </p:cNvSpPr>
          <p:nvPr>
            <p:ph type="title"/>
          </p:nvPr>
        </p:nvSpPr>
        <p:spPr>
          <a:xfrm>
            <a:off x="609600" y="274638"/>
            <a:ext cx="10972800" cy="991454"/>
          </a:xfrm>
        </p:spPr>
        <p:txBody>
          <a:bodyPr>
            <a:normAutofit/>
          </a:bodyPr>
          <a:lstStyle/>
          <a:p>
            <a:pPr algn="just" eaLnBrk="1" hangingPunct="1"/>
            <a:r>
              <a:rPr lang="en-US" altLang="en-US" sz="4400" dirty="0">
                <a:solidFill>
                  <a:srgbClr val="C00000"/>
                </a:solidFill>
                <a:latin typeface="Times New Roman" panose="02020603050405020304" pitchFamily="18" charset="0"/>
                <a:cs typeface="Times New Roman" panose="02020603050405020304" pitchFamily="18" charset="0"/>
              </a:rPr>
              <a:t>Existing </a:t>
            </a:r>
            <a:r>
              <a:rPr lang="en-US" altLang="en-US" sz="4400" dirty="0" smtClean="0">
                <a:solidFill>
                  <a:srgbClr val="C00000"/>
                </a:solidFill>
                <a:latin typeface="Times New Roman" panose="02020603050405020304" pitchFamily="18" charset="0"/>
                <a:cs typeface="Times New Roman" panose="02020603050405020304" pitchFamily="18" charset="0"/>
              </a:rPr>
              <a:t>system and Limitations</a:t>
            </a:r>
            <a:endParaRPr lang="en-US" altLang="en-US" sz="4400" dirty="0">
              <a:solidFill>
                <a:srgbClr val="C00000"/>
              </a:solidFill>
              <a:latin typeface="Times New Roman" panose="02020603050405020304" pitchFamily="18" charset="0"/>
              <a:cs typeface="Times New Roman" panose="02020603050405020304" pitchFamily="18" charset="0"/>
            </a:endParaRPr>
          </a:p>
        </p:txBody>
      </p:sp>
      <p:sp>
        <p:nvSpPr>
          <p:cNvPr id="3" name="Rectangle 2"/>
          <p:cNvSpPr/>
          <p:nvPr/>
        </p:nvSpPr>
        <p:spPr>
          <a:xfrm>
            <a:off x="698269" y="1582341"/>
            <a:ext cx="10216341" cy="3970318"/>
          </a:xfrm>
          <a:prstGeom prst="rect">
            <a:avLst/>
          </a:prstGeom>
        </p:spPr>
        <p:txBody>
          <a:bodyPr wrap="square">
            <a:spAutoFit/>
          </a:bodyPr>
          <a:lstStyle/>
          <a:p>
            <a:pPr marL="342900" indent="-342900" algn="just">
              <a:lnSpc>
                <a:spcPct val="150000"/>
              </a:lnSpc>
              <a:buFont typeface="Wingdings" pitchFamily="2" charset="2"/>
              <a:buChar char="Ø"/>
            </a:pPr>
            <a:r>
              <a:rPr lang="en-US" sz="2400" dirty="0">
                <a:latin typeface="Times New Roman" pitchFamily="18" charset="0"/>
                <a:cs typeface="Times New Roman" pitchFamily="18" charset="0"/>
              </a:rPr>
              <a:t>Most organizations around the world create huge amounts of data through their day-to-day work. This data needs to be stored somewhere and should be easily accessible. </a:t>
            </a:r>
            <a:endParaRPr lang="en-US" sz="2400" dirty="0" smtClean="0">
              <a:latin typeface="Times New Roman" pitchFamily="18" charset="0"/>
              <a:cs typeface="Times New Roman" pitchFamily="18" charset="0"/>
            </a:endParaRPr>
          </a:p>
          <a:p>
            <a:pPr marL="342900" indent="-342900" algn="just">
              <a:lnSpc>
                <a:spcPct val="150000"/>
              </a:lnSpc>
              <a:buFont typeface="Wingdings" pitchFamily="2" charset="2"/>
              <a:buChar char="Ø"/>
            </a:pPr>
            <a:r>
              <a:rPr lang="en-US" sz="2400" dirty="0" smtClean="0">
                <a:latin typeface="Times New Roman" pitchFamily="18" charset="0"/>
                <a:cs typeface="Times New Roman" pitchFamily="18" charset="0"/>
              </a:rPr>
              <a:t>This </a:t>
            </a:r>
            <a:r>
              <a:rPr lang="en-US" sz="2400" dirty="0">
                <a:latin typeface="Times New Roman" pitchFamily="18" charset="0"/>
                <a:cs typeface="Times New Roman" pitchFamily="18" charset="0"/>
              </a:rPr>
              <a:t>storage &amp; easy access to huge data itself becomes a big problem for such organizations</a:t>
            </a:r>
            <a:r>
              <a:rPr lang="en-US" sz="2400" dirty="0" smtClean="0">
                <a:latin typeface="Times New Roman" pitchFamily="18" charset="0"/>
                <a:cs typeface="Times New Roman" pitchFamily="18" charset="0"/>
              </a:rPr>
              <a:t>. Cloud </a:t>
            </a:r>
            <a:r>
              <a:rPr lang="en-US" sz="2400" dirty="0">
                <a:latin typeface="Times New Roman" pitchFamily="18" charset="0"/>
                <a:cs typeface="Times New Roman" pitchFamily="18" charset="0"/>
              </a:rPr>
              <a:t>as an emerging technology provides a solution to this problem by allowing such organizations to store data on cloud storage and it can be easily accessed through the internet. </a:t>
            </a:r>
            <a:endParaRPr lang="en-US" sz="2400" dirty="0" smtClean="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31520" y="1106208"/>
            <a:ext cx="10216341" cy="4616648"/>
          </a:xfrm>
          <a:prstGeom prst="rect">
            <a:avLst/>
          </a:prstGeom>
        </p:spPr>
        <p:txBody>
          <a:bodyPr wrap="square">
            <a:spAutoFit/>
          </a:bodyPr>
          <a:lstStyle/>
          <a:p>
            <a:pPr marL="342900" indent="-342900" algn="just">
              <a:lnSpc>
                <a:spcPct val="150000"/>
              </a:lnSpc>
              <a:buFont typeface="Wingdings" pitchFamily="2" charset="2"/>
              <a:buChar char="Ø"/>
            </a:pPr>
            <a:r>
              <a:rPr lang="en-US" sz="2400" dirty="0" smtClean="0">
                <a:latin typeface="Times New Roman" pitchFamily="18" charset="0"/>
                <a:cs typeface="Times New Roman" pitchFamily="18" charset="0"/>
              </a:rPr>
              <a:t>This </a:t>
            </a:r>
            <a:r>
              <a:rPr lang="en-US" sz="2400" dirty="0">
                <a:latin typeface="Times New Roman" pitchFamily="18" charset="0"/>
                <a:cs typeface="Times New Roman" pitchFamily="18" charset="0"/>
              </a:rPr>
              <a:t>also resulted in a vast shift of organizations from on-premises to cloud. With </a:t>
            </a:r>
            <a:r>
              <a:rPr lang="en-US" sz="2400" dirty="0" err="1">
                <a:latin typeface="Times New Roman" pitchFamily="18" charset="0"/>
                <a:cs typeface="Times New Roman" pitchFamily="18" charset="0"/>
              </a:rPr>
              <a:t>with</a:t>
            </a:r>
            <a:r>
              <a:rPr lang="en-US" sz="2400" dirty="0">
                <a:latin typeface="Times New Roman" pitchFamily="18" charset="0"/>
                <a:cs typeface="Times New Roman" pitchFamily="18" charset="0"/>
              </a:rPr>
              <a:t> the adoption of cloud storage, organizations don’t need to manage their data locally and also make this data available anytime anywhere through the internet as per the requirement of the user(public access/private access</a:t>
            </a:r>
            <a:r>
              <a:rPr lang="en-US" sz="2400" dirty="0" smtClean="0">
                <a:latin typeface="Times New Roman" pitchFamily="18" charset="0"/>
                <a:cs typeface="Times New Roman" pitchFamily="18" charset="0"/>
              </a:rPr>
              <a:t>).</a:t>
            </a:r>
          </a:p>
          <a:p>
            <a:pPr algn="just">
              <a:lnSpc>
                <a:spcPct val="150000"/>
              </a:lnSpc>
            </a:pPr>
            <a:r>
              <a:rPr lang="en-US" sz="2800" b="1" dirty="0" smtClean="0">
                <a:latin typeface="Times New Roman" pitchFamily="18" charset="0"/>
                <a:cs typeface="Times New Roman" pitchFamily="18" charset="0"/>
              </a:rPr>
              <a:t>    Disadvantages</a:t>
            </a:r>
            <a:endParaRPr lang="en-IN" sz="2800" b="1" dirty="0" smtClean="0">
              <a:latin typeface="Times New Roman" pitchFamily="18" charset="0"/>
              <a:cs typeface="Times New Roman" pitchFamily="18" charset="0"/>
            </a:endParaRPr>
          </a:p>
          <a:p>
            <a:pPr marL="342900" lvl="0" indent="-342900" algn="just">
              <a:lnSpc>
                <a:spcPct val="150000"/>
              </a:lnSpc>
              <a:buFont typeface="Wingdings" pitchFamily="2" charset="2"/>
              <a:buChar char="Ø"/>
            </a:pPr>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is difficult to maintain log information securely in a database server</a:t>
            </a:r>
            <a:r>
              <a:rPr lang="en-US" sz="2400" dirty="0" smtClean="0">
                <a:latin typeface="Times New Roman" pitchFamily="18" charset="0"/>
                <a:cs typeface="Times New Roman" pitchFamily="18" charset="0"/>
              </a:rPr>
              <a:t>.</a:t>
            </a:r>
            <a:endParaRPr lang="en-IN" sz="2400" dirty="0">
              <a:latin typeface="Times New Roman" pitchFamily="18" charset="0"/>
              <a:cs typeface="Times New Roman" pitchFamily="18" charset="0"/>
            </a:endParaRPr>
          </a:p>
          <a:p>
            <a:pPr marL="342900" lvl="0" indent="-342900" algn="just">
              <a:lnSpc>
                <a:spcPct val="150000"/>
              </a:lnSpc>
              <a:buFont typeface="Wingdings" pitchFamily="2" charset="2"/>
              <a:buChar char="Ø"/>
            </a:pPr>
            <a:r>
              <a:rPr lang="en-US" sz="2400" dirty="0">
                <a:latin typeface="Times New Roman" pitchFamily="18" charset="0"/>
                <a:cs typeface="Times New Roman" pitchFamily="18" charset="0"/>
              </a:rPr>
              <a:t>Database can be easily hacked and data can be leaked.</a:t>
            </a:r>
            <a:endParaRPr lang="en-IN" sz="2400" dirty="0">
              <a:latin typeface="Times New Roman" pitchFamily="18" charset="0"/>
              <a:cs typeface="Times New Roman" pitchFamily="18" charset="0"/>
            </a:endParaRPr>
          </a:p>
          <a:p>
            <a:pPr marL="342900" indent="-342900">
              <a:lnSpc>
                <a:spcPct val="150000"/>
              </a:lnSpc>
              <a:buFont typeface="Wingdings" pitchFamily="2" charset="2"/>
              <a:buChar char="Ø"/>
            </a:pP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13215596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Title 2"/>
          <p:cNvSpPr>
            <a:spLocks noGrp="1"/>
          </p:cNvSpPr>
          <p:nvPr>
            <p:ph type="title"/>
          </p:nvPr>
        </p:nvSpPr>
        <p:spPr>
          <a:xfrm>
            <a:off x="609600" y="274638"/>
            <a:ext cx="10972800" cy="921116"/>
          </a:xfrm>
        </p:spPr>
        <p:txBody>
          <a:bodyPr>
            <a:normAutofit/>
          </a:bodyPr>
          <a:lstStyle/>
          <a:p>
            <a:pPr algn="just" eaLnBrk="1" hangingPunct="1"/>
            <a:r>
              <a:rPr lang="en-US" altLang="en-US" sz="4400" dirty="0">
                <a:solidFill>
                  <a:srgbClr val="C00000"/>
                </a:solidFill>
                <a:latin typeface="Times New Roman" panose="02020603050405020304" pitchFamily="18" charset="0"/>
                <a:cs typeface="Times New Roman" panose="02020603050405020304" pitchFamily="18" charset="0"/>
              </a:rPr>
              <a:t>Proposed </a:t>
            </a:r>
            <a:r>
              <a:rPr lang="en-US" altLang="en-US" sz="4400" dirty="0" smtClean="0">
                <a:solidFill>
                  <a:srgbClr val="C00000"/>
                </a:solidFill>
                <a:latin typeface="Times New Roman" panose="02020603050405020304" pitchFamily="18" charset="0"/>
                <a:cs typeface="Times New Roman" panose="02020603050405020304" pitchFamily="18" charset="0"/>
              </a:rPr>
              <a:t>System and Advantages</a:t>
            </a:r>
            <a:endParaRPr lang="en-US" altLang="en-US" sz="4400" dirty="0">
              <a:solidFill>
                <a:srgbClr val="C00000"/>
              </a:solidFill>
              <a:latin typeface="Times New Roman" panose="02020603050405020304" pitchFamily="18" charset="0"/>
              <a:cs typeface="Times New Roman" panose="02020603050405020304" pitchFamily="18" charset="0"/>
            </a:endParaRPr>
          </a:p>
        </p:txBody>
      </p:sp>
      <p:sp>
        <p:nvSpPr>
          <p:cNvPr id="1048589" name="Content Placeholder 1"/>
          <p:cNvSpPr>
            <a:spLocks noGrp="1"/>
          </p:cNvSpPr>
          <p:nvPr>
            <p:ph idx="1"/>
          </p:nvPr>
        </p:nvSpPr>
        <p:spPr>
          <a:xfrm>
            <a:off x="609600" y="1195754"/>
            <a:ext cx="10972800" cy="4811346"/>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1048590" name="Content Placeholder 2"/>
          <p:cNvSpPr>
            <a:spLocks noGrp="1"/>
          </p:cNvSpPr>
          <p:nvPr/>
        </p:nvSpPr>
        <p:spPr>
          <a:xfrm rot="2030">
            <a:off x="448573" y="1198905"/>
            <a:ext cx="10676599" cy="5554761"/>
          </a:xfrm>
          <a:prstGeom prst="rect">
            <a:avLst/>
          </a:prstGeom>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itchFamily="34" charset="0"/>
              <a:buChar char="•"/>
              <a:defRPr sz="3200" kern="1200">
                <a:solidFill>
                  <a:srgbClr val="000000"/>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rgbClr val="000000"/>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rgbClr val="000000"/>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rgbClr val="000000"/>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rgbClr val="000000"/>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rgbClr val="000000"/>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rgbClr val="000000"/>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rgbClr val="000000"/>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rgbClr val="000000"/>
                </a:solidFill>
                <a:latin typeface="+mn-lt"/>
                <a:ea typeface="+mn-ea"/>
                <a:cs typeface="+mn-cs"/>
              </a:defRPr>
            </a:lvl9pPr>
          </a:lstStyle>
          <a:p>
            <a:pPr algn="just">
              <a:lnSpc>
                <a:spcPct val="150000"/>
              </a:lnSpc>
              <a:buFont typeface="Wingdings" panose="05000000000000000000" pitchFamily="2" charset="2"/>
              <a:buChar char="Ø"/>
            </a:pPr>
            <a:endParaRPr lang="en-US" sz="2400"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algn="just">
              <a:lnSpc>
                <a:spcPct val="20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sp>
        <p:nvSpPr>
          <p:cNvPr id="3" name="Rectangle 2"/>
          <p:cNvSpPr/>
          <p:nvPr/>
        </p:nvSpPr>
        <p:spPr>
          <a:xfrm>
            <a:off x="665017" y="1443841"/>
            <a:ext cx="10183091" cy="5078313"/>
          </a:xfrm>
          <a:prstGeom prst="rect">
            <a:avLst/>
          </a:prstGeom>
        </p:spPr>
        <p:txBody>
          <a:bodyPr wrap="square">
            <a:spAutoFit/>
          </a:bodyPr>
          <a:lstStyle/>
          <a:p>
            <a:pPr marL="342900" indent="-342900">
              <a:lnSpc>
                <a:spcPct val="150000"/>
              </a:lnSpc>
              <a:buFont typeface="Wingdings" pitchFamily="2" charset="2"/>
              <a:buChar char="Ø"/>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logs accessible to the user ensure that each and every access operation to the data, let it be read or write or delete, are known to the actual owner of data. </a:t>
            </a:r>
            <a:endParaRPr lang="en-US" sz="2400" dirty="0" smtClean="0">
              <a:latin typeface="Times New Roman" pitchFamily="18" charset="0"/>
              <a:cs typeface="Times New Roman" pitchFamily="18" charset="0"/>
            </a:endParaRPr>
          </a:p>
          <a:p>
            <a:pPr marL="342900" indent="-342900">
              <a:lnSpc>
                <a:spcPct val="150000"/>
              </a:lnSpc>
              <a:buFont typeface="Wingdings" pitchFamily="2" charset="2"/>
              <a:buChar char="Ø"/>
            </a:pPr>
            <a:r>
              <a:rPr lang="en-US" sz="2400" dirty="0" smtClean="0">
                <a:latin typeface="Times New Roman" pitchFamily="18" charset="0"/>
                <a:cs typeface="Times New Roman" pitchFamily="18" charset="0"/>
              </a:rPr>
              <a:t>This </a:t>
            </a:r>
            <a:r>
              <a:rPr lang="en-US" sz="2400" dirty="0">
                <a:latin typeface="Times New Roman" pitchFamily="18" charset="0"/>
                <a:cs typeface="Times New Roman" pitchFamily="18" charset="0"/>
              </a:rPr>
              <a:t>preserves the integrity &amp; intactness of the data. Also, it ensures that the permissioned user is only able to access the data. </a:t>
            </a:r>
            <a:endParaRPr lang="en-US" sz="2400" dirty="0" smtClean="0">
              <a:latin typeface="Times New Roman" pitchFamily="18" charset="0"/>
              <a:cs typeface="Times New Roman" pitchFamily="18" charset="0"/>
            </a:endParaRPr>
          </a:p>
          <a:p>
            <a:pPr marL="342900" indent="-342900">
              <a:lnSpc>
                <a:spcPct val="150000"/>
              </a:lnSpc>
              <a:buFont typeface="Wingdings" pitchFamily="2" charset="2"/>
              <a:buChar char="Ø"/>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logs will be responsible to give this information to the owner of the data. The logs also detect the malicious access to data thereby informing the owner about the </a:t>
            </a:r>
            <a:r>
              <a:rPr lang="en-US" sz="2400" dirty="0" err="1">
                <a:latin typeface="Times New Roman" pitchFamily="18" charset="0"/>
                <a:cs typeface="Times New Roman" pitchFamily="18" charset="0"/>
              </a:rPr>
              <a:t>unauthorised</a:t>
            </a:r>
            <a:r>
              <a:rPr lang="en-US" sz="2400" dirty="0">
                <a:latin typeface="Times New Roman" pitchFamily="18" charset="0"/>
                <a:cs typeface="Times New Roman" pitchFamily="18" charset="0"/>
              </a:rPr>
              <a:t> access. </a:t>
            </a:r>
            <a:endParaRPr lang="en-US" sz="2400" dirty="0" smtClean="0">
              <a:latin typeface="Times New Roman" pitchFamily="18" charset="0"/>
              <a:cs typeface="Times New Roman" pitchFamily="18" charset="0"/>
            </a:endParaRPr>
          </a:p>
          <a:p>
            <a:pPr marL="342900" indent="-342900">
              <a:lnSpc>
                <a:spcPct val="150000"/>
              </a:lnSpc>
              <a:buFont typeface="Wingdings" pitchFamily="2" charset="2"/>
              <a:buChar char="Ø"/>
            </a:pPr>
            <a:r>
              <a:rPr lang="en-US" sz="2400" dirty="0" smtClean="0">
                <a:latin typeface="Times New Roman" pitchFamily="18" charset="0"/>
                <a:cs typeface="Times New Roman" pitchFamily="18" charset="0"/>
              </a:rPr>
              <a:t>In </a:t>
            </a:r>
            <a:r>
              <a:rPr lang="en-US" sz="2400" dirty="0">
                <a:latin typeface="Times New Roman" pitchFamily="18" charset="0"/>
                <a:cs typeface="Times New Roman" pitchFamily="18" charset="0"/>
              </a:rPr>
              <a:t>short, the system with its all features provides a solution to various problems associated with cloud data storage</a:t>
            </a:r>
            <a:r>
              <a:rPr lang="en-US" sz="2400" dirty="0" smtClean="0">
                <a:latin typeface="Times New Roman" pitchFamily="18" charset="0"/>
                <a:cs typeface="Times New Roman" pitchFamily="18" charset="0"/>
              </a:rPr>
              <a:t>.</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34977682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9" name="Content Placeholder 1"/>
          <p:cNvSpPr>
            <a:spLocks noGrp="1"/>
          </p:cNvSpPr>
          <p:nvPr>
            <p:ph idx="1"/>
          </p:nvPr>
        </p:nvSpPr>
        <p:spPr>
          <a:xfrm>
            <a:off x="609600" y="1195754"/>
            <a:ext cx="10972800" cy="4811346"/>
          </a:xfrm>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
        <p:nvSpPr>
          <p:cNvPr id="1048590" name="Content Placeholder 2"/>
          <p:cNvSpPr>
            <a:spLocks noGrp="1"/>
          </p:cNvSpPr>
          <p:nvPr/>
        </p:nvSpPr>
        <p:spPr>
          <a:xfrm rot="2030">
            <a:off x="448573" y="1198905"/>
            <a:ext cx="10676599" cy="5554761"/>
          </a:xfrm>
          <a:prstGeom prst="rect">
            <a:avLst/>
          </a:prstGeom>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itchFamily="34" charset="0"/>
              <a:buChar char="•"/>
              <a:defRPr sz="3200" kern="1200">
                <a:solidFill>
                  <a:srgbClr val="000000"/>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rgbClr val="000000"/>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rgbClr val="000000"/>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rgbClr val="000000"/>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rgbClr val="000000"/>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rgbClr val="000000"/>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rgbClr val="000000"/>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rgbClr val="000000"/>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rgbClr val="000000"/>
                </a:solidFill>
                <a:latin typeface="+mn-lt"/>
                <a:ea typeface="+mn-ea"/>
                <a:cs typeface="+mn-cs"/>
              </a:defRPr>
            </a:lvl9pPr>
          </a:lstStyle>
          <a:p>
            <a:pPr algn="just">
              <a:lnSpc>
                <a:spcPct val="150000"/>
              </a:lnSpc>
              <a:buFont typeface="Wingdings" panose="05000000000000000000" pitchFamily="2" charset="2"/>
              <a:buChar char="Ø"/>
            </a:pPr>
            <a:endParaRPr lang="en-US" sz="2400" dirty="0" smtClean="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algn="just">
              <a:lnSpc>
                <a:spcPct val="20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sp>
        <p:nvSpPr>
          <p:cNvPr id="3" name="Rectangle 2"/>
          <p:cNvSpPr/>
          <p:nvPr/>
        </p:nvSpPr>
        <p:spPr>
          <a:xfrm>
            <a:off x="806333" y="861950"/>
            <a:ext cx="10183091" cy="4616648"/>
          </a:xfrm>
          <a:prstGeom prst="rect">
            <a:avLst/>
          </a:prstGeom>
        </p:spPr>
        <p:txBody>
          <a:bodyPr wrap="square">
            <a:spAutoFit/>
          </a:bodyPr>
          <a:lstStyle/>
          <a:p>
            <a:pPr marL="342900" indent="-342900">
              <a:lnSpc>
                <a:spcPct val="150000"/>
              </a:lnSpc>
              <a:buFont typeface="Wingdings" pitchFamily="2" charset="2"/>
              <a:buChar char="Ø"/>
            </a:pPr>
            <a:r>
              <a:rPr lang="en-US" sz="2400" dirty="0" smtClean="0">
                <a:latin typeface="Times New Roman" pitchFamily="18" charset="0"/>
                <a:cs typeface="Times New Roman" pitchFamily="18" charset="0"/>
              </a:rPr>
              <a:t>We </a:t>
            </a:r>
            <a:r>
              <a:rPr lang="en-US" sz="2400" dirty="0">
                <a:latin typeface="Times New Roman" pitchFamily="18" charset="0"/>
                <a:cs typeface="Times New Roman" pitchFamily="18" charset="0"/>
              </a:rPr>
              <a:t>develop a custom block chain server to maintain log information of each file, so that in future it can be accessible by user to verify the transaction details</a:t>
            </a:r>
            <a:r>
              <a:rPr lang="en-US" sz="2400" dirty="0" smtClean="0">
                <a:latin typeface="Times New Roman" pitchFamily="18" charset="0"/>
                <a:cs typeface="Times New Roman" pitchFamily="18" charset="0"/>
              </a:rPr>
              <a:t>.</a:t>
            </a:r>
          </a:p>
          <a:p>
            <a:pPr>
              <a:lnSpc>
                <a:spcPct val="150000"/>
              </a:lnSpc>
            </a:pPr>
            <a:r>
              <a:rPr lang="en-US" sz="2800" b="1" dirty="0" smtClean="0">
                <a:latin typeface="Times New Roman" pitchFamily="18" charset="0"/>
                <a:cs typeface="Times New Roman" pitchFamily="18" charset="0"/>
              </a:rPr>
              <a:t>    Advantages</a:t>
            </a:r>
          </a:p>
          <a:p>
            <a:pPr marL="342900" lvl="0" indent="-342900">
              <a:lnSpc>
                <a:spcPct val="150000"/>
              </a:lnSpc>
              <a:buFont typeface="Wingdings" pitchFamily="2" charset="2"/>
              <a:buChar char="Ø"/>
            </a:pPr>
            <a:r>
              <a:rPr lang="en-US" sz="2400" dirty="0">
                <a:latin typeface="Times New Roman" pitchFamily="18" charset="0"/>
                <a:cs typeface="Times New Roman" pitchFamily="18" charset="0"/>
              </a:rPr>
              <a:t>Block chains are secure and cannot be hacked easily.</a:t>
            </a:r>
            <a:endParaRPr lang="en-IN" sz="2400" dirty="0">
              <a:latin typeface="Times New Roman" pitchFamily="18" charset="0"/>
              <a:cs typeface="Times New Roman" pitchFamily="18" charset="0"/>
            </a:endParaRPr>
          </a:p>
          <a:p>
            <a:pPr marL="342900" lvl="0" indent="-342900">
              <a:lnSpc>
                <a:spcPct val="150000"/>
              </a:lnSpc>
              <a:buFont typeface="Wingdings" pitchFamily="2" charset="2"/>
              <a:buChar char="Ø"/>
            </a:pPr>
            <a:r>
              <a:rPr lang="en-US" sz="2400" dirty="0">
                <a:latin typeface="Times New Roman" pitchFamily="18" charset="0"/>
                <a:cs typeface="Times New Roman" pitchFamily="18" charset="0"/>
              </a:rPr>
              <a:t>Log information is stored in form of blocks which cannot be directly viewed by users.</a:t>
            </a:r>
            <a:endParaRPr lang="en-IN" sz="2400" dirty="0">
              <a:latin typeface="Times New Roman" pitchFamily="18" charset="0"/>
              <a:cs typeface="Times New Roman" pitchFamily="18" charset="0"/>
            </a:endParaRPr>
          </a:p>
          <a:p>
            <a:pPr>
              <a:lnSpc>
                <a:spcPct val="150000"/>
              </a:lnSpc>
            </a:pP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25622651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Title 2"/>
          <p:cNvSpPr>
            <a:spLocks noGrp="1"/>
          </p:cNvSpPr>
          <p:nvPr>
            <p:ph type="title"/>
          </p:nvPr>
        </p:nvSpPr>
        <p:spPr>
          <a:xfrm>
            <a:off x="838199" y="39214"/>
            <a:ext cx="10515600" cy="1325563"/>
          </a:xfrm>
        </p:spPr>
        <p:txBody>
          <a:bodyPr>
            <a:normAutofit/>
          </a:bodyPr>
          <a:lstStyle/>
          <a:p>
            <a:r>
              <a:rPr lang="en-US" altLang="en-US" sz="4400" dirty="0">
                <a:solidFill>
                  <a:srgbClr val="C00000"/>
                </a:solidFill>
                <a:latin typeface="Times New Roman" panose="02020603050405020304" pitchFamily="18" charset="0"/>
                <a:cs typeface="Times New Roman" panose="02020603050405020304" pitchFamily="18" charset="0"/>
              </a:rPr>
              <a:t>Objectives</a:t>
            </a:r>
            <a:endParaRPr lang="en-US" dirty="0">
              <a:solidFill>
                <a:srgbClr val="C00000"/>
              </a:solidFill>
            </a:endParaRPr>
          </a:p>
        </p:txBody>
      </p:sp>
      <p:sp>
        <p:nvSpPr>
          <p:cNvPr id="1048594" name="Content Placeholder 2"/>
          <p:cNvSpPr>
            <a:spLocks noGrp="1"/>
          </p:cNvSpPr>
          <p:nvPr/>
        </p:nvSpPr>
        <p:spPr>
          <a:xfrm>
            <a:off x="147536" y="1203004"/>
            <a:ext cx="11896927" cy="5654996"/>
          </a:xfrm>
          <a:prstGeom prst="rect">
            <a:avLst/>
          </a:prstGeom>
        </p:spPr>
        <p:txBody>
          <a:bodyPr vert="horz" wrap="square" lIns="91440" tIns="45720" rIns="91440" bIns="45720" numCol="1" anchor="t" anchorCtr="0" compatLnSpc="1"/>
          <a:lstStyle>
            <a:lvl1pPr marL="342900" indent="-342900" algn="l" rtl="0" eaLnBrk="0" fontAlgn="base" hangingPunct="0">
              <a:spcBef>
                <a:spcPct val="20000"/>
              </a:spcBef>
              <a:spcAft>
                <a:spcPct val="0"/>
              </a:spcAft>
              <a:buFont typeface="Arial" pitchFamily="34" charset="0"/>
              <a:buChar char="•"/>
              <a:defRPr sz="3200" kern="1200">
                <a:solidFill>
                  <a:srgbClr val="000000"/>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rgbClr val="000000"/>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rgbClr val="000000"/>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rgbClr val="000000"/>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rgbClr val="000000"/>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rgbClr val="000000"/>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rgbClr val="000000"/>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rgbClr val="000000"/>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rgbClr val="000000"/>
                </a:solidFill>
                <a:latin typeface="+mn-lt"/>
                <a:ea typeface="+mn-ea"/>
                <a:cs typeface="+mn-cs"/>
              </a:defRPr>
            </a:lvl9pPr>
          </a:lstStyle>
          <a:p>
            <a:pPr algn="just">
              <a:lnSpc>
                <a:spcPct val="150000"/>
              </a:lnSpc>
            </a:pPr>
            <a:endParaRPr lang="en-US" sz="1400" dirty="0">
              <a:latin typeface="Arial" panose="020B0604020202020204" pitchFamily="34" charset="0"/>
              <a:cs typeface="Arial" panose="020B0604020202020204" pitchFamily="34" charset="0"/>
            </a:endParaRPr>
          </a:p>
        </p:txBody>
      </p:sp>
      <p:sp>
        <p:nvSpPr>
          <p:cNvPr id="3" name="Rectangle 2"/>
          <p:cNvSpPr/>
          <p:nvPr/>
        </p:nvSpPr>
        <p:spPr>
          <a:xfrm>
            <a:off x="906087" y="1396368"/>
            <a:ext cx="9800706" cy="3416320"/>
          </a:xfrm>
          <a:prstGeom prst="rect">
            <a:avLst/>
          </a:prstGeom>
        </p:spPr>
        <p:txBody>
          <a:bodyPr wrap="square">
            <a:spAutoFit/>
          </a:bodyPr>
          <a:lstStyle/>
          <a:p>
            <a:pPr marL="342900" indent="-342900">
              <a:lnSpc>
                <a:spcPct val="150000"/>
              </a:lnSpc>
              <a:buFont typeface="Wingdings" pitchFamily="2" charset="2"/>
              <a:buChar char="Ø"/>
            </a:pPr>
            <a:r>
              <a:rPr lang="en-US" sz="2400" dirty="0">
                <a:latin typeface="Times New Roman" pitchFamily="18" charset="0"/>
                <a:cs typeface="Times New Roman" pitchFamily="18" charset="0"/>
              </a:rPr>
              <a:t>To preserve the integrity &amp; intactness of the data and also to ensure that the permissioned user is only able to access the data</a:t>
            </a:r>
            <a:r>
              <a:rPr lang="en-US" sz="2400" dirty="0" smtClean="0">
                <a:latin typeface="Times New Roman" pitchFamily="18" charset="0"/>
                <a:cs typeface="Times New Roman" pitchFamily="18" charset="0"/>
              </a:rPr>
              <a:t>.</a:t>
            </a:r>
          </a:p>
          <a:p>
            <a:pPr marL="342900" indent="-342900">
              <a:lnSpc>
                <a:spcPct val="150000"/>
              </a:lnSpc>
              <a:buFont typeface="Wingdings" pitchFamily="2" charset="2"/>
              <a:buChar char="Ø"/>
            </a:pPr>
            <a:r>
              <a:rPr lang="en-US" sz="2400" dirty="0" smtClean="0">
                <a:latin typeface="Times New Roman" pitchFamily="18" charset="0"/>
                <a:cs typeface="Times New Roman" pitchFamily="18" charset="0"/>
              </a:rPr>
              <a:t>To </a:t>
            </a:r>
            <a:r>
              <a:rPr lang="en-US" sz="2400" dirty="0">
                <a:latin typeface="Times New Roman" pitchFamily="18" charset="0"/>
                <a:cs typeface="Times New Roman" pitchFamily="18" charset="0"/>
              </a:rPr>
              <a:t>detect the malicious access to data thereby informing the owner about the </a:t>
            </a:r>
            <a:r>
              <a:rPr lang="en-US" sz="2400" dirty="0" err="1">
                <a:latin typeface="Times New Roman" pitchFamily="18" charset="0"/>
                <a:cs typeface="Times New Roman" pitchFamily="18" charset="0"/>
              </a:rPr>
              <a:t>unauthorised</a:t>
            </a:r>
            <a:r>
              <a:rPr lang="en-US" sz="2400" dirty="0">
                <a:latin typeface="Times New Roman" pitchFamily="18" charset="0"/>
                <a:cs typeface="Times New Roman" pitchFamily="18" charset="0"/>
              </a:rPr>
              <a:t> access</a:t>
            </a:r>
            <a:r>
              <a:rPr lang="en-US" sz="2400" dirty="0" smtClean="0">
                <a:latin typeface="Times New Roman" pitchFamily="18" charset="0"/>
                <a:cs typeface="Times New Roman" pitchFamily="18" charset="0"/>
              </a:rPr>
              <a:t>.</a:t>
            </a:r>
          </a:p>
          <a:p>
            <a:pPr marL="342900" indent="-342900">
              <a:lnSpc>
                <a:spcPct val="150000"/>
              </a:lnSpc>
              <a:buFont typeface="Wingdings" pitchFamily="2" charset="2"/>
              <a:buChar char="Ø"/>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system with its all features should provide a solution to various problems associated with cloud data storage.</a:t>
            </a:r>
            <a:endParaRPr lang="en-IN"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Title 2"/>
          <p:cNvSpPr>
            <a:spLocks noGrp="1"/>
          </p:cNvSpPr>
          <p:nvPr>
            <p:ph type="title"/>
          </p:nvPr>
        </p:nvSpPr>
        <p:spPr>
          <a:xfrm>
            <a:off x="838200" y="264695"/>
            <a:ext cx="10515600" cy="1086311"/>
          </a:xfrm>
        </p:spPr>
        <p:txBody>
          <a:bodyPr>
            <a:normAutofit/>
          </a:bodyPr>
          <a:lstStyle/>
          <a:p>
            <a:r>
              <a:rPr lang="en-US" altLang="en-US" sz="4400" dirty="0">
                <a:solidFill>
                  <a:srgbClr val="C00000"/>
                </a:solidFill>
                <a:latin typeface="Times New Roman" panose="02020603050405020304" pitchFamily="18" charset="0"/>
                <a:cs typeface="Times New Roman" panose="02020603050405020304" pitchFamily="18" charset="0"/>
              </a:rPr>
              <a:t>Methodology</a:t>
            </a:r>
            <a:endParaRPr lang="en-US" dirty="0">
              <a:solidFill>
                <a:srgbClr val="C00000"/>
              </a:solidFill>
            </a:endParaRPr>
          </a:p>
        </p:txBody>
      </p:sp>
      <p:sp>
        <p:nvSpPr>
          <p:cNvPr id="1048612" name="Content Placeholder 1"/>
          <p:cNvSpPr>
            <a:spLocks noGrp="1"/>
          </p:cNvSpPr>
          <p:nvPr>
            <p:ph idx="1"/>
          </p:nvPr>
        </p:nvSpPr>
        <p:spPr>
          <a:xfrm>
            <a:off x="598516" y="1429966"/>
            <a:ext cx="11512419" cy="5036737"/>
          </a:xfrm>
        </p:spPr>
        <p:txBody>
          <a:bodyPr>
            <a:normAutofit/>
          </a:bodyPr>
          <a:lstStyle/>
          <a:p>
            <a:pPr>
              <a:lnSpc>
                <a:spcPct val="150000"/>
              </a:lnSpc>
              <a:buFont typeface="Wingdings" pitchFamily="2" charset="2"/>
              <a:buChar char="Ø"/>
            </a:pPr>
            <a:r>
              <a:rPr lang="en-US" sz="2400" dirty="0">
                <a:latin typeface="Times New Roman" pitchFamily="18" charset="0"/>
                <a:cs typeface="Times New Roman" pitchFamily="18" charset="0"/>
              </a:rPr>
              <a:t>User has to register with cloud server using a unique username and password.</a:t>
            </a:r>
            <a:endParaRPr lang="en-IN" sz="2400" dirty="0">
              <a:latin typeface="Times New Roman" pitchFamily="18" charset="0"/>
              <a:cs typeface="Times New Roman" pitchFamily="18" charset="0"/>
            </a:endParaRPr>
          </a:p>
          <a:p>
            <a:pPr>
              <a:lnSpc>
                <a:spcPct val="150000"/>
              </a:lnSpc>
              <a:buFont typeface="Wingdings" pitchFamily="2" charset="2"/>
              <a:buChar char="Ø"/>
            </a:pPr>
            <a:r>
              <a:rPr lang="en-US" sz="2400" dirty="0">
                <a:latin typeface="Times New Roman" pitchFamily="18" charset="0"/>
                <a:cs typeface="Times New Roman" pitchFamily="18" charset="0"/>
              </a:rPr>
              <a:t>User logs in to application using username and password.</a:t>
            </a:r>
            <a:endParaRPr lang="en-IN" sz="2400" dirty="0">
              <a:latin typeface="Times New Roman" pitchFamily="18" charset="0"/>
              <a:cs typeface="Times New Roman" pitchFamily="18" charset="0"/>
            </a:endParaRPr>
          </a:p>
          <a:p>
            <a:pPr>
              <a:lnSpc>
                <a:spcPct val="150000"/>
              </a:lnSpc>
              <a:buFont typeface="Wingdings" pitchFamily="2" charset="2"/>
              <a:buChar char="Ø"/>
            </a:pPr>
            <a:r>
              <a:rPr lang="en-US" sz="2400" dirty="0">
                <a:latin typeface="Times New Roman" pitchFamily="18" charset="0"/>
                <a:cs typeface="Times New Roman" pitchFamily="18" charset="0"/>
              </a:rPr>
              <a:t>User can upload </a:t>
            </a:r>
            <a:r>
              <a:rPr lang="en-US" sz="2400" dirty="0" smtClean="0">
                <a:latin typeface="Times New Roman" pitchFamily="18" charset="0"/>
                <a:cs typeface="Times New Roman" pitchFamily="18" charset="0"/>
              </a:rPr>
              <a:t>a </a:t>
            </a:r>
            <a:r>
              <a:rPr lang="en-US" sz="2400" dirty="0">
                <a:latin typeface="Times New Roman" pitchFamily="18" charset="0"/>
                <a:cs typeface="Times New Roman" pitchFamily="18" charset="0"/>
              </a:rPr>
              <a:t>file, edit, delete or share file to other users.</a:t>
            </a:r>
            <a:endParaRPr lang="en-IN" sz="2400" dirty="0">
              <a:latin typeface="Times New Roman" pitchFamily="18" charset="0"/>
              <a:cs typeface="Times New Roman" pitchFamily="18" charset="0"/>
            </a:endParaRPr>
          </a:p>
          <a:p>
            <a:pPr>
              <a:lnSpc>
                <a:spcPct val="150000"/>
              </a:lnSpc>
              <a:buFont typeface="Wingdings" pitchFamily="2" charset="2"/>
              <a:buChar char="Ø"/>
            </a:pPr>
            <a:r>
              <a:rPr lang="en-US" sz="2400" dirty="0">
                <a:latin typeface="Times New Roman" pitchFamily="18" charset="0"/>
                <a:cs typeface="Times New Roman" pitchFamily="18" charset="0"/>
              </a:rPr>
              <a:t>A log information will be generated for user’s file operation and stored in block chain server.</a:t>
            </a:r>
            <a:endParaRPr lang="en-IN" sz="2400" dirty="0">
              <a:latin typeface="Times New Roman" pitchFamily="18" charset="0"/>
              <a:cs typeface="Times New Roman" pitchFamily="18" charset="0"/>
            </a:endParaRPr>
          </a:p>
          <a:p>
            <a:pPr>
              <a:lnSpc>
                <a:spcPct val="150000"/>
              </a:lnSpc>
              <a:buFont typeface="Wingdings" pitchFamily="2" charset="2"/>
              <a:buChar char="Ø"/>
            </a:pPr>
            <a:r>
              <a:rPr lang="en-US" sz="2400" dirty="0">
                <a:latin typeface="Times New Roman" pitchFamily="18" charset="0"/>
                <a:cs typeface="Times New Roman" pitchFamily="18" charset="0"/>
              </a:rPr>
              <a:t>User can access log details from block chain at any time and view it.</a:t>
            </a:r>
            <a:endParaRPr lang="en-IN" sz="2400" dirty="0">
              <a:latin typeface="Times New Roman" pitchFamily="18" charset="0"/>
              <a:cs typeface="Times New Roman" pitchFamily="18" charset="0"/>
            </a:endParaRPr>
          </a:p>
          <a:p>
            <a:pPr>
              <a:lnSpc>
                <a:spcPct val="150000"/>
              </a:lnSpc>
              <a:buFont typeface="Wingdings" pitchFamily="2" charset="2"/>
              <a:buChar char="Ø"/>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xmlns="" id="{E850564B-1F3C-101E-CD98-A440B779442D}"/>
              </a:ext>
            </a:extLst>
          </p:cNvPr>
          <p:cNvSpPr txBox="1">
            <a:spLocks/>
          </p:cNvSpPr>
          <p:nvPr/>
        </p:nvSpPr>
        <p:spPr>
          <a:xfrm>
            <a:off x="838200" y="172995"/>
            <a:ext cx="10515600" cy="720637"/>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rgbClr val="C00000"/>
                </a:solidFill>
                <a:latin typeface="Times New Roman" panose="02020603050405020304" pitchFamily="18" charset="0"/>
                <a:cs typeface="Times New Roman" panose="02020603050405020304" pitchFamily="18" charset="0"/>
              </a:rPr>
              <a:t>Architecture Diagram</a:t>
            </a:r>
            <a:endParaRPr lang="en-US" dirty="0">
              <a:solidFill>
                <a:srgbClr val="C00000"/>
              </a:solidFill>
            </a:endParaRPr>
          </a:p>
        </p:txBody>
      </p:sp>
      <p:pic>
        <p:nvPicPr>
          <p:cNvPr id="2061"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9730" y="1276350"/>
            <a:ext cx="7429500" cy="430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0932629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xmlns="" id="{E850564B-1F3C-101E-CD98-A440B779442D}"/>
              </a:ext>
            </a:extLst>
          </p:cNvPr>
          <p:cNvSpPr txBox="1">
            <a:spLocks/>
          </p:cNvSpPr>
          <p:nvPr/>
        </p:nvSpPr>
        <p:spPr>
          <a:xfrm>
            <a:off x="838200" y="172995"/>
            <a:ext cx="10515600" cy="720637"/>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smtClean="0">
                <a:solidFill>
                  <a:srgbClr val="C00000"/>
                </a:solidFill>
                <a:latin typeface="Times New Roman" panose="02020603050405020304" pitchFamily="18" charset="0"/>
                <a:cs typeface="Times New Roman" panose="02020603050405020304" pitchFamily="18" charset="0"/>
              </a:rPr>
              <a:t>Structure of </a:t>
            </a:r>
            <a:r>
              <a:rPr lang="en-US" dirty="0" err="1" smtClean="0">
                <a:solidFill>
                  <a:srgbClr val="C00000"/>
                </a:solidFill>
                <a:latin typeface="Times New Roman" panose="02020603050405020304" pitchFamily="18" charset="0"/>
                <a:cs typeface="Times New Roman" panose="02020603050405020304" pitchFamily="18" charset="0"/>
              </a:rPr>
              <a:t>Blockchain</a:t>
            </a:r>
            <a:endParaRPr lang="en-US" dirty="0">
              <a:solidFill>
                <a:srgbClr val="C00000"/>
              </a:solidFill>
            </a:endParaRPr>
          </a:p>
        </p:txBody>
      </p:sp>
      <p:sp>
        <p:nvSpPr>
          <p:cNvPr id="3" name="Rectangle 2"/>
          <p:cNvSpPr/>
          <p:nvPr/>
        </p:nvSpPr>
        <p:spPr>
          <a:xfrm>
            <a:off x="663632" y="1178111"/>
            <a:ext cx="10442171" cy="5078313"/>
          </a:xfrm>
          <a:prstGeom prst="rect">
            <a:avLst/>
          </a:prstGeom>
        </p:spPr>
        <p:txBody>
          <a:bodyPr wrap="square">
            <a:spAutoFit/>
          </a:bodyPr>
          <a:lstStyle/>
          <a:p>
            <a:pPr marL="342900" indent="-342900" algn="just">
              <a:lnSpc>
                <a:spcPct val="150000"/>
              </a:lnSpc>
              <a:buFont typeface="Wingdings" pitchFamily="2" charset="2"/>
              <a:buChar char="Ø"/>
            </a:pPr>
            <a:r>
              <a:rPr lang="en-US" sz="2400" dirty="0">
                <a:latin typeface="Times New Roman" pitchFamily="18" charset="0"/>
                <a:cs typeface="Times New Roman" pitchFamily="18" charset="0"/>
              </a:rPr>
              <a:t>A </a:t>
            </a:r>
            <a:r>
              <a:rPr lang="en-US" sz="2400" dirty="0" err="1">
                <a:latin typeface="Times New Roman" pitchFamily="18" charset="0"/>
                <a:cs typeface="Times New Roman" pitchFamily="18" charset="0"/>
              </a:rPr>
              <a:t>blockchain</a:t>
            </a:r>
            <a:r>
              <a:rPr lang="en-US" sz="2400" dirty="0">
                <a:latin typeface="Times New Roman" pitchFamily="18" charset="0"/>
                <a:cs typeface="Times New Roman" pitchFamily="18" charset="0"/>
              </a:rPr>
              <a:t> is a decentralized, distributed, and oftentimes public, digital ledger consisting of records called </a:t>
            </a:r>
            <a:r>
              <a:rPr lang="en-US" sz="2400" i="1" dirty="0">
                <a:latin typeface="Times New Roman" pitchFamily="18" charset="0"/>
                <a:cs typeface="Times New Roman" pitchFamily="18" charset="0"/>
              </a:rPr>
              <a:t>blocks</a:t>
            </a:r>
            <a:r>
              <a:rPr lang="en-US" sz="2400" dirty="0">
                <a:latin typeface="Times New Roman" pitchFamily="18" charset="0"/>
                <a:cs typeface="Times New Roman" pitchFamily="18" charset="0"/>
              </a:rPr>
              <a:t> that are used to record transactions across many computers so that any involved block cannot be altered retroactively, without the alteration of all subsequent </a:t>
            </a:r>
            <a:r>
              <a:rPr lang="en-US" sz="2400" dirty="0" smtClean="0">
                <a:latin typeface="Times New Roman" pitchFamily="18" charset="0"/>
                <a:cs typeface="Times New Roman" pitchFamily="18" charset="0"/>
              </a:rPr>
              <a:t>blocks.</a:t>
            </a:r>
          </a:p>
          <a:p>
            <a:pPr marL="342900" indent="-342900" algn="just">
              <a:lnSpc>
                <a:spcPct val="150000"/>
              </a:lnSpc>
              <a:buFont typeface="Wingdings" pitchFamily="2" charset="2"/>
              <a:buChar char="Ø"/>
            </a:pPr>
            <a:r>
              <a:rPr lang="en-US" sz="2400" dirty="0" smtClean="0">
                <a:latin typeface="Times New Roman" pitchFamily="18" charset="0"/>
                <a:cs typeface="Times New Roman" pitchFamily="18" charset="0"/>
              </a:rPr>
              <a:t>This </a:t>
            </a:r>
            <a:r>
              <a:rPr lang="en-US" sz="2400" dirty="0">
                <a:latin typeface="Times New Roman" pitchFamily="18" charset="0"/>
                <a:cs typeface="Times New Roman" pitchFamily="18" charset="0"/>
              </a:rPr>
              <a:t>allows the participants to verify and audit transactions independently and relatively inexpensively. </a:t>
            </a:r>
            <a:endParaRPr lang="en-US" sz="2400" dirty="0" smtClean="0">
              <a:latin typeface="Times New Roman" pitchFamily="18" charset="0"/>
              <a:cs typeface="Times New Roman" pitchFamily="18" charset="0"/>
            </a:endParaRPr>
          </a:p>
          <a:p>
            <a:pPr marL="342900" indent="-342900" algn="just">
              <a:lnSpc>
                <a:spcPct val="150000"/>
              </a:lnSpc>
              <a:buFont typeface="Wingdings" pitchFamily="2" charset="2"/>
              <a:buChar char="Ø"/>
            </a:pPr>
            <a:r>
              <a:rPr lang="en-US" sz="2400" dirty="0" smtClean="0">
                <a:latin typeface="Times New Roman" pitchFamily="18" charset="0"/>
                <a:cs typeface="Times New Roman" pitchFamily="18" charset="0"/>
              </a:rPr>
              <a:t>A </a:t>
            </a:r>
            <a:r>
              <a:rPr lang="en-US" sz="2400" dirty="0" err="1">
                <a:latin typeface="Times New Roman" pitchFamily="18" charset="0"/>
                <a:cs typeface="Times New Roman" pitchFamily="18" charset="0"/>
              </a:rPr>
              <a:t>blockchain</a:t>
            </a:r>
            <a:r>
              <a:rPr lang="en-US" sz="2400" dirty="0">
                <a:latin typeface="Times New Roman" pitchFamily="18" charset="0"/>
                <a:cs typeface="Times New Roman" pitchFamily="18" charset="0"/>
              </a:rPr>
              <a:t> database is managed autonomously using a peer-to-peer network and a distributed </a:t>
            </a:r>
            <a:r>
              <a:rPr lang="en-US" sz="2400" dirty="0" err="1">
                <a:latin typeface="Times New Roman" pitchFamily="18" charset="0"/>
                <a:cs typeface="Times New Roman" pitchFamily="18" charset="0"/>
              </a:rPr>
              <a:t>timestamping</a:t>
            </a:r>
            <a:r>
              <a:rPr lang="en-US" sz="2400" dirty="0">
                <a:latin typeface="Times New Roman" pitchFamily="18" charset="0"/>
                <a:cs typeface="Times New Roman" pitchFamily="18" charset="0"/>
              </a:rPr>
              <a:t> server. They are authenticated by mass collaboration powered by collective self-interests. </a:t>
            </a:r>
            <a:endParaRPr lang="en-IN" dirty="0"/>
          </a:p>
        </p:txBody>
      </p:sp>
    </p:spTree>
    <p:extLst>
      <p:ext uri="{BB962C8B-B14F-4D97-AF65-F5344CB8AC3E}">
        <p14:creationId xmlns:p14="http://schemas.microsoft.com/office/powerpoint/2010/main" val="297571797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22067" y="987504"/>
            <a:ext cx="10442171" cy="4801314"/>
          </a:xfrm>
          <a:prstGeom prst="rect">
            <a:avLst/>
          </a:prstGeom>
        </p:spPr>
        <p:txBody>
          <a:bodyPr wrap="square">
            <a:spAutoFit/>
          </a:bodyPr>
          <a:lstStyle/>
          <a:p>
            <a:pPr marL="342900" indent="-342900" algn="just">
              <a:lnSpc>
                <a:spcPct val="150000"/>
              </a:lnSpc>
              <a:buFont typeface="Wingdings" pitchFamily="2" charset="2"/>
              <a:buChar char="Ø"/>
            </a:pPr>
            <a:r>
              <a:rPr lang="en-US" sz="2400" dirty="0" smtClean="0">
                <a:latin typeface="Times New Roman" pitchFamily="18" charset="0"/>
                <a:cs typeface="Times New Roman" pitchFamily="18" charset="0"/>
              </a:rPr>
              <a:t>Such </a:t>
            </a:r>
            <a:r>
              <a:rPr lang="en-US" sz="2400" dirty="0">
                <a:latin typeface="Times New Roman" pitchFamily="18" charset="0"/>
                <a:cs typeface="Times New Roman" pitchFamily="18" charset="0"/>
              </a:rPr>
              <a:t>a design facilitates robust workflow where participants' uncertainty regarding data security is marginal. The use of a </a:t>
            </a:r>
            <a:r>
              <a:rPr lang="en-US" sz="2400" dirty="0" err="1">
                <a:latin typeface="Times New Roman" pitchFamily="18" charset="0"/>
                <a:cs typeface="Times New Roman" pitchFamily="18" charset="0"/>
              </a:rPr>
              <a:t>blockchain</a:t>
            </a:r>
            <a:r>
              <a:rPr lang="en-US" sz="2400" dirty="0">
                <a:latin typeface="Times New Roman" pitchFamily="18" charset="0"/>
                <a:cs typeface="Times New Roman" pitchFamily="18" charset="0"/>
              </a:rPr>
              <a:t> removes the characteristic of infinite reproducibility from a digital asset. </a:t>
            </a:r>
            <a:endParaRPr lang="en-US" sz="2400" dirty="0" smtClean="0">
              <a:latin typeface="Times New Roman" pitchFamily="18" charset="0"/>
              <a:cs typeface="Times New Roman" pitchFamily="18" charset="0"/>
            </a:endParaRPr>
          </a:p>
          <a:p>
            <a:pPr marL="342900" indent="-342900" algn="just">
              <a:lnSpc>
                <a:spcPct val="150000"/>
              </a:lnSpc>
              <a:buFont typeface="Wingdings" pitchFamily="2" charset="2"/>
              <a:buChar char="Ø"/>
            </a:pPr>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confirms that each unit of value was transferred only once, solving the long-standing problem of double-spending. </a:t>
            </a:r>
            <a:endParaRPr lang="en-US" sz="2400" dirty="0" smtClean="0">
              <a:latin typeface="Times New Roman" pitchFamily="18" charset="0"/>
              <a:cs typeface="Times New Roman" pitchFamily="18" charset="0"/>
            </a:endParaRPr>
          </a:p>
          <a:p>
            <a:pPr marL="342900" indent="-342900" algn="just">
              <a:lnSpc>
                <a:spcPct val="150000"/>
              </a:lnSpc>
              <a:buFont typeface="Wingdings" pitchFamily="2" charset="2"/>
              <a:buChar char="Ø"/>
            </a:pPr>
            <a:r>
              <a:rPr lang="en-US" sz="2400" dirty="0" smtClean="0">
                <a:latin typeface="Times New Roman" pitchFamily="18" charset="0"/>
                <a:cs typeface="Times New Roman" pitchFamily="18" charset="0"/>
              </a:rPr>
              <a:t>A </a:t>
            </a:r>
            <a:r>
              <a:rPr lang="en-US" sz="2400" dirty="0" err="1">
                <a:latin typeface="Times New Roman" pitchFamily="18" charset="0"/>
                <a:cs typeface="Times New Roman" pitchFamily="18" charset="0"/>
              </a:rPr>
              <a:t>blockchain</a:t>
            </a:r>
            <a:r>
              <a:rPr lang="en-US" sz="2400" dirty="0">
                <a:latin typeface="Times New Roman" pitchFamily="18" charset="0"/>
                <a:cs typeface="Times New Roman" pitchFamily="18" charset="0"/>
              </a:rPr>
              <a:t> has been described as a </a:t>
            </a:r>
            <a:r>
              <a:rPr lang="en-US" sz="2400" i="1" dirty="0">
                <a:latin typeface="Times New Roman" pitchFamily="18" charset="0"/>
                <a:cs typeface="Times New Roman" pitchFamily="18" charset="0"/>
              </a:rPr>
              <a:t>value-exchange protocol</a:t>
            </a:r>
            <a:r>
              <a:rPr lang="en-US" sz="2400" dirty="0">
                <a:latin typeface="Times New Roman" pitchFamily="18" charset="0"/>
                <a:cs typeface="Times New Roman" pitchFamily="18" charset="0"/>
              </a:rPr>
              <a:t>. A </a:t>
            </a:r>
            <a:r>
              <a:rPr lang="en-US" sz="2400" dirty="0" err="1">
                <a:latin typeface="Times New Roman" pitchFamily="18" charset="0"/>
                <a:cs typeface="Times New Roman" pitchFamily="18" charset="0"/>
              </a:rPr>
              <a:t>blockchain</a:t>
            </a:r>
            <a:r>
              <a:rPr lang="en-US" sz="2400" dirty="0">
                <a:latin typeface="Times New Roman" pitchFamily="18" charset="0"/>
                <a:cs typeface="Times New Roman" pitchFamily="18" charset="0"/>
              </a:rPr>
              <a:t> can maintain title rights because, when properly set up to detail the exchange agreement, it provides a record that compels offer and acceptance.</a:t>
            </a:r>
            <a:endParaRPr lang="en-IN" sz="2400" dirty="0">
              <a:latin typeface="Times New Roman" pitchFamily="18" charset="0"/>
              <a:cs typeface="Times New Roman" pitchFamily="18" charset="0"/>
            </a:endParaRPr>
          </a:p>
          <a:p>
            <a:r>
              <a:rPr lang="en-US" dirty="0"/>
              <a:t> </a:t>
            </a:r>
            <a:endParaRPr lang="en-IN" dirty="0"/>
          </a:p>
        </p:txBody>
      </p:sp>
    </p:spTree>
    <p:extLst>
      <p:ext uri="{BB962C8B-B14F-4D97-AF65-F5344CB8AC3E}">
        <p14:creationId xmlns:p14="http://schemas.microsoft.com/office/powerpoint/2010/main" val="416758611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3" name="Title 2"/>
          <p:cNvSpPr>
            <a:spLocks noGrp="1"/>
          </p:cNvSpPr>
          <p:nvPr>
            <p:ph type="title"/>
          </p:nvPr>
        </p:nvSpPr>
        <p:spPr>
          <a:xfrm>
            <a:off x="609600" y="112296"/>
            <a:ext cx="10972800" cy="978568"/>
          </a:xfrm>
        </p:spPr>
        <p:txBody>
          <a:bodyPr>
            <a:normAutofit/>
          </a:bodyPr>
          <a:lstStyle/>
          <a:p>
            <a:r>
              <a:rPr lang="en-US" altLang="en-US" sz="4400" dirty="0">
                <a:solidFill>
                  <a:srgbClr val="C00000"/>
                </a:solidFill>
                <a:latin typeface="Times New Roman" panose="02020603050405020304" pitchFamily="18" charset="0"/>
                <a:cs typeface="Times New Roman" panose="02020603050405020304" pitchFamily="18" charset="0"/>
              </a:rPr>
              <a:t>System Requirements</a:t>
            </a:r>
            <a:endParaRPr lang="en-US" dirty="0">
              <a:solidFill>
                <a:srgbClr val="C00000"/>
              </a:solidFill>
            </a:endParaRPr>
          </a:p>
        </p:txBody>
      </p:sp>
      <p:sp>
        <p:nvSpPr>
          <p:cNvPr id="1048614" name="Content Placeholder 1"/>
          <p:cNvSpPr>
            <a:spLocks noGrp="1"/>
          </p:cNvSpPr>
          <p:nvPr>
            <p:ph idx="1"/>
          </p:nvPr>
        </p:nvSpPr>
        <p:spPr>
          <a:xfrm>
            <a:off x="609600" y="1090864"/>
            <a:ext cx="9970168" cy="5366083"/>
          </a:xfrm>
        </p:spPr>
        <p:txBody>
          <a:bodyPr>
            <a:normAutofit/>
          </a:bodyPr>
          <a:lstStyle/>
          <a:p>
            <a:pPr marL="0" indent="0">
              <a:lnSpc>
                <a:spcPct val="120000"/>
              </a:lnSpc>
              <a:buNone/>
            </a:pPr>
            <a:r>
              <a:rPr lang="en-US" altLang="en-US" b="1" dirty="0" smtClean="0">
                <a:latin typeface="Times New Roman" panose="02020603050405020304" pitchFamily="18" charset="0"/>
                <a:cs typeface="Times New Roman" panose="02020603050405020304" pitchFamily="18" charset="0"/>
              </a:rPr>
              <a:t>Hardware Requirements</a:t>
            </a:r>
            <a:endParaRPr lang="en-US" altLang="en-US" b="1" dirty="0">
              <a:latin typeface="Times New Roman" panose="02020603050405020304" pitchFamily="18" charset="0"/>
              <a:cs typeface="Times New Roman" panose="02020603050405020304" pitchFamily="18" charset="0"/>
            </a:endParaRPr>
          </a:p>
          <a:p>
            <a:pPr>
              <a:lnSpc>
                <a:spcPct val="150000"/>
              </a:lnSpc>
            </a:pPr>
            <a:r>
              <a:rPr lang="en-US" sz="2400" dirty="0">
                <a:latin typeface="Times New Roman" pitchFamily="18" charset="0"/>
                <a:cs typeface="Times New Roman" pitchFamily="18" charset="0"/>
              </a:rPr>
              <a:t>Processor                     : </a:t>
            </a:r>
            <a:r>
              <a:rPr lang="en-US" sz="2400" dirty="0" smtClean="0">
                <a:latin typeface="Times New Roman" pitchFamily="18" charset="0"/>
                <a:cs typeface="Times New Roman" pitchFamily="18" charset="0"/>
              </a:rPr>
              <a:t> Any </a:t>
            </a:r>
            <a:r>
              <a:rPr lang="en-US" sz="2400" dirty="0">
                <a:latin typeface="Times New Roman" pitchFamily="18" charset="0"/>
                <a:cs typeface="Times New Roman" pitchFamily="18" charset="0"/>
              </a:rPr>
              <a:t>Processor above 3 GHZ.</a:t>
            </a:r>
            <a:endParaRPr lang="en-IN" sz="2400" dirty="0">
              <a:latin typeface="Times New Roman" pitchFamily="18" charset="0"/>
              <a:cs typeface="Times New Roman" pitchFamily="18" charset="0"/>
            </a:endParaRPr>
          </a:p>
          <a:p>
            <a:pPr>
              <a:lnSpc>
                <a:spcPct val="150000"/>
              </a:lnSpc>
            </a:pPr>
            <a:r>
              <a:rPr lang="en-US" sz="2400" dirty="0">
                <a:latin typeface="Times New Roman" pitchFamily="18" charset="0"/>
                <a:cs typeface="Times New Roman" pitchFamily="18" charset="0"/>
              </a:rPr>
              <a:t>Ram                             </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4 GB.</a:t>
            </a:r>
            <a:endParaRPr lang="en-IN" sz="2400" dirty="0">
              <a:latin typeface="Times New Roman" pitchFamily="18" charset="0"/>
              <a:cs typeface="Times New Roman" pitchFamily="18" charset="0"/>
            </a:endParaRPr>
          </a:p>
          <a:p>
            <a:pPr>
              <a:lnSpc>
                <a:spcPct val="150000"/>
              </a:lnSpc>
            </a:pPr>
            <a:r>
              <a:rPr lang="en-US" sz="2400" dirty="0">
                <a:latin typeface="Times New Roman" pitchFamily="18" charset="0"/>
                <a:cs typeface="Times New Roman" pitchFamily="18" charset="0"/>
              </a:rPr>
              <a:t>Hard Disk                    :  10 Gb.</a:t>
            </a:r>
            <a:endParaRPr lang="en-IN" sz="2400" dirty="0">
              <a:latin typeface="Times New Roman" pitchFamily="18" charset="0"/>
              <a:cs typeface="Times New Roman" pitchFamily="18" charset="0"/>
            </a:endParaRPr>
          </a:p>
          <a:p>
            <a:pPr>
              <a:lnSpc>
                <a:spcPct val="150000"/>
              </a:lnSpc>
            </a:pPr>
            <a:r>
              <a:rPr lang="en-US" sz="2400" dirty="0">
                <a:latin typeface="Times New Roman" pitchFamily="18" charset="0"/>
                <a:cs typeface="Times New Roman" pitchFamily="18" charset="0"/>
              </a:rPr>
              <a:t>Compact Disk          </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  650 Mb.</a:t>
            </a:r>
            <a:endParaRPr lang="en-IN" sz="2400" dirty="0">
              <a:latin typeface="Times New Roman" pitchFamily="18" charset="0"/>
              <a:cs typeface="Times New Roman" pitchFamily="18" charset="0"/>
            </a:endParaRPr>
          </a:p>
          <a:p>
            <a:pPr>
              <a:lnSpc>
                <a:spcPct val="150000"/>
              </a:lnSpc>
            </a:pPr>
            <a:r>
              <a:rPr lang="en-US" sz="2400" dirty="0">
                <a:latin typeface="Times New Roman" pitchFamily="18" charset="0"/>
                <a:cs typeface="Times New Roman" pitchFamily="18" charset="0"/>
              </a:rPr>
              <a:t>Input device                </a:t>
            </a:r>
            <a:r>
              <a:rPr lang="en-US" sz="2400" dirty="0" smtClean="0">
                <a:latin typeface="Times New Roman" pitchFamily="18" charset="0"/>
                <a:cs typeface="Times New Roman" pitchFamily="18" charset="0"/>
              </a:rPr>
              <a:t> :  </a:t>
            </a:r>
            <a:r>
              <a:rPr lang="en-US" sz="2400" dirty="0">
                <a:latin typeface="Times New Roman" pitchFamily="18" charset="0"/>
                <a:cs typeface="Times New Roman" pitchFamily="18" charset="0"/>
              </a:rPr>
              <a:t>Standard Keyboard and Mouse.</a:t>
            </a:r>
            <a:endParaRPr lang="en-IN" sz="2400" dirty="0">
              <a:latin typeface="Times New Roman" pitchFamily="18" charset="0"/>
              <a:cs typeface="Times New Roman" pitchFamily="18" charset="0"/>
            </a:endParaRPr>
          </a:p>
          <a:p>
            <a:pPr>
              <a:lnSpc>
                <a:spcPct val="150000"/>
              </a:lnSpc>
            </a:pPr>
            <a:r>
              <a:rPr lang="en-US" sz="2400" dirty="0">
                <a:latin typeface="Times New Roman" pitchFamily="18" charset="0"/>
                <a:cs typeface="Times New Roman" pitchFamily="18" charset="0"/>
              </a:rPr>
              <a:t>Output device            </a:t>
            </a:r>
            <a:r>
              <a:rPr lang="en-US" sz="2400" dirty="0" smtClean="0">
                <a:latin typeface="Times New Roman" pitchFamily="18" charset="0"/>
                <a:cs typeface="Times New Roman" pitchFamily="18" charset="0"/>
              </a:rPr>
              <a:t>  </a:t>
            </a:r>
            <a:r>
              <a:rPr lang="en-US" sz="2400" dirty="0">
                <a:latin typeface="Times New Roman" pitchFamily="18" charset="0"/>
                <a:cs typeface="Times New Roman" pitchFamily="18" charset="0"/>
              </a:rPr>
              <a:t>:  VGA and High Resolution Monitor.</a:t>
            </a:r>
            <a:endParaRPr lang="en-IN" sz="2400" dirty="0">
              <a:latin typeface="Times New Roman" pitchFamily="18" charset="0"/>
              <a:cs typeface="Times New Roman" pitchFamily="18" charset="0"/>
            </a:endParaRPr>
          </a:p>
          <a:p>
            <a:pPr marL="0" indent="0">
              <a:buNone/>
            </a:pPr>
            <a:endParaRPr lang="en-US" altLang="en-US" sz="2800" dirty="0">
              <a:latin typeface="Times New Roman" panose="02020603050405020304" pitchFamily="18" charset="0"/>
              <a:cs typeface="Times New Roman" panose="02020603050405020304" pitchFamily="18" charset="0"/>
            </a:endParaRPr>
          </a:p>
          <a:p>
            <a:pPr marL="109537" indent="0">
              <a:buNone/>
            </a:pPr>
            <a:endParaRPr lang="en-US" dirty="0"/>
          </a:p>
        </p:txBody>
      </p:sp>
    </p:spTree>
    <p:extLst>
      <p:ext uri="{BB962C8B-B14F-4D97-AF65-F5344CB8AC3E}">
        <p14:creationId xmlns:p14="http://schemas.microsoft.com/office/powerpoint/2010/main" val="278531024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3" name="Title 2"/>
          <p:cNvSpPr>
            <a:spLocks noGrp="1"/>
          </p:cNvSpPr>
          <p:nvPr>
            <p:ph type="title"/>
          </p:nvPr>
        </p:nvSpPr>
        <p:spPr>
          <a:xfrm>
            <a:off x="609600" y="112296"/>
            <a:ext cx="10972800" cy="978568"/>
          </a:xfrm>
        </p:spPr>
        <p:txBody>
          <a:bodyPr>
            <a:normAutofit/>
          </a:bodyPr>
          <a:lstStyle/>
          <a:p>
            <a:r>
              <a:rPr lang="en-US" altLang="en-US" sz="4400" dirty="0">
                <a:solidFill>
                  <a:srgbClr val="C00000"/>
                </a:solidFill>
                <a:latin typeface="Times New Roman" panose="02020603050405020304" pitchFamily="18" charset="0"/>
                <a:cs typeface="Times New Roman" panose="02020603050405020304" pitchFamily="18" charset="0"/>
              </a:rPr>
              <a:t>System Requirements</a:t>
            </a:r>
            <a:endParaRPr lang="en-US" dirty="0">
              <a:solidFill>
                <a:srgbClr val="C00000"/>
              </a:solidFill>
            </a:endParaRPr>
          </a:p>
        </p:txBody>
      </p:sp>
      <p:sp>
        <p:nvSpPr>
          <p:cNvPr id="1048614" name="Content Placeholder 1"/>
          <p:cNvSpPr>
            <a:spLocks noGrp="1"/>
          </p:cNvSpPr>
          <p:nvPr>
            <p:ph idx="1"/>
          </p:nvPr>
        </p:nvSpPr>
        <p:spPr>
          <a:xfrm>
            <a:off x="609600" y="1090864"/>
            <a:ext cx="9970168" cy="5366083"/>
          </a:xfrm>
        </p:spPr>
        <p:txBody>
          <a:bodyPr>
            <a:normAutofit/>
          </a:bodyPr>
          <a:lstStyle/>
          <a:p>
            <a:pPr marL="0" indent="0">
              <a:lnSpc>
                <a:spcPct val="120000"/>
              </a:lnSpc>
              <a:buNone/>
            </a:pPr>
            <a:r>
              <a:rPr lang="en-US" altLang="en-US" b="1" dirty="0">
                <a:latin typeface="Times New Roman" panose="02020603050405020304" pitchFamily="18" charset="0"/>
                <a:cs typeface="Times New Roman" panose="02020603050405020304" pitchFamily="18" charset="0"/>
              </a:rPr>
              <a:t>Software Requirements</a:t>
            </a:r>
          </a:p>
          <a:p>
            <a:pPr>
              <a:lnSpc>
                <a:spcPct val="150000"/>
              </a:lnSpc>
              <a:buFont typeface="Wingdings" pitchFamily="2" charset="2"/>
              <a:buChar char="Ø"/>
            </a:pPr>
            <a:r>
              <a:rPr lang="en-US" sz="2400" dirty="0" smtClean="0">
                <a:latin typeface="Times New Roman" pitchFamily="18" charset="0"/>
                <a:cs typeface="Times New Roman" pitchFamily="18" charset="0"/>
              </a:rPr>
              <a:t>Operating System          : Windows Family.</a:t>
            </a:r>
            <a:endParaRPr lang="en-IN" sz="2400" dirty="0" smtClean="0">
              <a:latin typeface="Times New Roman" pitchFamily="18" charset="0"/>
              <a:cs typeface="Times New Roman" pitchFamily="18" charset="0"/>
            </a:endParaRPr>
          </a:p>
          <a:p>
            <a:pPr>
              <a:lnSpc>
                <a:spcPct val="150000"/>
              </a:lnSpc>
              <a:buFont typeface="Wingdings" pitchFamily="2" charset="2"/>
              <a:buChar char="Ø"/>
            </a:pPr>
            <a:r>
              <a:rPr lang="en-US" sz="2400" dirty="0" smtClean="0">
                <a:latin typeface="Times New Roman" pitchFamily="18" charset="0"/>
                <a:cs typeface="Times New Roman" pitchFamily="18" charset="0"/>
              </a:rPr>
              <a:t>Development Tools        : JDK 1.8 and </a:t>
            </a:r>
            <a:r>
              <a:rPr lang="en-US" sz="2400" dirty="0" err="1" smtClean="0">
                <a:latin typeface="Times New Roman" pitchFamily="18" charset="0"/>
                <a:cs typeface="Times New Roman" pitchFamily="18" charset="0"/>
              </a:rPr>
              <a:t>Netbeans</a:t>
            </a:r>
            <a:r>
              <a:rPr lang="en-US" sz="2400" dirty="0" smtClean="0">
                <a:latin typeface="Times New Roman" pitchFamily="18" charset="0"/>
                <a:cs typeface="Times New Roman" pitchFamily="18" charset="0"/>
              </a:rPr>
              <a:t> 8.2</a:t>
            </a:r>
            <a:endParaRPr lang="en-IN" sz="2400" dirty="0" smtClean="0">
              <a:latin typeface="Times New Roman" pitchFamily="18" charset="0"/>
              <a:cs typeface="Times New Roman" pitchFamily="18" charset="0"/>
            </a:endParaRPr>
          </a:p>
          <a:p>
            <a:pPr>
              <a:lnSpc>
                <a:spcPct val="150000"/>
              </a:lnSpc>
              <a:buFont typeface="Wingdings" pitchFamily="2" charset="2"/>
              <a:buChar char="Ø"/>
            </a:pPr>
            <a:r>
              <a:rPr lang="en-US" sz="2400" dirty="0" smtClean="0">
                <a:latin typeface="Times New Roman" pitchFamily="18" charset="0"/>
                <a:cs typeface="Times New Roman" pitchFamily="18" charset="0"/>
              </a:rPr>
              <a:t>Front End		      : Java Swings</a:t>
            </a:r>
            <a:endParaRPr lang="en-IN" sz="2400" dirty="0" smtClean="0">
              <a:latin typeface="Times New Roman" pitchFamily="18" charset="0"/>
              <a:cs typeface="Times New Roman" pitchFamily="18" charset="0"/>
            </a:endParaRPr>
          </a:p>
          <a:p>
            <a:pPr>
              <a:lnSpc>
                <a:spcPct val="150000"/>
              </a:lnSpc>
              <a:buFont typeface="Wingdings" pitchFamily="2" charset="2"/>
              <a:buChar char="Ø"/>
            </a:pPr>
            <a:r>
              <a:rPr lang="en-US" sz="2400" dirty="0" smtClean="0">
                <a:latin typeface="Times New Roman" pitchFamily="18" charset="0"/>
                <a:cs typeface="Times New Roman" pitchFamily="18" charset="0"/>
              </a:rPr>
              <a:t>Backend		      : </a:t>
            </a:r>
            <a:r>
              <a:rPr lang="en-US" sz="2400" dirty="0" err="1" smtClean="0">
                <a:latin typeface="Times New Roman" pitchFamily="18" charset="0"/>
                <a:cs typeface="Times New Roman" pitchFamily="18" charset="0"/>
              </a:rPr>
              <a:t>Mysql</a:t>
            </a:r>
            <a:r>
              <a:rPr lang="en-US" sz="2400" dirty="0" smtClean="0">
                <a:latin typeface="Times New Roman" pitchFamily="18" charset="0"/>
                <a:cs typeface="Times New Roman" pitchFamily="18" charset="0"/>
              </a:rPr>
              <a:t> Server 5.0</a:t>
            </a:r>
            <a:endParaRPr lang="en-US" altLang="en-US" sz="2400" dirty="0" smtClean="0">
              <a:latin typeface="Times New Roman" panose="02020603050405020304" pitchFamily="18" charset="0"/>
              <a:cs typeface="Times New Roman" panose="02020603050405020304" pitchFamily="18" charset="0"/>
            </a:endParaRPr>
          </a:p>
          <a:p>
            <a:pPr marL="109537" indent="0">
              <a:buNone/>
            </a:pP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5" name="Title 2"/>
          <p:cNvSpPr>
            <a:spLocks noGrp="1"/>
          </p:cNvSpPr>
          <p:nvPr>
            <p:ph type="title"/>
          </p:nvPr>
        </p:nvSpPr>
        <p:spPr>
          <a:xfrm>
            <a:off x="609600" y="274638"/>
            <a:ext cx="10972800" cy="836710"/>
          </a:xfrm>
        </p:spPr>
        <p:txBody>
          <a:bodyPr>
            <a:normAutofit/>
          </a:bodyPr>
          <a:lstStyle/>
          <a:p>
            <a:r>
              <a:rPr lang="en-US" altLang="en-US" sz="4400" dirty="0">
                <a:solidFill>
                  <a:srgbClr val="C00000"/>
                </a:solidFill>
                <a:latin typeface="Times New Roman" panose="02020603050405020304" pitchFamily="18" charset="0"/>
                <a:cs typeface="Times New Roman" panose="02020603050405020304" pitchFamily="18" charset="0"/>
              </a:rPr>
              <a:t>Expected Outcomes</a:t>
            </a:r>
            <a:endParaRPr lang="en-US" dirty="0">
              <a:solidFill>
                <a:srgbClr val="C00000"/>
              </a:solidFill>
            </a:endParaRPr>
          </a:p>
        </p:txBody>
      </p:sp>
      <p:sp>
        <p:nvSpPr>
          <p:cNvPr id="1048616" name="Content Placeholder 1"/>
          <p:cNvSpPr>
            <a:spLocks noGrp="1"/>
          </p:cNvSpPr>
          <p:nvPr>
            <p:ph idx="1"/>
          </p:nvPr>
        </p:nvSpPr>
        <p:spPr>
          <a:xfrm>
            <a:off x="457200" y="1301015"/>
            <a:ext cx="10764253" cy="4726940"/>
          </a:xfrm>
        </p:spPr>
        <p:txBody>
          <a:bodyPr>
            <a:normAutofit fontScale="77500" lnSpcReduction="20000"/>
          </a:bodyPr>
          <a:lstStyle/>
          <a:p>
            <a:pPr algn="just">
              <a:lnSpc>
                <a:spcPct val="170000"/>
              </a:lnSpc>
              <a:buFont typeface="Wingdings" pitchFamily="2" charset="2"/>
              <a:buChar char="Ø"/>
            </a:pPr>
            <a:r>
              <a:rPr lang="en-US" dirty="0" smtClean="0">
                <a:latin typeface="Times New Roman" pitchFamily="18" charset="0"/>
                <a:cs typeface="Times New Roman" pitchFamily="18" charset="0"/>
              </a:rPr>
              <a:t>Users should </a:t>
            </a:r>
            <a:r>
              <a:rPr lang="en-US" smtClean="0">
                <a:latin typeface="Times New Roman" pitchFamily="18" charset="0"/>
                <a:cs typeface="Times New Roman" pitchFamily="18" charset="0"/>
              </a:rPr>
              <a:t>be able to </a:t>
            </a:r>
            <a:r>
              <a:rPr lang="en-US" dirty="0">
                <a:latin typeface="Times New Roman" pitchFamily="18" charset="0"/>
                <a:cs typeface="Times New Roman" pitchFamily="18" charset="0"/>
              </a:rPr>
              <a:t>store data onto the cloud and provides a prominent access control mechanism that will ensure the privacy of data. Users will be able to share data with other people in a permissioned manner by sharing the link for document with the intended user. Logs of all the operations performed with the document will be available to the owner at any instance of time. This will ensure the actual ownership &amp; privacy of the data.</a:t>
            </a:r>
          </a:p>
          <a:p>
            <a:pPr algn="just">
              <a:lnSpc>
                <a:spcPct val="170000"/>
              </a:lnSpc>
              <a:buFont typeface="Wingdings" pitchFamily="2" charset="2"/>
              <a:buChar char="Ø"/>
            </a:pPr>
            <a:r>
              <a:rPr lang="en-US" dirty="0">
                <a:latin typeface="Times New Roman" pitchFamily="18" charset="0"/>
                <a:cs typeface="Times New Roman" pitchFamily="18" charset="0"/>
              </a:rPr>
              <a:t> Any person or third-party will not be able to access document without valid permission. </a:t>
            </a:r>
          </a:p>
          <a:p>
            <a:pPr algn="just">
              <a:lnSpc>
                <a:spcPct val="170000"/>
              </a:lnSpc>
              <a:buFont typeface="Wingdings" pitchFamily="2" charset="2"/>
              <a:buChar char="Ø"/>
            </a:pPr>
            <a:r>
              <a:rPr lang="en-US" dirty="0">
                <a:latin typeface="Times New Roman" pitchFamily="18" charset="0"/>
                <a:cs typeface="Times New Roman" pitchFamily="18" charset="0"/>
              </a:rPr>
              <a:t>This will make existing cloud storage more secure &amp; decrease the data breaches &amp; several attacks.</a:t>
            </a:r>
            <a:endParaRPr lang="en-IN" dirty="0">
              <a:latin typeface="Times New Roman" pitchFamily="18" charset="0"/>
              <a:cs typeface="Times New Roman" pitchFamily="18" charset="0"/>
            </a:endParaRPr>
          </a:p>
          <a:p>
            <a:pPr algn="just">
              <a:lnSpc>
                <a:spcPct val="170000"/>
              </a:lnSpc>
            </a:pPr>
            <a:endParaRPr lang="en-US" dirty="0">
              <a:latin typeface="Times New Roman" pitchFamily="18" charset="0"/>
              <a:cs typeface="Times New Roman" pitchFamily="18" charset="0"/>
            </a:endParaRPr>
          </a:p>
          <a:p>
            <a:pPr marL="566737" indent="-457200" algn="just">
              <a:lnSpc>
                <a:spcPct val="150000"/>
              </a:lnSpc>
              <a:buFont typeface="Wingdings" panose="05000000000000000000" pitchFamily="2" charset="2"/>
              <a:buChar char="Ø"/>
            </a:pPr>
            <a:endParaRPr lang="en-US" sz="800" dirty="0">
              <a:latin typeface="Times New Roamn"/>
            </a:endParaRPr>
          </a:p>
          <a:p>
            <a:pPr marL="109537" indent="0">
              <a:buNone/>
            </a:pP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Title 2"/>
          <p:cNvSpPr>
            <a:spLocks noGrp="1"/>
          </p:cNvSpPr>
          <p:nvPr>
            <p:ph type="title"/>
          </p:nvPr>
        </p:nvSpPr>
        <p:spPr>
          <a:xfrm>
            <a:off x="609600" y="274638"/>
            <a:ext cx="10972800" cy="864845"/>
          </a:xfrm>
        </p:spPr>
        <p:txBody>
          <a:bodyPr>
            <a:normAutofit/>
          </a:bodyPr>
          <a:lstStyle/>
          <a:p>
            <a:r>
              <a:rPr lang="en-US" altLang="en-US" sz="4400" dirty="0">
                <a:solidFill>
                  <a:srgbClr val="C00000"/>
                </a:solidFill>
                <a:latin typeface="Times New Roman" panose="02020603050405020304" pitchFamily="18" charset="0"/>
                <a:cs typeface="Times New Roman" panose="02020603050405020304" pitchFamily="18" charset="0"/>
              </a:rPr>
              <a:t>References</a:t>
            </a:r>
            <a:endParaRPr lang="en-US" dirty="0">
              <a:solidFill>
                <a:srgbClr val="C00000"/>
              </a:solidFill>
            </a:endParaRPr>
          </a:p>
        </p:txBody>
      </p:sp>
      <p:sp>
        <p:nvSpPr>
          <p:cNvPr id="1048618" name="Content Placeholder 1"/>
          <p:cNvSpPr>
            <a:spLocks noGrp="1"/>
          </p:cNvSpPr>
          <p:nvPr>
            <p:ph idx="1"/>
          </p:nvPr>
        </p:nvSpPr>
        <p:spPr>
          <a:xfrm>
            <a:off x="486033" y="1227221"/>
            <a:ext cx="10727400" cy="5005137"/>
          </a:xfrm>
        </p:spPr>
        <p:txBody>
          <a:bodyPr>
            <a:noAutofit/>
          </a:bodyPr>
          <a:lstStyle/>
          <a:p>
            <a:pPr marL="0" indent="0" algn="just">
              <a:lnSpc>
                <a:spcPct val="150000"/>
              </a:lnSpc>
              <a:buNone/>
            </a:pPr>
            <a:r>
              <a:rPr lang="en-IN" sz="2400" dirty="0">
                <a:solidFill>
                  <a:srgbClr val="000000"/>
                </a:solidFill>
                <a:latin typeface="Times New Roman" panose="02020603050405020304" pitchFamily="18" charset="0"/>
                <a:cs typeface="Times New Roman" panose="02020603050405020304" pitchFamily="18" charset="0"/>
              </a:rPr>
              <a:t>[1] Maximilian </a:t>
            </a:r>
            <a:r>
              <a:rPr lang="en-IN" sz="2400" dirty="0" err="1">
                <a:solidFill>
                  <a:srgbClr val="000000"/>
                </a:solidFill>
                <a:latin typeface="Times New Roman" panose="02020603050405020304" pitchFamily="18" charset="0"/>
                <a:cs typeface="Times New Roman" panose="02020603050405020304" pitchFamily="18" charset="0"/>
              </a:rPr>
              <a:t>Wöhrer</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Uwe</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Zdun</a:t>
            </a:r>
            <a:r>
              <a:rPr lang="en-IN" sz="2400" dirty="0">
                <a:solidFill>
                  <a:srgbClr val="000000"/>
                </a:solidFill>
                <a:latin typeface="Times New Roman" panose="02020603050405020304" pitchFamily="18" charset="0"/>
                <a:cs typeface="Times New Roman" panose="02020603050405020304" pitchFamily="18" charset="0"/>
              </a:rPr>
              <a:t>, “ Smart contracts: Security patterns in the </a:t>
            </a:r>
            <a:r>
              <a:rPr lang="en-IN" sz="2400" dirty="0" err="1">
                <a:solidFill>
                  <a:srgbClr val="000000"/>
                </a:solidFill>
                <a:latin typeface="Times New Roman" panose="02020603050405020304" pitchFamily="18" charset="0"/>
                <a:cs typeface="Times New Roman" panose="02020603050405020304" pitchFamily="18" charset="0"/>
              </a:rPr>
              <a:t>ethereum</a:t>
            </a:r>
            <a:r>
              <a:rPr lang="en-IN" sz="2400" dirty="0">
                <a:solidFill>
                  <a:srgbClr val="000000"/>
                </a:solidFill>
                <a:latin typeface="Times New Roman" panose="02020603050405020304" pitchFamily="18" charset="0"/>
                <a:cs typeface="Times New Roman" panose="02020603050405020304" pitchFamily="18" charset="0"/>
              </a:rPr>
              <a:t> ecosystem and solidity”, International Workshop on </a:t>
            </a:r>
            <a:r>
              <a:rPr lang="en-IN" sz="2400" dirty="0" err="1">
                <a:solidFill>
                  <a:srgbClr val="000000"/>
                </a:solidFill>
                <a:latin typeface="Times New Roman" panose="02020603050405020304" pitchFamily="18" charset="0"/>
                <a:cs typeface="Times New Roman" panose="02020603050405020304" pitchFamily="18" charset="0"/>
              </a:rPr>
              <a:t>Blockchain</a:t>
            </a:r>
            <a:r>
              <a:rPr lang="en-IN" sz="2400" dirty="0">
                <a:solidFill>
                  <a:srgbClr val="000000"/>
                </a:solidFill>
                <a:latin typeface="Times New Roman" panose="02020603050405020304" pitchFamily="18" charset="0"/>
                <a:cs typeface="Times New Roman" panose="02020603050405020304" pitchFamily="18" charset="0"/>
              </a:rPr>
              <a:t> Oriented Software Engineering (IWBOSE) ,IEEE, 2018</a:t>
            </a:r>
            <a:r>
              <a:rPr lang="en-IN" sz="2400" dirty="0" smtClean="0">
                <a:solidFill>
                  <a:srgbClr val="000000"/>
                </a:solidFill>
                <a:latin typeface="Times New Roman" panose="02020603050405020304" pitchFamily="18" charset="0"/>
                <a:cs typeface="Times New Roman" panose="02020603050405020304" pitchFamily="18" charset="0"/>
              </a:rPr>
              <a:t>.</a:t>
            </a:r>
          </a:p>
          <a:p>
            <a:pPr marL="0" indent="0" algn="just">
              <a:lnSpc>
                <a:spcPct val="150000"/>
              </a:lnSpc>
              <a:buNone/>
            </a:pPr>
            <a:r>
              <a:rPr lang="en-IN" sz="2400" dirty="0" smtClean="0">
                <a:solidFill>
                  <a:srgbClr val="000000"/>
                </a:solidFill>
                <a:latin typeface="Times New Roman" panose="02020603050405020304" pitchFamily="18" charset="0"/>
                <a:cs typeface="Times New Roman" panose="02020603050405020304" pitchFamily="18" charset="0"/>
              </a:rPr>
              <a:t>[</a:t>
            </a:r>
            <a:r>
              <a:rPr lang="en-IN" sz="2400" dirty="0">
                <a:solidFill>
                  <a:srgbClr val="000000"/>
                </a:solidFill>
                <a:latin typeface="Times New Roman" panose="02020603050405020304" pitchFamily="18" charset="0"/>
                <a:cs typeface="Times New Roman" panose="02020603050405020304" pitchFamily="18" charset="0"/>
              </a:rPr>
              <a:t>2] </a:t>
            </a:r>
            <a:r>
              <a:rPr lang="en-IN" sz="2400" dirty="0" err="1">
                <a:solidFill>
                  <a:srgbClr val="000000"/>
                </a:solidFill>
                <a:latin typeface="Times New Roman" panose="02020603050405020304" pitchFamily="18" charset="0"/>
                <a:cs typeface="Times New Roman" panose="02020603050405020304" pitchFamily="18" charset="0"/>
              </a:rPr>
              <a:t>Qiwu</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Zou</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Yuzhe</a:t>
            </a:r>
            <a:r>
              <a:rPr lang="en-IN" sz="2400" dirty="0">
                <a:solidFill>
                  <a:srgbClr val="000000"/>
                </a:solidFill>
                <a:latin typeface="Times New Roman" panose="02020603050405020304" pitchFamily="18" charset="0"/>
                <a:cs typeface="Times New Roman" panose="02020603050405020304" pitchFamily="18" charset="0"/>
              </a:rPr>
              <a:t> Tang, </a:t>
            </a:r>
            <a:r>
              <a:rPr lang="en-IN" sz="2400" dirty="0" err="1">
                <a:solidFill>
                  <a:srgbClr val="000000"/>
                </a:solidFill>
                <a:latin typeface="Times New Roman" panose="02020603050405020304" pitchFamily="18" charset="0"/>
                <a:cs typeface="Times New Roman" panose="02020603050405020304" pitchFamily="18" charset="0"/>
              </a:rPr>
              <a:t>Ju</a:t>
            </a:r>
            <a:r>
              <a:rPr lang="en-IN" sz="2400" dirty="0">
                <a:solidFill>
                  <a:srgbClr val="000000"/>
                </a:solidFill>
                <a:latin typeface="Times New Roman" panose="02020603050405020304" pitchFamily="18" charset="0"/>
                <a:cs typeface="Times New Roman" panose="02020603050405020304" pitchFamily="18" charset="0"/>
              </a:rPr>
              <a:t> Chen, Kai Li, Charles A. </a:t>
            </a:r>
            <a:r>
              <a:rPr lang="en-IN" sz="2400" dirty="0" err="1">
                <a:solidFill>
                  <a:srgbClr val="000000"/>
                </a:solidFill>
                <a:latin typeface="Times New Roman" panose="02020603050405020304" pitchFamily="18" charset="0"/>
                <a:cs typeface="Times New Roman" panose="02020603050405020304" pitchFamily="18" charset="0"/>
              </a:rPr>
              <a:t>Kamhoua</a:t>
            </a:r>
            <a:r>
              <a:rPr lang="en-IN" sz="2400" dirty="0">
                <a:solidFill>
                  <a:srgbClr val="000000"/>
                </a:solidFill>
                <a:latin typeface="Times New Roman" panose="02020603050405020304" pitchFamily="18" charset="0"/>
                <a:cs typeface="Times New Roman" panose="02020603050405020304" pitchFamily="18" charset="0"/>
              </a:rPr>
              <a:t>, Kevin </a:t>
            </a:r>
            <a:r>
              <a:rPr lang="en-IN" sz="2400" dirty="0" err="1">
                <a:solidFill>
                  <a:srgbClr val="000000"/>
                </a:solidFill>
                <a:latin typeface="Times New Roman" panose="02020603050405020304" pitchFamily="18" charset="0"/>
                <a:cs typeface="Times New Roman" panose="02020603050405020304" pitchFamily="18" charset="0"/>
              </a:rPr>
              <a:t>Kwiat</a:t>
            </a:r>
            <a:r>
              <a:rPr lang="en-IN" sz="2400" dirty="0">
                <a:solidFill>
                  <a:srgbClr val="000000"/>
                </a:solidFill>
                <a:latin typeface="Times New Roman" panose="02020603050405020304" pitchFamily="18" charset="0"/>
                <a:cs typeface="Times New Roman" panose="02020603050405020304" pitchFamily="18" charset="0"/>
              </a:rPr>
              <a:t>, Laurent </a:t>
            </a:r>
            <a:r>
              <a:rPr lang="en-IN" sz="2400" dirty="0" err="1">
                <a:solidFill>
                  <a:srgbClr val="000000"/>
                </a:solidFill>
                <a:latin typeface="Times New Roman" panose="02020603050405020304" pitchFamily="18" charset="0"/>
                <a:cs typeface="Times New Roman" panose="02020603050405020304" pitchFamily="18" charset="0"/>
              </a:rPr>
              <a:t>Njilla</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ChainFS</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Blockchain</a:t>
            </a:r>
            <a:r>
              <a:rPr lang="en-IN" sz="2400" dirty="0">
                <a:solidFill>
                  <a:srgbClr val="000000"/>
                </a:solidFill>
                <a:latin typeface="Times New Roman" panose="02020603050405020304" pitchFamily="18" charset="0"/>
                <a:cs typeface="Times New Roman" panose="02020603050405020304" pitchFamily="18" charset="0"/>
              </a:rPr>
              <a:t>-Secured Cloud Storage”, IEEE 11th International Conference on Cloud Computing (CLOUD), 2018.  </a:t>
            </a:r>
            <a:endParaRPr lang="en-IN" sz="2400" dirty="0" smtClean="0">
              <a:solidFill>
                <a:srgbClr val="000000"/>
              </a:solidFill>
              <a:latin typeface="Times New Roman" panose="02020603050405020304" pitchFamily="18" charset="0"/>
              <a:cs typeface="Times New Roman" panose="02020603050405020304" pitchFamily="18" charset="0"/>
            </a:endParaRPr>
          </a:p>
          <a:p>
            <a:pPr marL="0" indent="0" algn="just">
              <a:lnSpc>
                <a:spcPct val="150000"/>
              </a:lnSpc>
              <a:buNone/>
            </a:pPr>
            <a:r>
              <a:rPr lang="en-IN" sz="2400" dirty="0" smtClean="0">
                <a:solidFill>
                  <a:srgbClr val="000000"/>
                </a:solidFill>
                <a:latin typeface="Times New Roman" panose="02020603050405020304" pitchFamily="18" charset="0"/>
                <a:cs typeface="Times New Roman" panose="02020603050405020304" pitchFamily="18" charset="0"/>
              </a:rPr>
              <a:t>[</a:t>
            </a:r>
            <a:r>
              <a:rPr lang="en-IN" sz="2400" dirty="0">
                <a:solidFill>
                  <a:srgbClr val="000000"/>
                </a:solidFill>
                <a:latin typeface="Times New Roman" panose="02020603050405020304" pitchFamily="18" charset="0"/>
                <a:cs typeface="Times New Roman" panose="02020603050405020304" pitchFamily="18" charset="0"/>
              </a:rPr>
              <a:t>3] Fran Casino, Thomas K. </a:t>
            </a:r>
            <a:r>
              <a:rPr lang="en-IN" sz="2400" dirty="0" err="1">
                <a:solidFill>
                  <a:srgbClr val="000000"/>
                </a:solidFill>
                <a:latin typeface="Times New Roman" panose="02020603050405020304" pitchFamily="18" charset="0"/>
                <a:cs typeface="Times New Roman" panose="02020603050405020304" pitchFamily="18" charset="0"/>
              </a:rPr>
              <a:t>Dasaklis</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Constantinos</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Patsakis</a:t>
            </a:r>
            <a:r>
              <a:rPr lang="en-IN" sz="2400" dirty="0">
                <a:solidFill>
                  <a:srgbClr val="000000"/>
                </a:solidFill>
                <a:latin typeface="Times New Roman" panose="02020603050405020304" pitchFamily="18" charset="0"/>
                <a:cs typeface="Times New Roman" panose="02020603050405020304" pitchFamily="18" charset="0"/>
              </a:rPr>
              <a:t>,”A systematic literature review of </a:t>
            </a:r>
            <a:r>
              <a:rPr lang="en-IN" sz="2400" dirty="0" err="1">
                <a:solidFill>
                  <a:srgbClr val="000000"/>
                </a:solidFill>
                <a:latin typeface="Times New Roman" panose="02020603050405020304" pitchFamily="18" charset="0"/>
                <a:cs typeface="Times New Roman" panose="02020603050405020304" pitchFamily="18" charset="0"/>
              </a:rPr>
              <a:t>blockchain</a:t>
            </a:r>
            <a:r>
              <a:rPr lang="en-IN" sz="2400" dirty="0">
                <a:solidFill>
                  <a:srgbClr val="000000"/>
                </a:solidFill>
                <a:latin typeface="Times New Roman" panose="02020603050405020304" pitchFamily="18" charset="0"/>
                <a:cs typeface="Times New Roman" panose="02020603050405020304" pitchFamily="18" charset="0"/>
              </a:rPr>
              <a:t>-based </a:t>
            </a:r>
            <a:r>
              <a:rPr lang="en-IN" sz="2400" dirty="0" err="1">
                <a:solidFill>
                  <a:srgbClr val="000000"/>
                </a:solidFill>
                <a:latin typeface="Times New Roman" panose="02020603050405020304" pitchFamily="18" charset="0"/>
                <a:cs typeface="Times New Roman" panose="02020603050405020304" pitchFamily="18" charset="0"/>
              </a:rPr>
              <a:t>applications:Current</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status,classification</a:t>
            </a:r>
            <a:r>
              <a:rPr lang="en-IN" sz="2400" dirty="0">
                <a:solidFill>
                  <a:srgbClr val="000000"/>
                </a:solidFill>
                <a:latin typeface="Times New Roman" panose="02020603050405020304" pitchFamily="18" charset="0"/>
                <a:cs typeface="Times New Roman" panose="02020603050405020304" pitchFamily="18" charset="0"/>
              </a:rPr>
              <a:t> and open issues” , Elsevier, </a:t>
            </a:r>
            <a:r>
              <a:rPr lang="en-IN" sz="2400" dirty="0" smtClean="0">
                <a:solidFill>
                  <a:srgbClr val="000000"/>
                </a:solidFill>
                <a:latin typeface="Times New Roman" panose="02020603050405020304" pitchFamily="18" charset="0"/>
                <a:cs typeface="Times New Roman" panose="02020603050405020304" pitchFamily="18" charset="0"/>
              </a:rPr>
              <a:t>2018</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8" name="Content Placeholder 1"/>
          <p:cNvSpPr>
            <a:spLocks noGrp="1"/>
          </p:cNvSpPr>
          <p:nvPr>
            <p:ph idx="1"/>
          </p:nvPr>
        </p:nvSpPr>
        <p:spPr>
          <a:xfrm>
            <a:off x="486033" y="625641"/>
            <a:ext cx="10727400" cy="5606717"/>
          </a:xfrm>
        </p:spPr>
        <p:txBody>
          <a:bodyPr>
            <a:noAutofit/>
          </a:bodyPr>
          <a:lstStyle/>
          <a:p>
            <a:pPr marL="0" indent="0" algn="just">
              <a:lnSpc>
                <a:spcPct val="150000"/>
              </a:lnSpc>
              <a:buNone/>
            </a:pPr>
            <a:r>
              <a:rPr lang="en-IN" sz="2400" dirty="0" smtClean="0">
                <a:solidFill>
                  <a:srgbClr val="000000"/>
                </a:solidFill>
                <a:latin typeface="Times New Roman" panose="02020603050405020304" pitchFamily="18" charset="0"/>
                <a:cs typeface="Times New Roman" panose="02020603050405020304" pitchFamily="18" charset="0"/>
              </a:rPr>
              <a:t>[</a:t>
            </a:r>
            <a:r>
              <a:rPr lang="en-IN" sz="2400" dirty="0">
                <a:solidFill>
                  <a:srgbClr val="000000"/>
                </a:solidFill>
                <a:latin typeface="Times New Roman" panose="02020603050405020304" pitchFamily="18" charset="0"/>
                <a:cs typeface="Times New Roman" panose="02020603050405020304" pitchFamily="18" charset="0"/>
              </a:rPr>
              <a:t>4] </a:t>
            </a:r>
            <a:r>
              <a:rPr lang="en-IN" sz="2400" dirty="0" err="1">
                <a:solidFill>
                  <a:srgbClr val="000000"/>
                </a:solidFill>
                <a:latin typeface="Times New Roman" panose="02020603050405020304" pitchFamily="18" charset="0"/>
                <a:cs typeface="Times New Roman" panose="02020603050405020304" pitchFamily="18" charset="0"/>
              </a:rPr>
              <a:t>R.Gowthami</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Saranya</a:t>
            </a:r>
            <a:r>
              <a:rPr lang="en-IN" sz="2400" dirty="0">
                <a:solidFill>
                  <a:srgbClr val="000000"/>
                </a:solidFill>
                <a:latin typeface="Times New Roman" panose="02020603050405020304" pitchFamily="18" charset="0"/>
                <a:cs typeface="Times New Roman" panose="02020603050405020304" pitchFamily="18" charset="0"/>
              </a:rPr>
              <a:t>, A.</a:t>
            </a:r>
            <a:r>
              <a:rPr lang="en-IN" sz="2400" dirty="0" err="1">
                <a:solidFill>
                  <a:srgbClr val="000000"/>
                </a:solidFill>
                <a:latin typeface="Times New Roman" panose="02020603050405020304" pitchFamily="18" charset="0"/>
                <a:cs typeface="Times New Roman" panose="02020603050405020304" pitchFamily="18" charset="0"/>
              </a:rPr>
              <a:t>Kousalya</a:t>
            </a:r>
            <a:r>
              <a:rPr lang="en-IN" sz="2400" dirty="0">
                <a:solidFill>
                  <a:srgbClr val="000000"/>
                </a:solidFill>
                <a:latin typeface="Times New Roman" panose="02020603050405020304" pitchFamily="18" charset="0"/>
                <a:cs typeface="Times New Roman" panose="02020603050405020304" pitchFamily="18" charset="0"/>
              </a:rPr>
              <a:t>,”A comparative analysis of security algorithms using cryptographic techniques in cloud computing” ,IEEE,2017.  </a:t>
            </a:r>
            <a:endParaRPr lang="en-IN" sz="2400" dirty="0" smtClean="0">
              <a:solidFill>
                <a:srgbClr val="000000"/>
              </a:solidFill>
              <a:latin typeface="Times New Roman" panose="02020603050405020304" pitchFamily="18" charset="0"/>
              <a:cs typeface="Times New Roman" panose="02020603050405020304" pitchFamily="18" charset="0"/>
            </a:endParaRPr>
          </a:p>
          <a:p>
            <a:pPr marL="0" indent="0" algn="just">
              <a:lnSpc>
                <a:spcPct val="150000"/>
              </a:lnSpc>
              <a:buNone/>
            </a:pPr>
            <a:r>
              <a:rPr lang="en-IN" sz="2400" dirty="0" smtClean="0">
                <a:solidFill>
                  <a:srgbClr val="000000"/>
                </a:solidFill>
                <a:latin typeface="Times New Roman" panose="02020603050405020304" pitchFamily="18" charset="0"/>
                <a:cs typeface="Times New Roman" panose="02020603050405020304" pitchFamily="18" charset="0"/>
              </a:rPr>
              <a:t>[</a:t>
            </a:r>
            <a:r>
              <a:rPr lang="en-IN" sz="2400" dirty="0">
                <a:solidFill>
                  <a:srgbClr val="000000"/>
                </a:solidFill>
                <a:latin typeface="Times New Roman" panose="02020603050405020304" pitchFamily="18" charset="0"/>
                <a:cs typeface="Times New Roman" panose="02020603050405020304" pitchFamily="18" charset="0"/>
              </a:rPr>
              <a:t>5] </a:t>
            </a:r>
            <a:r>
              <a:rPr lang="en-IN" sz="2400" dirty="0" err="1">
                <a:solidFill>
                  <a:srgbClr val="000000"/>
                </a:solidFill>
                <a:latin typeface="Times New Roman" panose="02020603050405020304" pitchFamily="18" charset="0"/>
                <a:cs typeface="Times New Roman" panose="02020603050405020304" pitchFamily="18" charset="0"/>
              </a:rPr>
              <a:t>Ilya</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Sukhodolskiy</a:t>
            </a:r>
            <a:r>
              <a:rPr lang="en-IN" sz="2400" dirty="0">
                <a:solidFill>
                  <a:srgbClr val="000000"/>
                </a:solidFill>
                <a:latin typeface="Times New Roman" panose="02020603050405020304" pitchFamily="18" charset="0"/>
                <a:cs typeface="Times New Roman" panose="02020603050405020304" pitchFamily="18" charset="0"/>
              </a:rPr>
              <a:t>, Sergey </a:t>
            </a:r>
            <a:r>
              <a:rPr lang="en-IN" sz="2400" dirty="0" err="1">
                <a:solidFill>
                  <a:srgbClr val="000000"/>
                </a:solidFill>
                <a:latin typeface="Times New Roman" panose="02020603050405020304" pitchFamily="18" charset="0"/>
                <a:cs typeface="Times New Roman" panose="02020603050405020304" pitchFamily="18" charset="0"/>
              </a:rPr>
              <a:t>Zapechnikov</a:t>
            </a:r>
            <a:r>
              <a:rPr lang="en-IN" sz="2400" dirty="0">
                <a:solidFill>
                  <a:srgbClr val="000000"/>
                </a:solidFill>
                <a:latin typeface="Times New Roman" panose="02020603050405020304" pitchFamily="18" charset="0"/>
                <a:cs typeface="Times New Roman" panose="02020603050405020304" pitchFamily="18" charset="0"/>
              </a:rPr>
              <a:t>, “A </a:t>
            </a:r>
            <a:r>
              <a:rPr lang="en-IN" sz="2400" dirty="0" err="1">
                <a:solidFill>
                  <a:srgbClr val="000000"/>
                </a:solidFill>
                <a:latin typeface="Times New Roman" panose="02020603050405020304" pitchFamily="18" charset="0"/>
                <a:cs typeface="Times New Roman" panose="02020603050405020304" pitchFamily="18" charset="0"/>
              </a:rPr>
              <a:t>Blockchain</a:t>
            </a:r>
            <a:r>
              <a:rPr lang="en-IN" sz="2400" dirty="0">
                <a:solidFill>
                  <a:srgbClr val="000000"/>
                </a:solidFill>
                <a:latin typeface="Times New Roman" panose="02020603050405020304" pitchFamily="18" charset="0"/>
                <a:cs typeface="Times New Roman" panose="02020603050405020304" pitchFamily="18" charset="0"/>
              </a:rPr>
              <a:t> Based Access Control System for Cloud Storage,” IEEE Conference of Russian Young Researchers in Electrical and Electronic Engineering (</a:t>
            </a:r>
            <a:r>
              <a:rPr lang="en-IN" sz="2400" dirty="0" err="1">
                <a:solidFill>
                  <a:srgbClr val="000000"/>
                </a:solidFill>
                <a:latin typeface="Times New Roman" panose="02020603050405020304" pitchFamily="18" charset="0"/>
                <a:cs typeface="Times New Roman" panose="02020603050405020304" pitchFamily="18" charset="0"/>
              </a:rPr>
              <a:t>ElConRus</a:t>
            </a:r>
            <a:r>
              <a:rPr lang="en-IN" sz="2400" dirty="0">
                <a:solidFill>
                  <a:srgbClr val="000000"/>
                </a:solidFill>
                <a:latin typeface="Times New Roman" panose="02020603050405020304" pitchFamily="18" charset="0"/>
                <a:cs typeface="Times New Roman" panose="02020603050405020304" pitchFamily="18" charset="0"/>
              </a:rPr>
              <a:t>), 2018.  </a:t>
            </a:r>
            <a:endParaRPr lang="en-IN" sz="2400" dirty="0" smtClean="0">
              <a:solidFill>
                <a:srgbClr val="000000"/>
              </a:solidFill>
              <a:latin typeface="Times New Roman" panose="02020603050405020304" pitchFamily="18" charset="0"/>
              <a:cs typeface="Times New Roman" panose="02020603050405020304" pitchFamily="18" charset="0"/>
            </a:endParaRPr>
          </a:p>
          <a:p>
            <a:pPr marL="0" indent="0" algn="just">
              <a:lnSpc>
                <a:spcPct val="150000"/>
              </a:lnSpc>
              <a:buNone/>
            </a:pPr>
            <a:r>
              <a:rPr lang="en-IN" sz="2400" dirty="0" smtClean="0">
                <a:solidFill>
                  <a:srgbClr val="000000"/>
                </a:solidFill>
                <a:latin typeface="Times New Roman" panose="02020603050405020304" pitchFamily="18" charset="0"/>
                <a:cs typeface="Times New Roman" panose="02020603050405020304" pitchFamily="18" charset="0"/>
              </a:rPr>
              <a:t>[</a:t>
            </a:r>
            <a:r>
              <a:rPr lang="en-IN" sz="2400" dirty="0">
                <a:solidFill>
                  <a:srgbClr val="000000"/>
                </a:solidFill>
                <a:latin typeface="Times New Roman" panose="02020603050405020304" pitchFamily="18" charset="0"/>
                <a:cs typeface="Times New Roman" panose="02020603050405020304" pitchFamily="18" charset="0"/>
              </a:rPr>
              <a:t>6] </a:t>
            </a:r>
            <a:r>
              <a:rPr lang="en-IN" sz="2400" dirty="0" err="1">
                <a:solidFill>
                  <a:srgbClr val="000000"/>
                </a:solidFill>
                <a:latin typeface="Times New Roman" panose="02020603050405020304" pitchFamily="18" charset="0"/>
                <a:cs typeface="Times New Roman" panose="02020603050405020304" pitchFamily="18" charset="0"/>
              </a:rPr>
              <a:t>Shubham</a:t>
            </a:r>
            <a:r>
              <a:rPr lang="en-IN" sz="2400" dirty="0">
                <a:solidFill>
                  <a:srgbClr val="000000"/>
                </a:solidFill>
                <a:latin typeface="Times New Roman" panose="02020603050405020304" pitchFamily="18" charset="0"/>
                <a:cs typeface="Times New Roman" panose="02020603050405020304" pitchFamily="18" charset="0"/>
              </a:rPr>
              <a:t> Desai, Rahul </a:t>
            </a:r>
            <a:r>
              <a:rPr lang="en-IN" sz="2400" dirty="0" err="1">
                <a:solidFill>
                  <a:srgbClr val="000000"/>
                </a:solidFill>
                <a:latin typeface="Times New Roman" panose="02020603050405020304" pitchFamily="18" charset="0"/>
                <a:cs typeface="Times New Roman" panose="02020603050405020304" pitchFamily="18" charset="0"/>
              </a:rPr>
              <a:t>Shelke</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Omkar</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Deshmukh</a:t>
            </a:r>
            <a:r>
              <a:rPr lang="en-IN" sz="2400" dirty="0">
                <a:solidFill>
                  <a:srgbClr val="000000"/>
                </a:solidFill>
                <a:latin typeface="Times New Roman" panose="02020603050405020304" pitchFamily="18" charset="0"/>
                <a:cs typeface="Times New Roman" panose="02020603050405020304" pitchFamily="18" charset="0"/>
              </a:rPr>
              <a:t>, Harish </a:t>
            </a:r>
            <a:r>
              <a:rPr lang="en-IN" sz="2400" dirty="0" err="1">
                <a:solidFill>
                  <a:srgbClr val="000000"/>
                </a:solidFill>
                <a:latin typeface="Times New Roman" panose="02020603050405020304" pitchFamily="18" charset="0"/>
                <a:cs typeface="Times New Roman" panose="02020603050405020304" pitchFamily="18" charset="0"/>
              </a:rPr>
              <a:t>Choudhary</a:t>
            </a:r>
            <a:r>
              <a:rPr lang="en-IN" sz="2400" dirty="0">
                <a:solidFill>
                  <a:srgbClr val="000000"/>
                </a:solidFill>
                <a:latin typeface="Times New Roman" panose="02020603050405020304" pitchFamily="18" charset="0"/>
                <a:cs typeface="Times New Roman" panose="02020603050405020304" pitchFamily="18" charset="0"/>
              </a:rPr>
              <a:t>, Prof. S. S. </a:t>
            </a:r>
            <a:r>
              <a:rPr lang="en-IN" sz="2400" dirty="0" err="1">
                <a:solidFill>
                  <a:srgbClr val="000000"/>
                </a:solidFill>
                <a:latin typeface="Times New Roman" panose="02020603050405020304" pitchFamily="18" charset="0"/>
                <a:cs typeface="Times New Roman" panose="02020603050405020304" pitchFamily="18" charset="0"/>
              </a:rPr>
              <a:t>Sambhare</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Blockchain</a:t>
            </a:r>
            <a:r>
              <a:rPr lang="en-IN" sz="2400" dirty="0">
                <a:solidFill>
                  <a:srgbClr val="000000"/>
                </a:solidFill>
                <a:latin typeface="Times New Roman" panose="02020603050405020304" pitchFamily="18" charset="0"/>
                <a:cs typeface="Times New Roman" panose="02020603050405020304" pitchFamily="18" charset="0"/>
              </a:rPr>
              <a:t> Based Secure Data Storage and Access Control System using Cloud” IEEE - ICCUBEA </a:t>
            </a:r>
            <a:r>
              <a:rPr lang="en-IN" sz="2400" dirty="0" smtClean="0">
                <a:solidFill>
                  <a:srgbClr val="000000"/>
                </a:solidFill>
                <a:latin typeface="Times New Roman" panose="02020603050405020304" pitchFamily="18" charset="0"/>
                <a:cs typeface="Times New Roman" panose="02020603050405020304" pitchFamily="18" charset="0"/>
              </a:rPr>
              <a:t>2019</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528705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8" name="Content Placeholder 1"/>
          <p:cNvSpPr>
            <a:spLocks noGrp="1"/>
          </p:cNvSpPr>
          <p:nvPr>
            <p:ph idx="1"/>
          </p:nvPr>
        </p:nvSpPr>
        <p:spPr>
          <a:xfrm>
            <a:off x="486033" y="241070"/>
            <a:ext cx="10727400" cy="5991290"/>
          </a:xfrm>
        </p:spPr>
        <p:txBody>
          <a:bodyPr>
            <a:noAutofit/>
          </a:bodyPr>
          <a:lstStyle/>
          <a:p>
            <a:pPr marL="0" indent="0" algn="just">
              <a:lnSpc>
                <a:spcPct val="150000"/>
              </a:lnSpc>
              <a:buNone/>
            </a:pPr>
            <a:r>
              <a:rPr lang="en-IN" sz="2400" dirty="0" smtClean="0">
                <a:solidFill>
                  <a:srgbClr val="000000"/>
                </a:solidFill>
                <a:latin typeface="Times New Roman" panose="02020603050405020304" pitchFamily="18" charset="0"/>
                <a:cs typeface="Times New Roman" panose="02020603050405020304" pitchFamily="18" charset="0"/>
              </a:rPr>
              <a:t>[</a:t>
            </a:r>
            <a:r>
              <a:rPr lang="en-IN" sz="2400" dirty="0">
                <a:solidFill>
                  <a:srgbClr val="000000"/>
                </a:solidFill>
                <a:latin typeface="Times New Roman" panose="02020603050405020304" pitchFamily="18" charset="0"/>
                <a:cs typeface="Times New Roman" panose="02020603050405020304" pitchFamily="18" charset="0"/>
              </a:rPr>
              <a:t>7] </a:t>
            </a:r>
            <a:r>
              <a:rPr lang="en-IN" sz="2400" dirty="0" err="1">
                <a:solidFill>
                  <a:srgbClr val="000000"/>
                </a:solidFill>
                <a:latin typeface="Times New Roman" panose="02020603050405020304" pitchFamily="18" charset="0"/>
                <a:cs typeface="Times New Roman" panose="02020603050405020304" pitchFamily="18" charset="0"/>
              </a:rPr>
              <a:t>Gurudatt</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Kulkarni</a:t>
            </a:r>
            <a:r>
              <a:rPr lang="en-IN" sz="2400" dirty="0">
                <a:solidFill>
                  <a:srgbClr val="000000"/>
                </a:solidFill>
                <a:latin typeface="Times New Roman" panose="02020603050405020304" pitchFamily="18" charset="0"/>
                <a:cs typeface="Times New Roman" panose="02020603050405020304" pitchFamily="18" charset="0"/>
              </a:rPr>
              <a:t>, Rani </a:t>
            </a:r>
            <a:r>
              <a:rPr lang="en-IN" sz="2400" dirty="0" err="1">
                <a:solidFill>
                  <a:srgbClr val="000000"/>
                </a:solidFill>
                <a:latin typeface="Times New Roman" panose="02020603050405020304" pitchFamily="18" charset="0"/>
                <a:cs typeface="Times New Roman" panose="02020603050405020304" pitchFamily="18" charset="0"/>
              </a:rPr>
              <a:t>Waghmare</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Rajnikant</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Palwe</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Vidya</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Waykule</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Hemant</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Bankar</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Kundlik</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Koli</a:t>
            </a:r>
            <a:r>
              <a:rPr lang="en-IN" sz="2400" dirty="0">
                <a:solidFill>
                  <a:srgbClr val="000000"/>
                </a:solidFill>
                <a:latin typeface="Times New Roman" panose="02020603050405020304" pitchFamily="18" charset="0"/>
                <a:cs typeface="Times New Roman" panose="02020603050405020304" pitchFamily="18" charset="0"/>
              </a:rPr>
              <a:t>, “Cloud Storage Architecture”, IEEE 7th International Conference on Telecommunication Systems, Services, and Applications (TSSA), 2012.  </a:t>
            </a:r>
            <a:endParaRPr lang="en-IN" sz="2400" dirty="0" smtClean="0">
              <a:solidFill>
                <a:srgbClr val="000000"/>
              </a:solidFill>
              <a:latin typeface="Times New Roman" panose="02020603050405020304" pitchFamily="18" charset="0"/>
              <a:cs typeface="Times New Roman" panose="02020603050405020304" pitchFamily="18" charset="0"/>
            </a:endParaRPr>
          </a:p>
          <a:p>
            <a:pPr marL="0" indent="0" algn="just">
              <a:lnSpc>
                <a:spcPct val="150000"/>
              </a:lnSpc>
              <a:buNone/>
            </a:pPr>
            <a:r>
              <a:rPr lang="en-IN" sz="2400" dirty="0" smtClean="0">
                <a:solidFill>
                  <a:srgbClr val="000000"/>
                </a:solidFill>
                <a:latin typeface="Times New Roman" panose="02020603050405020304" pitchFamily="18" charset="0"/>
                <a:cs typeface="Times New Roman" panose="02020603050405020304" pitchFamily="18" charset="0"/>
              </a:rPr>
              <a:t>[</a:t>
            </a:r>
            <a:r>
              <a:rPr lang="en-IN" sz="2400" dirty="0">
                <a:solidFill>
                  <a:srgbClr val="000000"/>
                </a:solidFill>
                <a:latin typeface="Times New Roman" panose="02020603050405020304" pitchFamily="18" charset="0"/>
                <a:cs typeface="Times New Roman" panose="02020603050405020304" pitchFamily="18" charset="0"/>
              </a:rPr>
              <a:t>8</a:t>
            </a:r>
            <a:r>
              <a:rPr lang="en-IN" sz="2400" dirty="0" smtClean="0">
                <a:solidFill>
                  <a:srgbClr val="000000"/>
                </a:solidFill>
                <a:latin typeface="Times New Roman" panose="02020603050405020304" pitchFamily="18" charset="0"/>
                <a:cs typeface="Times New Roman" panose="02020603050405020304" pitchFamily="18" charset="0"/>
              </a:rPr>
              <a:t>] </a:t>
            </a:r>
            <a:r>
              <a:rPr lang="en-IN" sz="2400" dirty="0" err="1" smtClean="0">
                <a:solidFill>
                  <a:srgbClr val="000000"/>
                </a:solidFill>
                <a:latin typeface="Times New Roman" panose="02020603050405020304" pitchFamily="18" charset="0"/>
                <a:cs typeface="Times New Roman" panose="02020603050405020304" pitchFamily="18" charset="0"/>
              </a:rPr>
              <a:t>Xiaoqi</a:t>
            </a:r>
            <a:r>
              <a:rPr lang="en-IN" sz="2400" dirty="0" smtClean="0">
                <a:solidFill>
                  <a:srgbClr val="000000"/>
                </a:solidFill>
                <a:latin typeface="Times New Roman" panose="02020603050405020304" pitchFamily="18" charset="0"/>
                <a:cs typeface="Times New Roman" panose="02020603050405020304" pitchFamily="18" charset="0"/>
              </a:rPr>
              <a:t> </a:t>
            </a:r>
            <a:r>
              <a:rPr lang="en-IN" sz="2400" dirty="0">
                <a:solidFill>
                  <a:srgbClr val="000000"/>
                </a:solidFill>
                <a:latin typeface="Times New Roman" panose="02020603050405020304" pitchFamily="18" charset="0"/>
                <a:cs typeface="Times New Roman" panose="02020603050405020304" pitchFamily="18" charset="0"/>
              </a:rPr>
              <a:t>Li, </a:t>
            </a:r>
            <a:r>
              <a:rPr lang="en-IN" sz="2400" dirty="0" err="1">
                <a:solidFill>
                  <a:srgbClr val="000000"/>
                </a:solidFill>
                <a:latin typeface="Times New Roman" panose="02020603050405020304" pitchFamily="18" charset="0"/>
                <a:cs typeface="Times New Roman" panose="02020603050405020304" pitchFamily="18" charset="0"/>
              </a:rPr>
              <a:t>Peng</a:t>
            </a:r>
            <a:r>
              <a:rPr lang="en-IN" sz="2400" dirty="0">
                <a:solidFill>
                  <a:srgbClr val="000000"/>
                </a:solidFill>
                <a:latin typeface="Times New Roman" panose="02020603050405020304" pitchFamily="18" charset="0"/>
                <a:cs typeface="Times New Roman" panose="02020603050405020304" pitchFamily="18" charset="0"/>
              </a:rPr>
              <a:t> Jiang, Ting Chen, </a:t>
            </a:r>
            <a:r>
              <a:rPr lang="en-IN" sz="2400" dirty="0" err="1">
                <a:solidFill>
                  <a:srgbClr val="000000"/>
                </a:solidFill>
                <a:latin typeface="Times New Roman" panose="02020603050405020304" pitchFamily="18" charset="0"/>
                <a:cs typeface="Times New Roman" panose="02020603050405020304" pitchFamily="18" charset="0"/>
              </a:rPr>
              <a:t>Xiapu</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Luo</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Qiaoyan</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Wen,”A</a:t>
            </a:r>
            <a:r>
              <a:rPr lang="en-IN" sz="2400" dirty="0">
                <a:solidFill>
                  <a:srgbClr val="000000"/>
                </a:solidFill>
                <a:latin typeface="Times New Roman" panose="02020603050405020304" pitchFamily="18" charset="0"/>
                <a:cs typeface="Times New Roman" panose="02020603050405020304" pitchFamily="18" charset="0"/>
              </a:rPr>
              <a:t> Survey on the Security of </a:t>
            </a:r>
            <a:r>
              <a:rPr lang="en-IN" sz="2400" dirty="0" err="1">
                <a:solidFill>
                  <a:srgbClr val="000000"/>
                </a:solidFill>
                <a:latin typeface="Times New Roman" panose="02020603050405020304" pitchFamily="18" charset="0"/>
                <a:cs typeface="Times New Roman" panose="02020603050405020304" pitchFamily="18" charset="0"/>
              </a:rPr>
              <a:t>Blockchain</a:t>
            </a:r>
            <a:r>
              <a:rPr lang="en-IN" sz="2400" dirty="0">
                <a:solidFill>
                  <a:srgbClr val="000000"/>
                </a:solidFill>
                <a:latin typeface="Times New Roman" panose="02020603050405020304" pitchFamily="18" charset="0"/>
                <a:cs typeface="Times New Roman" panose="02020603050405020304" pitchFamily="18" charset="0"/>
              </a:rPr>
              <a:t> Systems”,</a:t>
            </a:r>
            <a:r>
              <a:rPr lang="en-IN" sz="2400" dirty="0" err="1">
                <a:solidFill>
                  <a:srgbClr val="000000"/>
                </a:solidFill>
                <a:latin typeface="Times New Roman" panose="02020603050405020304" pitchFamily="18" charset="0"/>
                <a:cs typeface="Times New Roman" panose="02020603050405020304" pitchFamily="18" charset="0"/>
              </a:rPr>
              <a:t>beijing</a:t>
            </a:r>
            <a:r>
              <a:rPr lang="en-IN" sz="2400" dirty="0">
                <a:solidFill>
                  <a:srgbClr val="000000"/>
                </a:solidFill>
                <a:latin typeface="Times New Roman" panose="02020603050405020304" pitchFamily="18" charset="0"/>
                <a:cs typeface="Times New Roman" panose="02020603050405020304" pitchFamily="18" charset="0"/>
              </a:rPr>
              <a:t> university China, 2018.  </a:t>
            </a:r>
            <a:endParaRPr lang="en-IN" sz="2400" dirty="0" smtClean="0">
              <a:solidFill>
                <a:srgbClr val="000000"/>
              </a:solidFill>
              <a:latin typeface="Times New Roman" panose="02020603050405020304" pitchFamily="18" charset="0"/>
              <a:cs typeface="Times New Roman" panose="02020603050405020304" pitchFamily="18" charset="0"/>
            </a:endParaRPr>
          </a:p>
          <a:p>
            <a:pPr marL="0" indent="0" algn="just">
              <a:lnSpc>
                <a:spcPct val="150000"/>
              </a:lnSpc>
              <a:buNone/>
            </a:pPr>
            <a:r>
              <a:rPr lang="en-IN" sz="2400" dirty="0" smtClean="0">
                <a:solidFill>
                  <a:srgbClr val="000000"/>
                </a:solidFill>
                <a:latin typeface="Times New Roman" panose="02020603050405020304" pitchFamily="18" charset="0"/>
                <a:cs typeface="Times New Roman" panose="02020603050405020304" pitchFamily="18" charset="0"/>
              </a:rPr>
              <a:t>[9] </a:t>
            </a:r>
            <a:r>
              <a:rPr lang="en-IN" sz="2400" dirty="0" err="1">
                <a:solidFill>
                  <a:srgbClr val="000000"/>
                </a:solidFill>
                <a:latin typeface="Times New Roman" panose="02020603050405020304" pitchFamily="18" charset="0"/>
                <a:cs typeface="Times New Roman" panose="02020603050405020304" pitchFamily="18" charset="0"/>
              </a:rPr>
              <a:t>Rongzhi</a:t>
            </a:r>
            <a:r>
              <a:rPr lang="en-IN" sz="2400" dirty="0">
                <a:solidFill>
                  <a:srgbClr val="000000"/>
                </a:solidFill>
                <a:latin typeface="Times New Roman" panose="02020603050405020304" pitchFamily="18" charset="0"/>
                <a:cs typeface="Times New Roman" panose="02020603050405020304" pitchFamily="18" charset="0"/>
              </a:rPr>
              <a:t> Wang, “Research on data security technology based on cloud storage”, 13th Global Congress on Manufacturing and Management, GCMM, 2016.  </a:t>
            </a:r>
          </a:p>
          <a:p>
            <a:pPr marL="0" indent="0" algn="just">
              <a:lnSpc>
                <a:spcPct val="150000"/>
              </a:lnSpc>
              <a:buNone/>
            </a:pPr>
            <a:r>
              <a:rPr lang="en-IN" sz="2400" dirty="0">
                <a:solidFill>
                  <a:srgbClr val="000000"/>
                </a:solidFill>
                <a:latin typeface="Times New Roman" panose="02020603050405020304" pitchFamily="18" charset="0"/>
                <a:cs typeface="Times New Roman" panose="02020603050405020304" pitchFamily="18" charset="0"/>
              </a:rPr>
              <a:t>[</a:t>
            </a:r>
            <a:r>
              <a:rPr lang="en-IN" sz="2400" dirty="0" smtClean="0">
                <a:solidFill>
                  <a:srgbClr val="000000"/>
                </a:solidFill>
                <a:latin typeface="Times New Roman" panose="02020603050405020304" pitchFamily="18" charset="0"/>
                <a:cs typeface="Times New Roman" panose="02020603050405020304" pitchFamily="18" charset="0"/>
              </a:rPr>
              <a:t>10] </a:t>
            </a:r>
            <a:r>
              <a:rPr lang="en-IN" sz="2400" dirty="0" err="1">
                <a:solidFill>
                  <a:srgbClr val="000000"/>
                </a:solidFill>
                <a:latin typeface="Times New Roman" panose="02020603050405020304" pitchFamily="18" charset="0"/>
                <a:cs typeface="Times New Roman" panose="02020603050405020304" pitchFamily="18" charset="0"/>
              </a:rPr>
              <a:t>Zibin</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Zheng</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Shaoan</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Xie</a:t>
            </a:r>
            <a:r>
              <a:rPr lang="en-IN" sz="2400" dirty="0">
                <a:solidFill>
                  <a:srgbClr val="000000"/>
                </a:solidFill>
                <a:latin typeface="Times New Roman" panose="02020603050405020304" pitchFamily="18" charset="0"/>
                <a:cs typeface="Times New Roman" panose="02020603050405020304" pitchFamily="18" charset="0"/>
              </a:rPr>
              <a:t>, </a:t>
            </a:r>
            <a:r>
              <a:rPr lang="en-IN" sz="2400" dirty="0" err="1">
                <a:solidFill>
                  <a:srgbClr val="000000"/>
                </a:solidFill>
                <a:latin typeface="Times New Roman" panose="02020603050405020304" pitchFamily="18" charset="0"/>
                <a:cs typeface="Times New Roman" panose="02020603050405020304" pitchFamily="18" charset="0"/>
              </a:rPr>
              <a:t>Hongning</a:t>
            </a:r>
            <a:r>
              <a:rPr lang="en-IN" sz="2400" dirty="0">
                <a:solidFill>
                  <a:srgbClr val="000000"/>
                </a:solidFill>
                <a:latin typeface="Times New Roman" panose="02020603050405020304" pitchFamily="18" charset="0"/>
                <a:cs typeface="Times New Roman" panose="02020603050405020304" pitchFamily="18" charset="0"/>
              </a:rPr>
              <a:t> Dai, </a:t>
            </a:r>
            <a:r>
              <a:rPr lang="en-IN" sz="2400" dirty="0" err="1">
                <a:solidFill>
                  <a:srgbClr val="000000"/>
                </a:solidFill>
                <a:latin typeface="Times New Roman" panose="02020603050405020304" pitchFamily="18" charset="0"/>
                <a:cs typeface="Times New Roman" panose="02020603050405020304" pitchFamily="18" charset="0"/>
              </a:rPr>
              <a:t>Xiangping</a:t>
            </a:r>
            <a:r>
              <a:rPr lang="en-IN" sz="2400" dirty="0">
                <a:solidFill>
                  <a:srgbClr val="000000"/>
                </a:solidFill>
                <a:latin typeface="Times New Roman" panose="02020603050405020304" pitchFamily="18" charset="0"/>
                <a:cs typeface="Times New Roman" panose="02020603050405020304" pitchFamily="18" charset="0"/>
              </a:rPr>
              <a:t> Chen, and </a:t>
            </a:r>
            <a:r>
              <a:rPr lang="en-IN" sz="2400" dirty="0" err="1">
                <a:solidFill>
                  <a:srgbClr val="000000"/>
                </a:solidFill>
                <a:latin typeface="Times New Roman" panose="02020603050405020304" pitchFamily="18" charset="0"/>
                <a:cs typeface="Times New Roman" panose="02020603050405020304" pitchFamily="18" charset="0"/>
              </a:rPr>
              <a:t>Huaimin</a:t>
            </a:r>
            <a:r>
              <a:rPr lang="en-IN" sz="2400" dirty="0">
                <a:solidFill>
                  <a:srgbClr val="000000"/>
                </a:solidFill>
                <a:latin typeface="Times New Roman" panose="02020603050405020304" pitchFamily="18" charset="0"/>
                <a:cs typeface="Times New Roman" panose="02020603050405020304" pitchFamily="18" charset="0"/>
              </a:rPr>
              <a:t> Wang, “An Overview of </a:t>
            </a:r>
            <a:r>
              <a:rPr lang="en-IN" sz="2400" dirty="0" err="1">
                <a:solidFill>
                  <a:srgbClr val="000000"/>
                </a:solidFill>
                <a:latin typeface="Times New Roman" panose="02020603050405020304" pitchFamily="18" charset="0"/>
                <a:cs typeface="Times New Roman" panose="02020603050405020304" pitchFamily="18" charset="0"/>
              </a:rPr>
              <a:t>Blockchain</a:t>
            </a:r>
            <a:r>
              <a:rPr lang="en-IN" sz="2400" dirty="0">
                <a:solidFill>
                  <a:srgbClr val="000000"/>
                </a:solidFill>
                <a:latin typeface="Times New Roman" panose="02020603050405020304" pitchFamily="18" charset="0"/>
                <a:cs typeface="Times New Roman" panose="02020603050405020304" pitchFamily="18" charset="0"/>
              </a:rPr>
              <a:t> Technology: Architecture, Consensus, and Future Trends”, IEEE 6th International Congress on Big Data, 2017. </a:t>
            </a:r>
            <a:endParaRPr lang="en-IN" sz="2400" dirty="0" smtClean="0">
              <a:solidFill>
                <a:srgbClr val="000000"/>
              </a:solidFill>
              <a:latin typeface="Times New Roman" panose="02020603050405020304" pitchFamily="18" charset="0"/>
              <a:cs typeface="Times New Roman" panose="02020603050405020304" pitchFamily="18" charset="0"/>
            </a:endParaRPr>
          </a:p>
          <a:p>
            <a:pPr marL="0" indent="0" algn="just">
              <a:lnSpc>
                <a:spcPct val="150000"/>
              </a:lnSpc>
              <a:buNone/>
            </a:pPr>
            <a:r>
              <a:rPr lang="en-IN" sz="2400" dirty="0" smtClean="0">
                <a:solidFill>
                  <a:srgbClr val="000000"/>
                </a:solidFill>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027135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0" name="Content Placeholder 1"/>
          <p:cNvSpPr>
            <a:spLocks noGrp="1"/>
          </p:cNvSpPr>
          <p:nvPr>
            <p:ph idx="1"/>
          </p:nvPr>
        </p:nvSpPr>
        <p:spPr>
          <a:xfrm>
            <a:off x="838200" y="537411"/>
            <a:ext cx="10515600" cy="5639552"/>
          </a:xfrm>
        </p:spPr>
        <p:txBody>
          <a:bodyPr/>
          <a:lstStyle/>
          <a:p>
            <a:pPr marL="109537" indent="0" algn="ctr">
              <a:buNone/>
            </a:pPr>
            <a:endParaRPr lang="en-US" sz="4800" dirty="0">
              <a:solidFill>
                <a:schemeClr val="accent4">
                  <a:lumMod val="40000"/>
                  <a:lumOff val="60000"/>
                </a:schemeClr>
              </a:solidFill>
              <a:latin typeface="Times New Roman" panose="02020603050405020304" pitchFamily="18" charset="0"/>
              <a:cs typeface="Times New Roman" panose="02020603050405020304" pitchFamily="18" charset="0"/>
            </a:endParaRPr>
          </a:p>
          <a:p>
            <a:pPr marL="109537" indent="0" algn="ctr">
              <a:buNone/>
            </a:pPr>
            <a:endParaRPr lang="en-US" sz="4800" dirty="0">
              <a:solidFill>
                <a:schemeClr val="accent4">
                  <a:lumMod val="40000"/>
                  <a:lumOff val="60000"/>
                </a:schemeClr>
              </a:solidFill>
              <a:latin typeface="Times New Roman" panose="02020603050405020304" pitchFamily="18" charset="0"/>
              <a:cs typeface="Times New Roman" panose="02020603050405020304" pitchFamily="18" charset="0"/>
            </a:endParaRPr>
          </a:p>
          <a:p>
            <a:pPr marL="109537" indent="0" algn="ctr">
              <a:buNone/>
            </a:pPr>
            <a:endParaRPr lang="en-US" sz="4800" dirty="0">
              <a:latin typeface="Times New Roman" panose="02020603050405020304" pitchFamily="18" charset="0"/>
              <a:cs typeface="Times New Roman" panose="02020603050405020304" pitchFamily="18" charset="0"/>
            </a:endParaRPr>
          </a:p>
          <a:p>
            <a:pPr marL="109537" indent="0" algn="ctr">
              <a:buNone/>
            </a:pPr>
            <a:r>
              <a:rPr lang="en-US" sz="6600" dirty="0">
                <a:latin typeface="Times New Roman" panose="02020603050405020304" pitchFamily="18" charset="0"/>
                <a:cs typeface="Times New Roman" panose="02020603050405020304" pitchFamily="18" charset="0"/>
              </a:rPr>
              <a:t>THANK YOU</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884</TotalTime>
  <Words>2348</Words>
  <Application>Microsoft Office PowerPoint</Application>
  <PresentationFormat>Widescreen</PresentationFormat>
  <Paragraphs>337</Paragraphs>
  <Slides>31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Calibri Light</vt:lpstr>
      <vt:lpstr>Times New Roamn</vt:lpstr>
      <vt:lpstr>Times New Roman</vt:lpstr>
      <vt:lpstr>Wingdings</vt:lpstr>
      <vt:lpstr>Office Theme</vt:lpstr>
      <vt:lpstr>“Blockchain for Cloud Data Storage Security”</vt:lpstr>
      <vt:lpstr>CONTENTS</vt:lpstr>
      <vt:lpstr>Introduction</vt:lpstr>
      <vt:lpstr>PowerPoint Presentation</vt:lpstr>
      <vt:lpstr>PowerPoint Presentation</vt:lpstr>
      <vt:lpstr>   Literature Survey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Existing system and Limitations</vt:lpstr>
      <vt:lpstr>PowerPoint Presentation</vt:lpstr>
      <vt:lpstr>Proposed System and Advantages</vt:lpstr>
      <vt:lpstr>PowerPoint Presentation</vt:lpstr>
      <vt:lpstr>Objectives</vt:lpstr>
      <vt:lpstr>Methodology</vt:lpstr>
      <vt:lpstr>PowerPoint Presentation</vt:lpstr>
      <vt:lpstr>PowerPoint Presentation</vt:lpstr>
      <vt:lpstr>PowerPoint Presentation</vt:lpstr>
      <vt:lpstr>System Requirements</vt:lpstr>
      <vt:lpstr>System Requirements</vt:lpstr>
      <vt:lpstr>Expected Outcomes</vt:lpstr>
      <vt:lpstr>References</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Venki Raju</dc:creator>
  <cp:lastModifiedBy>user</cp:lastModifiedBy>
  <cp:revision>56</cp:revision>
  <dcterms:created xsi:type="dcterms:W3CDTF">2022-11-21T11:31:13Z</dcterms:created>
  <dcterms:modified xsi:type="dcterms:W3CDTF">2025-04-04T10:15:50Z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4dff0409e0c04576908a39c807f25766</vt:lpwstr>
  </property>
</Properties>
</file>